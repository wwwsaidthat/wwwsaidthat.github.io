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A3B4"/>
    <a:srgbClr val="FFE48A"/>
    <a:srgbClr val="F99E94"/>
    <a:srgbClr val="F8F4F3"/>
    <a:srgbClr val="FDF3F3"/>
    <a:srgbClr val="AEE5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customXmlProps" Target="../customXml/itemProps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48"/>
          <p:cNvSpPr/>
          <p:nvPr/>
        </p:nvSpPr>
        <p:spPr>
          <a:xfrm>
            <a:off x="2480945" y="114300"/>
            <a:ext cx="3741420" cy="6729730"/>
          </a:xfrm>
          <a:prstGeom prst="roundRect">
            <a:avLst>
              <a:gd name="adj" fmla="val 3615"/>
            </a:avLst>
          </a:prstGeom>
          <a:solidFill>
            <a:srgbClr val="D9F4EF">
              <a:alpha val="61000"/>
            </a:srgbClr>
          </a:solidFill>
          <a:ln w="12700">
            <a:solidFill>
              <a:schemeClr val="tx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3" name="Text 149"/>
          <p:cNvSpPr/>
          <p:nvPr/>
        </p:nvSpPr>
        <p:spPr>
          <a:xfrm>
            <a:off x="1273175" y="624205"/>
            <a:ext cx="5805170" cy="3841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CDMD: Cross-Dimensional 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Mutual Distillation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54" name="Text 150"/>
          <p:cNvSpPr/>
          <p:nvPr/>
        </p:nvSpPr>
        <p:spPr>
          <a:xfrm>
            <a:off x="2488565" y="1315085"/>
            <a:ext cx="1877695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Low-dᵢ Sim Matrix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55" name="Text 151"/>
          <p:cNvSpPr/>
          <p:nvPr/>
        </p:nvSpPr>
        <p:spPr>
          <a:xfrm>
            <a:off x="4318635" y="1297305"/>
            <a:ext cx="1979295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Max-d Sim Matrix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60" name="Shape 156"/>
          <p:cNvSpPr/>
          <p:nvPr/>
        </p:nvSpPr>
        <p:spPr>
          <a:xfrm>
            <a:off x="3094990" y="1795780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4926330" y="1788795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5133340" y="178879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75" name="Text 171"/>
          <p:cNvSpPr/>
          <p:nvPr/>
        </p:nvSpPr>
        <p:spPr>
          <a:xfrm>
            <a:off x="2426335" y="3031490"/>
            <a:ext cx="1979295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Low-dⱼ Sim Matrix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99" name="Shape 195"/>
          <p:cNvSpPr/>
          <p:nvPr/>
        </p:nvSpPr>
        <p:spPr>
          <a:xfrm>
            <a:off x="6409055" y="130175"/>
            <a:ext cx="4535170" cy="6737350"/>
          </a:xfrm>
          <a:prstGeom prst="roundRect">
            <a:avLst>
              <a:gd name="adj" fmla="val 4793"/>
            </a:avLst>
          </a:prstGeom>
          <a:solidFill>
            <a:srgbClr val="F7C4C7">
              <a:alpha val="21000"/>
            </a:srgb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0" name="Text 196"/>
          <p:cNvSpPr/>
          <p:nvPr/>
        </p:nvSpPr>
        <p:spPr>
          <a:xfrm>
            <a:off x="6012815" y="555625"/>
            <a:ext cx="5513070" cy="3841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HPEM: Hard-Pair </a:t>
            </a:r>
            <a:b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</a:b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Evolutionary Mining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226" name="Shape 222"/>
          <p:cNvSpPr/>
          <p:nvPr/>
        </p:nvSpPr>
        <p:spPr>
          <a:xfrm>
            <a:off x="11192510" y="161925"/>
            <a:ext cx="3376930" cy="7936230"/>
          </a:xfrm>
          <a:prstGeom prst="roundRect">
            <a:avLst>
              <a:gd name="adj" fmla="val 6061"/>
            </a:avLst>
          </a:prstGeom>
          <a:solidFill>
            <a:srgbClr val="E5D8F2">
              <a:alpha val="38000"/>
            </a:srgbClr>
          </a:solidFill>
          <a:ln w="15240">
            <a:solidFill>
              <a:srgbClr val="735E8D"/>
            </a:solidFill>
            <a:prstDash val="solid"/>
          </a:ln>
        </p:spPr>
      </p:sp>
      <p:sp>
        <p:nvSpPr>
          <p:cNvPr id="228" name="Text 224"/>
          <p:cNvSpPr/>
          <p:nvPr/>
        </p:nvSpPr>
        <p:spPr>
          <a:xfrm>
            <a:off x="11291570" y="596265"/>
            <a:ext cx="3406140" cy="3841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DALS: Dimension-Adaptive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Loss Scheduling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242" name="Shape 236"/>
          <p:cNvSpPr/>
          <p:nvPr/>
        </p:nvSpPr>
        <p:spPr>
          <a:xfrm>
            <a:off x="2524125" y="7196455"/>
            <a:ext cx="8425180" cy="901700"/>
          </a:xfrm>
          <a:prstGeom prst="roundRect">
            <a:avLst>
              <a:gd name="adj" fmla="val 15000"/>
            </a:avLst>
          </a:prstGeom>
          <a:solidFill>
            <a:srgbClr val="FFECA7">
              <a:alpha val="53000"/>
            </a:srgbClr>
          </a:solidFill>
          <a:ln w="15240">
            <a:solidFill>
              <a:srgbClr val="7A5E2D"/>
            </a:solidFill>
            <a:prstDash val="solid"/>
          </a:ln>
        </p:spPr>
      </p:sp>
      <p:sp>
        <p:nvSpPr>
          <p:cNvPr id="248" name="Shape 241"/>
          <p:cNvSpPr/>
          <p:nvPr/>
        </p:nvSpPr>
        <p:spPr>
          <a:xfrm rot="10800000">
            <a:off x="10938510" y="7647305"/>
            <a:ext cx="235585" cy="1270"/>
          </a:xfrm>
          <a:prstGeom prst="line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357" name="Text 342"/>
          <p:cNvSpPr/>
          <p:nvPr/>
        </p:nvSpPr>
        <p:spPr>
          <a:xfrm>
            <a:off x="3986530" y="4982845"/>
            <a:ext cx="1581150" cy="20891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C4A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: Similarity/Alignment</a:t>
            </a:r>
            <a:endParaRPr lang="en-US" sz="1200" dirty="0">
              <a:solidFill>
                <a:srgbClr val="1C2C4A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pic>
        <p:nvPicPr>
          <p:cNvPr id="358" name="334E55B0-647D-440b-865C-3EC943EB4CBC-4" descr="/Users/wwwsaidthat/Library/Containers/com.kingsoft.wpsoffice.mac/Data/tmp/wpsoffice.IfyekX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3293" y="7247890"/>
            <a:ext cx="4191000" cy="810895"/>
          </a:xfrm>
          <a:prstGeom prst="rect">
            <a:avLst/>
          </a:prstGeom>
        </p:spPr>
      </p:pic>
      <p:sp>
        <p:nvSpPr>
          <p:cNvPr id="526" name="Text 5"/>
          <p:cNvSpPr/>
          <p:nvPr/>
        </p:nvSpPr>
        <p:spPr>
          <a:xfrm>
            <a:off x="6495415" y="1254125"/>
            <a:ext cx="1680210" cy="2565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Small-d Prefix d</a:t>
            </a:r>
            <a:r>
              <a:rPr lang="en-US" sz="1400" baseline="-25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i-1 </a:t>
            </a: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 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527" name="Text 65"/>
          <p:cNvSpPr/>
          <p:nvPr/>
        </p:nvSpPr>
        <p:spPr>
          <a:xfrm>
            <a:off x="8948420" y="1273175"/>
            <a:ext cx="1562100" cy="24384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Large-d Prefix d</a:t>
            </a:r>
            <a:r>
              <a:rPr lang="en-US" sz="1400" baseline="-25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i</a:t>
            </a: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  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531" name="Text 25"/>
          <p:cNvSpPr/>
          <p:nvPr/>
        </p:nvSpPr>
        <p:spPr>
          <a:xfrm>
            <a:off x="6554470" y="1514475"/>
            <a:ext cx="1885950" cy="1949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Representation Capacity</a:t>
            </a:r>
            <a:endParaRPr lang="en-US" sz="12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532" name="Shape 26"/>
          <p:cNvSpPr/>
          <p:nvPr/>
        </p:nvSpPr>
        <p:spPr>
          <a:xfrm>
            <a:off x="6701790" y="1810385"/>
            <a:ext cx="1089660" cy="424815"/>
          </a:xfrm>
          <a:prstGeom prst="rect">
            <a:avLst/>
          </a:prstGeom>
          <a:solidFill>
            <a:srgbClr val="AEE5B7"/>
          </a:solidFill>
          <a:ln w="11430">
            <a:solidFill>
              <a:srgbClr val="1F2937"/>
            </a:solidFill>
            <a:prstDash val="solid"/>
          </a:ln>
        </p:spPr>
      </p:sp>
      <p:sp>
        <p:nvSpPr>
          <p:cNvPr id="533" name="Shape 27"/>
          <p:cNvSpPr/>
          <p:nvPr/>
        </p:nvSpPr>
        <p:spPr>
          <a:xfrm>
            <a:off x="7791450" y="1810385"/>
            <a:ext cx="509905" cy="424815"/>
          </a:xfrm>
          <a:prstGeom prst="rect">
            <a:avLst/>
          </a:prstGeom>
          <a:solidFill>
            <a:srgbClr val="F7A3B4"/>
          </a:solidFill>
          <a:ln w="11430">
            <a:solidFill>
              <a:srgbClr val="1F2937"/>
            </a:solidFill>
            <a:prstDash val="solid"/>
          </a:ln>
        </p:spPr>
      </p:sp>
      <p:sp>
        <p:nvSpPr>
          <p:cNvPr id="534" name="Text 28"/>
          <p:cNvSpPr/>
          <p:nvPr/>
        </p:nvSpPr>
        <p:spPr>
          <a:xfrm>
            <a:off x="6767830" y="1967865"/>
            <a:ext cx="989330" cy="76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Capacity Used</a:t>
            </a:r>
            <a:endParaRPr lang="en-US" sz="12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35" name="Text 29"/>
          <p:cNvSpPr/>
          <p:nvPr/>
        </p:nvSpPr>
        <p:spPr>
          <a:xfrm>
            <a:off x="7768590" y="1974215"/>
            <a:ext cx="574675" cy="7747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Limited</a:t>
            </a:r>
            <a:endParaRPr lang="en-US" sz="12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36" name="Shape 30"/>
          <p:cNvSpPr/>
          <p:nvPr/>
        </p:nvSpPr>
        <p:spPr>
          <a:xfrm>
            <a:off x="6562090" y="2454910"/>
            <a:ext cx="1962150" cy="1051560"/>
          </a:xfrm>
          <a:prstGeom prst="roundRect">
            <a:avLst>
              <a:gd name="adj" fmla="val 6250"/>
            </a:avLst>
          </a:prstGeom>
          <a:solidFill>
            <a:srgbClr val="AEE5B7">
              <a:alpha val="25000"/>
            </a:srgbClr>
          </a:solidFill>
          <a:ln w="9525">
            <a:solidFill>
              <a:schemeClr val="tx1"/>
            </a:solidFill>
            <a:prstDash val="lgDash"/>
          </a:ln>
        </p:spPr>
      </p:sp>
      <p:sp>
        <p:nvSpPr>
          <p:cNvPr id="537" name="Text 31"/>
          <p:cNvSpPr/>
          <p:nvPr/>
        </p:nvSpPr>
        <p:spPr>
          <a:xfrm>
            <a:off x="6343650" y="2560320"/>
            <a:ext cx="2384425" cy="7620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Node Difficulty (by confusion)</a:t>
            </a:r>
            <a:endParaRPr lang="en-US" sz="1000" dirty="0">
              <a:solidFill>
                <a:schemeClr val="tx1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38" name="Text 32"/>
          <p:cNvSpPr/>
          <p:nvPr/>
        </p:nvSpPr>
        <p:spPr>
          <a:xfrm>
            <a:off x="6624955" y="309435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v₁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39" name="Shape 33"/>
          <p:cNvSpPr/>
          <p:nvPr/>
        </p:nvSpPr>
        <p:spPr>
          <a:xfrm>
            <a:off x="6614160" y="2875280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0" name="Text 34"/>
          <p:cNvSpPr/>
          <p:nvPr/>
        </p:nvSpPr>
        <p:spPr>
          <a:xfrm>
            <a:off x="6525895" y="3286125"/>
            <a:ext cx="368935" cy="9715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easy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46" name="Text 40"/>
          <p:cNvSpPr/>
          <p:nvPr/>
        </p:nvSpPr>
        <p:spPr>
          <a:xfrm>
            <a:off x="7185025" y="3279140"/>
            <a:ext cx="419735" cy="9715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medium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47" name="Text 41"/>
          <p:cNvSpPr/>
          <p:nvPr/>
        </p:nvSpPr>
        <p:spPr>
          <a:xfrm>
            <a:off x="7672705" y="312039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v₄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49" name="Text 43"/>
          <p:cNvSpPr/>
          <p:nvPr/>
        </p:nvSpPr>
        <p:spPr>
          <a:xfrm>
            <a:off x="7603490" y="3279140"/>
            <a:ext cx="316865" cy="10223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hard</a:t>
            </a:r>
            <a:endParaRPr lang="en-US" sz="1000" dirty="0">
              <a:solidFill>
                <a:srgbClr val="FF0000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50" name="Text 44"/>
          <p:cNvSpPr/>
          <p:nvPr/>
        </p:nvSpPr>
        <p:spPr>
          <a:xfrm>
            <a:off x="7973695" y="311467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v₅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60" name="Text 44"/>
          <p:cNvSpPr/>
          <p:nvPr/>
        </p:nvSpPr>
        <p:spPr>
          <a:xfrm>
            <a:off x="8285480" y="311277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n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61" name="Text 44"/>
          <p:cNvSpPr/>
          <p:nvPr/>
        </p:nvSpPr>
        <p:spPr>
          <a:xfrm>
            <a:off x="8107045" y="3024505"/>
            <a:ext cx="245745" cy="2641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baseline="-25000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···</a:t>
            </a:r>
            <a:endParaRPr lang="en-US" sz="1200" b="1" baseline="-25000" dirty="0">
              <a:solidFill>
                <a:srgbClr val="1F2937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563" name="Text 34"/>
          <p:cNvSpPr/>
          <p:nvPr/>
        </p:nvSpPr>
        <p:spPr>
          <a:xfrm>
            <a:off x="7882255" y="3271520"/>
            <a:ext cx="328930" cy="990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easy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64" name="Text 43"/>
          <p:cNvSpPr/>
          <p:nvPr/>
        </p:nvSpPr>
        <p:spPr>
          <a:xfrm>
            <a:off x="8228330" y="3279140"/>
            <a:ext cx="284480" cy="933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0000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hard</a:t>
            </a:r>
            <a:endParaRPr lang="en-US" sz="1000" dirty="0">
              <a:solidFill>
                <a:srgbClr val="FF0000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620" name="Shape 26"/>
          <p:cNvSpPr/>
          <p:nvPr/>
        </p:nvSpPr>
        <p:spPr>
          <a:xfrm>
            <a:off x="8836660" y="1799590"/>
            <a:ext cx="1268730" cy="414655"/>
          </a:xfrm>
          <a:prstGeom prst="rect">
            <a:avLst/>
          </a:prstGeom>
          <a:solidFill>
            <a:srgbClr val="AEE5B7"/>
          </a:solidFill>
          <a:ln w="11430">
            <a:solidFill>
              <a:srgbClr val="1F2937"/>
            </a:solidFill>
            <a:prstDash val="solid"/>
          </a:ln>
        </p:spPr>
      </p:sp>
      <p:sp>
        <p:nvSpPr>
          <p:cNvPr id="622" name="Text 96"/>
          <p:cNvSpPr/>
          <p:nvPr/>
        </p:nvSpPr>
        <p:spPr>
          <a:xfrm>
            <a:off x="8870823" y="1900555"/>
            <a:ext cx="1234440" cy="1463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2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Previous Capacity</a:t>
            </a:r>
            <a:endParaRPr lang="en-US" sz="12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623" name="Shape 95"/>
          <p:cNvSpPr/>
          <p:nvPr/>
        </p:nvSpPr>
        <p:spPr>
          <a:xfrm>
            <a:off x="10105390" y="1799590"/>
            <a:ext cx="637540" cy="414020"/>
          </a:xfrm>
          <a:prstGeom prst="rect">
            <a:avLst/>
          </a:prstGeom>
          <a:solidFill>
            <a:srgbClr val="D9C8F8"/>
          </a:solidFill>
          <a:ln w="11430">
            <a:solidFill>
              <a:srgbClr val="1F2937"/>
            </a:solidFill>
            <a:prstDash val="solid"/>
          </a:ln>
        </p:spPr>
      </p:sp>
      <p:sp>
        <p:nvSpPr>
          <p:cNvPr id="625" name="文本框 624"/>
          <p:cNvSpPr txBox="1"/>
          <p:nvPr/>
        </p:nvSpPr>
        <p:spPr>
          <a:xfrm>
            <a:off x="9911715" y="1752600"/>
            <a:ext cx="1037590" cy="6375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  <a:sym typeface="+mn-ea"/>
              </a:rPr>
              <a:t>Extra </a:t>
            </a:r>
            <a:endParaRPr lang="en-US" sz="12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  <a:sym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  <a:sym typeface="+mn-ea"/>
              </a:rPr>
              <a:t>Capacity</a:t>
            </a:r>
            <a:endParaRPr lang="en-US" altLang="en-US" sz="12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  <a:sym typeface="+mn-ea"/>
            </a:endParaRPr>
          </a:p>
        </p:txBody>
      </p:sp>
      <p:sp>
        <p:nvSpPr>
          <p:cNvPr id="845" name="Text 80"/>
          <p:cNvSpPr/>
          <p:nvPr/>
        </p:nvSpPr>
        <p:spPr>
          <a:xfrm>
            <a:off x="9996170" y="4757420"/>
            <a:ext cx="5805805" cy="4476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None/>
            </a:pPr>
            <a: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Weighted HPEM Loss Aggregation</a:t>
            </a:r>
            <a:endParaRPr lang="en-US" sz="16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846" name="Shape 81"/>
          <p:cNvSpPr/>
          <p:nvPr/>
        </p:nvSpPr>
        <p:spPr>
          <a:xfrm>
            <a:off x="11356975" y="5600065"/>
            <a:ext cx="1325245" cy="365125"/>
          </a:xfrm>
          <a:prstGeom prst="roundRect">
            <a:avLst>
              <a:gd name="adj" fmla="val 18182"/>
            </a:avLst>
          </a:prstGeom>
          <a:solidFill>
            <a:srgbClr val="EAF4FF"/>
          </a:solidFill>
          <a:ln w="13970">
            <a:solidFill>
              <a:srgbClr val="93C5FD"/>
            </a:solidFill>
            <a:prstDash val="solid"/>
          </a:ln>
        </p:spPr>
      </p:sp>
      <p:sp>
        <p:nvSpPr>
          <p:cNvPr id="849" name="Text 86"/>
          <p:cNvSpPr/>
          <p:nvPr/>
        </p:nvSpPr>
        <p:spPr>
          <a:xfrm>
            <a:off x="12518390" y="5701665"/>
            <a:ext cx="826770" cy="1936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  ···  +</a:t>
            </a:r>
            <a:endParaRPr lang="en-US" sz="1800" dirty="0"/>
          </a:p>
        </p:txBody>
      </p:sp>
      <p:sp>
        <p:nvSpPr>
          <p:cNvPr id="851" name="Text 89"/>
          <p:cNvSpPr/>
          <p:nvPr/>
        </p:nvSpPr>
        <p:spPr>
          <a:xfrm>
            <a:off x="18394045" y="2767965"/>
            <a:ext cx="826770" cy="19367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 fontScale="6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  ···  +</a:t>
            </a:r>
            <a:endParaRPr lang="en-US" sz="1800" dirty="0"/>
          </a:p>
        </p:txBody>
      </p:sp>
      <p:sp>
        <p:nvSpPr>
          <p:cNvPr id="852" name="Shape 90"/>
          <p:cNvSpPr/>
          <p:nvPr/>
        </p:nvSpPr>
        <p:spPr>
          <a:xfrm>
            <a:off x="13190220" y="5607685"/>
            <a:ext cx="1233805" cy="36449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3970">
            <a:solidFill>
              <a:srgbClr val="93C5FD"/>
            </a:solidFill>
            <a:prstDash val="solid"/>
          </a:ln>
        </p:spPr>
      </p:sp>
      <p:pic>
        <p:nvPicPr>
          <p:cNvPr id="853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3815" y="5648325"/>
            <a:ext cx="1120775" cy="243205"/>
          </a:xfrm>
          <a:prstGeom prst="rect">
            <a:avLst/>
          </a:prstGeom>
        </p:spPr>
      </p:pic>
      <p:pic>
        <p:nvPicPr>
          <p:cNvPr id="854" name="334E55B0-647D-440b-865C-3EC943EB4CBC-1" descr="/Users/wwwsaidthat/Library/Containers/com.kingsoft.wpsoffice.mac/Data/tmp/wpsoffice.gDptyC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5785" y="5648960"/>
            <a:ext cx="1120775" cy="246380"/>
          </a:xfrm>
          <a:prstGeom prst="rect">
            <a:avLst/>
          </a:prstGeom>
        </p:spPr>
      </p:pic>
      <p:sp>
        <p:nvSpPr>
          <p:cNvPr id="19" name="Shape 155"/>
          <p:cNvSpPr/>
          <p:nvPr/>
        </p:nvSpPr>
        <p:spPr>
          <a:xfrm>
            <a:off x="3303905" y="179578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1" name="Shape 155"/>
          <p:cNvSpPr/>
          <p:nvPr/>
        </p:nvSpPr>
        <p:spPr>
          <a:xfrm>
            <a:off x="3510915" y="179705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2" name="Shape 156"/>
          <p:cNvSpPr/>
          <p:nvPr/>
        </p:nvSpPr>
        <p:spPr>
          <a:xfrm>
            <a:off x="3303905" y="2016760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" name="Shape 155"/>
          <p:cNvSpPr/>
          <p:nvPr/>
        </p:nvSpPr>
        <p:spPr>
          <a:xfrm>
            <a:off x="3512820" y="201676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4" name="Shape 155"/>
          <p:cNvSpPr/>
          <p:nvPr/>
        </p:nvSpPr>
        <p:spPr>
          <a:xfrm>
            <a:off x="3094990" y="201803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5" name="Shape 156"/>
          <p:cNvSpPr/>
          <p:nvPr/>
        </p:nvSpPr>
        <p:spPr>
          <a:xfrm>
            <a:off x="3512820" y="2235835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6" name="Shape 155"/>
          <p:cNvSpPr/>
          <p:nvPr/>
        </p:nvSpPr>
        <p:spPr>
          <a:xfrm>
            <a:off x="3095625" y="223583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55"/>
          <p:cNvSpPr/>
          <p:nvPr/>
        </p:nvSpPr>
        <p:spPr>
          <a:xfrm>
            <a:off x="3304540" y="223583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3" name="Shape 162"/>
          <p:cNvSpPr/>
          <p:nvPr/>
        </p:nvSpPr>
        <p:spPr>
          <a:xfrm>
            <a:off x="5336540" y="179006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4" name="Shape 161"/>
          <p:cNvSpPr/>
          <p:nvPr/>
        </p:nvSpPr>
        <p:spPr>
          <a:xfrm>
            <a:off x="5129530" y="1998345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5" name="Shape 161"/>
          <p:cNvSpPr/>
          <p:nvPr/>
        </p:nvSpPr>
        <p:spPr>
          <a:xfrm>
            <a:off x="5336540" y="2208530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6" name="Shape 162"/>
          <p:cNvSpPr/>
          <p:nvPr/>
        </p:nvSpPr>
        <p:spPr>
          <a:xfrm>
            <a:off x="5336540" y="199961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7" name="Shape 162"/>
          <p:cNvSpPr/>
          <p:nvPr/>
        </p:nvSpPr>
        <p:spPr>
          <a:xfrm>
            <a:off x="5133340" y="220916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8" name="Shape 162"/>
          <p:cNvSpPr/>
          <p:nvPr/>
        </p:nvSpPr>
        <p:spPr>
          <a:xfrm>
            <a:off x="4926330" y="199834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49" name="Shape 162"/>
          <p:cNvSpPr/>
          <p:nvPr/>
        </p:nvSpPr>
        <p:spPr>
          <a:xfrm>
            <a:off x="4926330" y="220726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83" name="Shape 156"/>
          <p:cNvSpPr/>
          <p:nvPr/>
        </p:nvSpPr>
        <p:spPr>
          <a:xfrm>
            <a:off x="3145790" y="3461385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84" name="Shape 161"/>
          <p:cNvSpPr/>
          <p:nvPr/>
        </p:nvSpPr>
        <p:spPr>
          <a:xfrm>
            <a:off x="4926330" y="3454400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85" name="Shape 162"/>
          <p:cNvSpPr/>
          <p:nvPr/>
        </p:nvSpPr>
        <p:spPr>
          <a:xfrm>
            <a:off x="5133340" y="345440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86" name="Shape 170"/>
          <p:cNvSpPr/>
          <p:nvPr/>
        </p:nvSpPr>
        <p:spPr>
          <a:xfrm rot="20940000">
            <a:off x="3915410" y="3712210"/>
            <a:ext cx="843280" cy="164465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87" name="Shape 155"/>
          <p:cNvSpPr/>
          <p:nvPr/>
        </p:nvSpPr>
        <p:spPr>
          <a:xfrm>
            <a:off x="3354705" y="346138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8" name="Shape 155"/>
          <p:cNvSpPr/>
          <p:nvPr/>
        </p:nvSpPr>
        <p:spPr>
          <a:xfrm>
            <a:off x="3561715" y="346265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9" name="Shape 156"/>
          <p:cNvSpPr/>
          <p:nvPr/>
        </p:nvSpPr>
        <p:spPr>
          <a:xfrm>
            <a:off x="3354705" y="3682365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90" name="Shape 155"/>
          <p:cNvSpPr/>
          <p:nvPr/>
        </p:nvSpPr>
        <p:spPr>
          <a:xfrm>
            <a:off x="3563620" y="368236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1" name="Shape 155"/>
          <p:cNvSpPr/>
          <p:nvPr/>
        </p:nvSpPr>
        <p:spPr>
          <a:xfrm>
            <a:off x="3145790" y="3683635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2" name="Shape 156"/>
          <p:cNvSpPr/>
          <p:nvPr/>
        </p:nvSpPr>
        <p:spPr>
          <a:xfrm>
            <a:off x="3563620" y="3901440"/>
            <a:ext cx="208915" cy="219075"/>
          </a:xfrm>
          <a:prstGeom prst="rect">
            <a:avLst/>
          </a:prstGeom>
          <a:solidFill>
            <a:srgbClr val="7AD99D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93" name="Shape 155"/>
          <p:cNvSpPr/>
          <p:nvPr/>
        </p:nvSpPr>
        <p:spPr>
          <a:xfrm>
            <a:off x="3146425" y="390144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4" name="Shape 155"/>
          <p:cNvSpPr/>
          <p:nvPr/>
        </p:nvSpPr>
        <p:spPr>
          <a:xfrm>
            <a:off x="3355340" y="3901440"/>
            <a:ext cx="208280" cy="219075"/>
          </a:xfrm>
          <a:prstGeom prst="rect">
            <a:avLst/>
          </a:prstGeom>
          <a:solidFill>
            <a:srgbClr val="DBF3E3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6" name="Shape 161"/>
          <p:cNvSpPr/>
          <p:nvPr/>
        </p:nvSpPr>
        <p:spPr>
          <a:xfrm>
            <a:off x="5129530" y="3663950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97" name="Shape 161"/>
          <p:cNvSpPr/>
          <p:nvPr/>
        </p:nvSpPr>
        <p:spPr>
          <a:xfrm>
            <a:off x="5336540" y="3874135"/>
            <a:ext cx="207010" cy="210185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02" name="Shape 162"/>
          <p:cNvSpPr/>
          <p:nvPr/>
        </p:nvSpPr>
        <p:spPr>
          <a:xfrm>
            <a:off x="5336540" y="366522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03" name="Shape 162"/>
          <p:cNvSpPr/>
          <p:nvPr/>
        </p:nvSpPr>
        <p:spPr>
          <a:xfrm>
            <a:off x="5133340" y="387477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04" name="Shape 162"/>
          <p:cNvSpPr/>
          <p:nvPr/>
        </p:nvSpPr>
        <p:spPr>
          <a:xfrm>
            <a:off x="4926330" y="366395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05" name="Shape 162"/>
          <p:cNvSpPr/>
          <p:nvPr/>
        </p:nvSpPr>
        <p:spPr>
          <a:xfrm>
            <a:off x="4926330" y="3872865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06" name="Text 151"/>
          <p:cNvSpPr/>
          <p:nvPr/>
        </p:nvSpPr>
        <p:spPr>
          <a:xfrm>
            <a:off x="4318635" y="3072765"/>
            <a:ext cx="1979295" cy="3200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Max-d Sim Matrix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07" name="Text 34"/>
          <p:cNvSpPr/>
          <p:nvPr/>
        </p:nvSpPr>
        <p:spPr>
          <a:xfrm>
            <a:off x="6830060" y="3281680"/>
            <a:ext cx="368935" cy="9715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easy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108" name="Shape 33"/>
          <p:cNvSpPr/>
          <p:nvPr/>
        </p:nvSpPr>
        <p:spPr>
          <a:xfrm>
            <a:off x="6931660" y="2875915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1" name="Text 32"/>
          <p:cNvSpPr/>
          <p:nvPr/>
        </p:nvSpPr>
        <p:spPr>
          <a:xfrm>
            <a:off x="6898640" y="309816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2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112" name="Text 32"/>
          <p:cNvSpPr/>
          <p:nvPr/>
        </p:nvSpPr>
        <p:spPr>
          <a:xfrm>
            <a:off x="7271385" y="310705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3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198" name="Text 25"/>
          <p:cNvSpPr/>
          <p:nvPr/>
        </p:nvSpPr>
        <p:spPr>
          <a:xfrm>
            <a:off x="8927465" y="1535430"/>
            <a:ext cx="1710690" cy="18669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Representation Capacity</a:t>
            </a:r>
            <a:endParaRPr lang="en-US" sz="1200" dirty="0">
              <a:solidFill>
                <a:schemeClr val="tx1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227" name="Shape 314"/>
          <p:cNvSpPr/>
          <p:nvPr/>
        </p:nvSpPr>
        <p:spPr>
          <a:xfrm>
            <a:off x="3518662" y="4646930"/>
            <a:ext cx="76200" cy="76200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29" name="Shape 315"/>
          <p:cNvSpPr/>
          <p:nvPr/>
        </p:nvSpPr>
        <p:spPr>
          <a:xfrm>
            <a:off x="3594862" y="4646930"/>
            <a:ext cx="76200" cy="7620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0" name="Shape 316"/>
          <p:cNvSpPr/>
          <p:nvPr/>
        </p:nvSpPr>
        <p:spPr>
          <a:xfrm>
            <a:off x="3671062" y="4646930"/>
            <a:ext cx="76200" cy="76200"/>
          </a:xfrm>
          <a:prstGeom prst="rect">
            <a:avLst/>
          </a:prstGeom>
          <a:solidFill>
            <a:srgbClr val="E9D9F6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1" name="Shape 317"/>
          <p:cNvSpPr/>
          <p:nvPr/>
        </p:nvSpPr>
        <p:spPr>
          <a:xfrm>
            <a:off x="3518662" y="4723130"/>
            <a:ext cx="76200" cy="7620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2" name="Shape 318"/>
          <p:cNvSpPr/>
          <p:nvPr/>
        </p:nvSpPr>
        <p:spPr>
          <a:xfrm>
            <a:off x="3594862" y="4723130"/>
            <a:ext cx="76200" cy="76200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3" name="Shape 320"/>
          <p:cNvSpPr/>
          <p:nvPr/>
        </p:nvSpPr>
        <p:spPr>
          <a:xfrm>
            <a:off x="3518662" y="4799330"/>
            <a:ext cx="76200" cy="76200"/>
          </a:xfrm>
          <a:prstGeom prst="rect">
            <a:avLst/>
          </a:prstGeom>
          <a:solidFill>
            <a:srgbClr val="E9D9F6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4" name="Shape 321"/>
          <p:cNvSpPr/>
          <p:nvPr/>
        </p:nvSpPr>
        <p:spPr>
          <a:xfrm>
            <a:off x="3594862" y="4799330"/>
            <a:ext cx="76200" cy="7620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5" name="Shape 322"/>
          <p:cNvSpPr/>
          <p:nvPr/>
        </p:nvSpPr>
        <p:spPr>
          <a:xfrm>
            <a:off x="3671062" y="4799330"/>
            <a:ext cx="76200" cy="76200"/>
          </a:xfrm>
          <a:prstGeom prst="rect">
            <a:avLst/>
          </a:prstGeom>
          <a:solidFill>
            <a:srgbClr val="B18CD9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6" name="Text 323"/>
          <p:cNvSpPr/>
          <p:nvPr/>
        </p:nvSpPr>
        <p:spPr>
          <a:xfrm>
            <a:off x="3986530" y="4631690"/>
            <a:ext cx="1634490" cy="16383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C2C4A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: Similarity Matrix</a:t>
            </a:r>
            <a:endParaRPr lang="en-US" sz="1200" dirty="0">
              <a:solidFill>
                <a:srgbClr val="1C2C4A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237" name="Shape 316"/>
          <p:cNvSpPr/>
          <p:nvPr/>
        </p:nvSpPr>
        <p:spPr>
          <a:xfrm>
            <a:off x="3671062" y="4723130"/>
            <a:ext cx="76200" cy="76200"/>
          </a:xfrm>
          <a:prstGeom prst="rect">
            <a:avLst/>
          </a:prstGeom>
          <a:solidFill>
            <a:srgbClr val="E9D9F6"/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238" name="Shape 1"/>
          <p:cNvSpPr/>
          <p:nvPr/>
        </p:nvSpPr>
        <p:spPr>
          <a:xfrm>
            <a:off x="86995" y="99695"/>
            <a:ext cx="2040255" cy="8007985"/>
          </a:xfrm>
          <a:prstGeom prst="roundRect">
            <a:avLst>
              <a:gd name="adj" fmla="val 5594"/>
            </a:avLst>
          </a:prstGeom>
          <a:solidFill>
            <a:srgbClr val="00B0F0">
              <a:alpha val="9000"/>
            </a:srgbClr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1" name="Text 3"/>
          <p:cNvSpPr/>
          <p:nvPr/>
        </p:nvSpPr>
        <p:spPr>
          <a:xfrm>
            <a:off x="739013" y="355219"/>
            <a:ext cx="667512" cy="25603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2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Input</a:t>
            </a:r>
            <a:endParaRPr lang="en-US" sz="2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-113665" y="1154430"/>
            <a:ext cx="2387600" cy="1377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Graph Structure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  𝒢 = (𝒱, ℰ)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275" name="Shape 5"/>
          <p:cNvSpPr/>
          <p:nvPr/>
        </p:nvSpPr>
        <p:spPr>
          <a:xfrm rot="6960000">
            <a:off x="434975" y="1742491"/>
            <a:ext cx="342351" cy="210678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86" name="Shape 6"/>
          <p:cNvSpPr/>
          <p:nvPr/>
        </p:nvSpPr>
        <p:spPr>
          <a:xfrm>
            <a:off x="763356" y="1746301"/>
            <a:ext cx="348935" cy="171176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87" name="Shape 7"/>
          <p:cNvSpPr/>
          <p:nvPr/>
        </p:nvSpPr>
        <p:spPr>
          <a:xfrm rot="19200000">
            <a:off x="1112926" y="1770730"/>
            <a:ext cx="395021" cy="144841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88" name="Shape 8"/>
          <p:cNvSpPr/>
          <p:nvPr/>
        </p:nvSpPr>
        <p:spPr>
          <a:xfrm>
            <a:off x="421005" y="1956979"/>
            <a:ext cx="381853" cy="237012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89" name="Shape 9"/>
          <p:cNvSpPr/>
          <p:nvPr/>
        </p:nvSpPr>
        <p:spPr>
          <a:xfrm>
            <a:off x="763356" y="1746301"/>
            <a:ext cx="39502" cy="44769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0" name="Shape 10"/>
          <p:cNvSpPr/>
          <p:nvPr/>
        </p:nvSpPr>
        <p:spPr>
          <a:xfrm rot="6780000">
            <a:off x="486841" y="2193991"/>
            <a:ext cx="316017" cy="210678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1" name="Shape 11"/>
          <p:cNvSpPr/>
          <p:nvPr/>
        </p:nvSpPr>
        <p:spPr>
          <a:xfrm>
            <a:off x="802858" y="2193991"/>
            <a:ext cx="355519" cy="177759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2" name="Shape 12"/>
          <p:cNvSpPr/>
          <p:nvPr/>
        </p:nvSpPr>
        <p:spPr>
          <a:xfrm rot="6960000">
            <a:off x="1158377" y="2193991"/>
            <a:ext cx="283098" cy="177759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3" name="Shape 13"/>
          <p:cNvSpPr/>
          <p:nvPr/>
        </p:nvSpPr>
        <p:spPr>
          <a:xfrm rot="1140000">
            <a:off x="1441475" y="1772635"/>
            <a:ext cx="65837" cy="421356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4" name="Shape 14"/>
          <p:cNvSpPr/>
          <p:nvPr/>
        </p:nvSpPr>
        <p:spPr>
          <a:xfrm>
            <a:off x="1112291" y="1917476"/>
            <a:ext cx="329184" cy="276515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5" name="Shape 15"/>
          <p:cNvSpPr/>
          <p:nvPr/>
        </p:nvSpPr>
        <p:spPr>
          <a:xfrm>
            <a:off x="1441475" y="2193991"/>
            <a:ext cx="296266" cy="230429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296" name="Shape 16"/>
          <p:cNvSpPr/>
          <p:nvPr/>
        </p:nvSpPr>
        <p:spPr>
          <a:xfrm>
            <a:off x="370713" y="1906687"/>
            <a:ext cx="100584" cy="100584"/>
          </a:xfrm>
          <a:prstGeom prst="ellipse">
            <a:avLst/>
          </a:prstGeom>
          <a:solidFill>
            <a:srgbClr val="6EA8FE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297" name="Shape 17"/>
          <p:cNvSpPr/>
          <p:nvPr/>
        </p:nvSpPr>
        <p:spPr>
          <a:xfrm>
            <a:off x="713064" y="1696009"/>
            <a:ext cx="100584" cy="100584"/>
          </a:xfrm>
          <a:prstGeom prst="ellipse">
            <a:avLst/>
          </a:prstGeom>
          <a:solidFill>
            <a:srgbClr val="55C878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299" name="Shape 19"/>
          <p:cNvSpPr/>
          <p:nvPr/>
        </p:nvSpPr>
        <p:spPr>
          <a:xfrm>
            <a:off x="1457020" y="1722344"/>
            <a:ext cx="100584" cy="100584"/>
          </a:xfrm>
          <a:prstGeom prst="ellipse">
            <a:avLst/>
          </a:prstGeom>
          <a:solidFill>
            <a:srgbClr val="4D8DFF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00" name="Shape 20"/>
          <p:cNvSpPr/>
          <p:nvPr/>
        </p:nvSpPr>
        <p:spPr>
          <a:xfrm>
            <a:off x="752566" y="2143699"/>
            <a:ext cx="100584" cy="100584"/>
          </a:xfrm>
          <a:prstGeom prst="ellipse">
            <a:avLst/>
          </a:prstGeom>
          <a:solidFill>
            <a:srgbClr val="D0D5DD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38" name="Shape 23"/>
          <p:cNvSpPr/>
          <p:nvPr/>
        </p:nvSpPr>
        <p:spPr>
          <a:xfrm>
            <a:off x="1391183" y="2143699"/>
            <a:ext cx="100584" cy="100584"/>
          </a:xfrm>
          <a:prstGeom prst="ellipse">
            <a:avLst/>
          </a:prstGeom>
          <a:solidFill>
            <a:srgbClr val="72C39A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39" name="Shape 24"/>
          <p:cNvSpPr/>
          <p:nvPr/>
        </p:nvSpPr>
        <p:spPr>
          <a:xfrm>
            <a:off x="1687449" y="2374128"/>
            <a:ext cx="100584" cy="100584"/>
          </a:xfrm>
          <a:prstGeom prst="ellipse">
            <a:avLst/>
          </a:prstGeom>
          <a:solidFill>
            <a:srgbClr val="D9DEE7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40" name="Text 25"/>
          <p:cNvSpPr/>
          <p:nvPr/>
        </p:nvSpPr>
        <p:spPr>
          <a:xfrm>
            <a:off x="1046455" y="1713382"/>
            <a:ext cx="164592" cy="790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865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865" dirty="0"/>
          </a:p>
        </p:txBody>
      </p:sp>
      <p:sp>
        <p:nvSpPr>
          <p:cNvPr id="341" name="Text 26"/>
          <p:cNvSpPr/>
          <p:nvPr/>
        </p:nvSpPr>
        <p:spPr>
          <a:xfrm>
            <a:off x="941116" y="2009648"/>
            <a:ext cx="164592" cy="790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865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865" dirty="0"/>
          </a:p>
        </p:txBody>
      </p:sp>
      <p:sp>
        <p:nvSpPr>
          <p:cNvPr id="342" name="Text 27"/>
          <p:cNvSpPr/>
          <p:nvPr/>
        </p:nvSpPr>
        <p:spPr>
          <a:xfrm>
            <a:off x="1671904" y="1976730"/>
            <a:ext cx="164592" cy="79004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50000"/>
          </a:bodyPr>
          <a:lstStyle/>
          <a:p>
            <a:pPr marL="0" indent="0" algn="ctr">
              <a:buNone/>
            </a:pPr>
            <a:r>
              <a:rPr lang="en-US" sz="865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865" dirty="0"/>
          </a:p>
        </p:txBody>
      </p:sp>
      <p:sp>
        <p:nvSpPr>
          <p:cNvPr id="345" name="Text 30"/>
          <p:cNvSpPr/>
          <p:nvPr/>
        </p:nvSpPr>
        <p:spPr>
          <a:xfrm>
            <a:off x="-194310" y="3083560"/>
            <a:ext cx="2519680" cy="1752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Node Features  </a:t>
            </a:r>
            <a:b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</a:b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X ∈ ℝ</a:t>
            </a:r>
            <a:r>
              <a:rPr lang="en-US" sz="1400" baseline="300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|𝒱|×F</a:t>
            </a:r>
            <a:endParaRPr lang="en-US" sz="1400" baseline="300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346" name="Text 31"/>
          <p:cNvSpPr/>
          <p:nvPr/>
        </p:nvSpPr>
        <p:spPr>
          <a:xfrm>
            <a:off x="250698" y="3536569"/>
            <a:ext cx="22860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91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v₁</a:t>
            </a:r>
            <a:endParaRPr lang="en-US" sz="900" dirty="0"/>
          </a:p>
        </p:txBody>
      </p:sp>
      <p:sp>
        <p:nvSpPr>
          <p:cNvPr id="347" name="Text 32"/>
          <p:cNvSpPr/>
          <p:nvPr/>
        </p:nvSpPr>
        <p:spPr>
          <a:xfrm>
            <a:off x="250698" y="3728593"/>
            <a:ext cx="22860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86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v₂</a:t>
            </a:r>
            <a:endParaRPr lang="en-US" sz="900" dirty="0"/>
          </a:p>
        </p:txBody>
      </p:sp>
      <p:sp>
        <p:nvSpPr>
          <p:cNvPr id="348" name="Text 33"/>
          <p:cNvSpPr/>
          <p:nvPr/>
        </p:nvSpPr>
        <p:spPr>
          <a:xfrm>
            <a:off x="250698" y="3920617"/>
            <a:ext cx="22860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2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⋮</a:t>
            </a:r>
            <a:endParaRPr lang="en-US" sz="900" dirty="0"/>
          </a:p>
        </p:txBody>
      </p:sp>
      <p:sp>
        <p:nvSpPr>
          <p:cNvPr id="349" name="Text 34"/>
          <p:cNvSpPr/>
          <p:nvPr/>
        </p:nvSpPr>
        <p:spPr>
          <a:xfrm>
            <a:off x="250698" y="4112641"/>
            <a:ext cx="228600" cy="128016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B2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v|𝒱|</a:t>
            </a:r>
            <a:endParaRPr lang="en-US" sz="900" dirty="0"/>
          </a:p>
        </p:txBody>
      </p:sp>
      <p:sp>
        <p:nvSpPr>
          <p:cNvPr id="350" name="Shape 35"/>
          <p:cNvSpPr/>
          <p:nvPr/>
        </p:nvSpPr>
        <p:spPr>
          <a:xfrm>
            <a:off x="521970" y="3494659"/>
            <a:ext cx="189411" cy="243840"/>
          </a:xfrm>
          <a:prstGeom prst="rect">
            <a:avLst/>
          </a:prstGeom>
          <a:solidFill>
            <a:srgbClr val="DDF5E7"/>
          </a:solidFill>
          <a:ln w="5715">
            <a:solidFill>
              <a:srgbClr val="2CA366"/>
            </a:solidFill>
            <a:prstDash val="solid"/>
          </a:ln>
        </p:spPr>
      </p:sp>
      <p:sp>
        <p:nvSpPr>
          <p:cNvPr id="351" name="Shape 36"/>
          <p:cNvSpPr/>
          <p:nvPr/>
        </p:nvSpPr>
        <p:spPr>
          <a:xfrm>
            <a:off x="711381" y="3494659"/>
            <a:ext cx="189411" cy="243840"/>
          </a:xfrm>
          <a:prstGeom prst="rect">
            <a:avLst/>
          </a:prstGeom>
          <a:solidFill>
            <a:srgbClr val="DDF5E7"/>
          </a:solidFill>
          <a:ln w="5715">
            <a:solidFill>
              <a:srgbClr val="2CA366"/>
            </a:solidFill>
            <a:prstDash val="solid"/>
          </a:ln>
        </p:spPr>
      </p:sp>
      <p:sp>
        <p:nvSpPr>
          <p:cNvPr id="359" name="Shape 37"/>
          <p:cNvSpPr/>
          <p:nvPr/>
        </p:nvSpPr>
        <p:spPr>
          <a:xfrm>
            <a:off x="900793" y="3494659"/>
            <a:ext cx="189411" cy="243840"/>
          </a:xfrm>
          <a:prstGeom prst="rect">
            <a:avLst/>
          </a:prstGeom>
          <a:solidFill>
            <a:srgbClr val="DDF5E7"/>
          </a:solidFill>
          <a:ln w="5715">
            <a:solidFill>
              <a:srgbClr val="2CA366"/>
            </a:solidFill>
            <a:prstDash val="solid"/>
          </a:ln>
        </p:spPr>
      </p:sp>
      <p:sp>
        <p:nvSpPr>
          <p:cNvPr id="360" name="Shape 38"/>
          <p:cNvSpPr/>
          <p:nvPr/>
        </p:nvSpPr>
        <p:spPr>
          <a:xfrm>
            <a:off x="1090204" y="3494659"/>
            <a:ext cx="189411" cy="243840"/>
          </a:xfrm>
          <a:prstGeom prst="rect">
            <a:avLst/>
          </a:prstGeom>
          <a:solidFill>
            <a:srgbClr val="DDF5E7"/>
          </a:solidFill>
          <a:ln w="5715">
            <a:solidFill>
              <a:srgbClr val="2CA366"/>
            </a:solidFill>
            <a:prstDash val="solid"/>
          </a:ln>
        </p:spPr>
      </p:sp>
      <p:sp>
        <p:nvSpPr>
          <p:cNvPr id="361" name="Shape 39"/>
          <p:cNvSpPr/>
          <p:nvPr/>
        </p:nvSpPr>
        <p:spPr>
          <a:xfrm>
            <a:off x="1279525" y="3494405"/>
            <a:ext cx="381635" cy="243840"/>
          </a:xfrm>
          <a:prstGeom prst="rect">
            <a:avLst/>
          </a:prstGeom>
          <a:solidFill>
            <a:srgbClr val="FFFFFF"/>
          </a:solidFill>
          <a:ln w="5715">
            <a:solidFill>
              <a:srgbClr val="2CA366"/>
            </a:solidFill>
            <a:prstDash val="solid"/>
          </a:ln>
        </p:spPr>
        <p:txBody>
          <a:bodyPr/>
          <a:p>
            <a:endParaRPr lang="en-US" altLang="zh-CN"/>
          </a:p>
        </p:txBody>
      </p:sp>
      <p:sp>
        <p:nvSpPr>
          <p:cNvPr id="363" name="Shape 41"/>
          <p:cNvSpPr/>
          <p:nvPr/>
        </p:nvSpPr>
        <p:spPr>
          <a:xfrm>
            <a:off x="1658439" y="3494659"/>
            <a:ext cx="189411" cy="243840"/>
          </a:xfrm>
          <a:prstGeom prst="rect">
            <a:avLst/>
          </a:prstGeom>
          <a:solidFill>
            <a:srgbClr val="FFFFFF">
              <a:alpha val="75000"/>
            </a:srgbClr>
          </a:solidFill>
          <a:ln w="5715">
            <a:solidFill>
              <a:srgbClr val="2CA366"/>
            </a:solidFill>
            <a:prstDash val="solid"/>
          </a:ln>
        </p:spPr>
      </p:sp>
      <p:sp>
        <p:nvSpPr>
          <p:cNvPr id="364" name="Shape 42"/>
          <p:cNvSpPr/>
          <p:nvPr/>
        </p:nvSpPr>
        <p:spPr>
          <a:xfrm>
            <a:off x="521970" y="3738499"/>
            <a:ext cx="189411" cy="243840"/>
          </a:xfrm>
          <a:prstGeom prst="rect">
            <a:avLst/>
          </a:prstGeom>
          <a:solidFill>
            <a:srgbClr val="C3E0FF"/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65" name="Shape 43"/>
          <p:cNvSpPr/>
          <p:nvPr/>
        </p:nvSpPr>
        <p:spPr>
          <a:xfrm>
            <a:off x="711381" y="3738499"/>
            <a:ext cx="189411" cy="243840"/>
          </a:xfrm>
          <a:prstGeom prst="rect">
            <a:avLst/>
          </a:prstGeom>
          <a:solidFill>
            <a:srgbClr val="C3E0FF"/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66" name="Shape 44"/>
          <p:cNvSpPr/>
          <p:nvPr/>
        </p:nvSpPr>
        <p:spPr>
          <a:xfrm>
            <a:off x="900793" y="3738499"/>
            <a:ext cx="189411" cy="243840"/>
          </a:xfrm>
          <a:prstGeom prst="rect">
            <a:avLst/>
          </a:prstGeom>
          <a:solidFill>
            <a:srgbClr val="C3E0FF"/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67" name="Shape 45"/>
          <p:cNvSpPr/>
          <p:nvPr/>
        </p:nvSpPr>
        <p:spPr>
          <a:xfrm>
            <a:off x="1090204" y="3738499"/>
            <a:ext cx="189411" cy="243840"/>
          </a:xfrm>
          <a:prstGeom prst="rect">
            <a:avLst/>
          </a:prstGeom>
          <a:solidFill>
            <a:srgbClr val="C3E0FF"/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68" name="Shape 46"/>
          <p:cNvSpPr/>
          <p:nvPr/>
        </p:nvSpPr>
        <p:spPr>
          <a:xfrm>
            <a:off x="1279525" y="3738245"/>
            <a:ext cx="381000" cy="243840"/>
          </a:xfrm>
          <a:prstGeom prst="rect">
            <a:avLst/>
          </a:prstGeom>
          <a:solidFill>
            <a:srgbClr val="FFFFFF"/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70" name="Shape 48"/>
          <p:cNvSpPr/>
          <p:nvPr/>
        </p:nvSpPr>
        <p:spPr>
          <a:xfrm>
            <a:off x="1658439" y="3738499"/>
            <a:ext cx="189411" cy="243840"/>
          </a:xfrm>
          <a:prstGeom prst="rect">
            <a:avLst/>
          </a:prstGeom>
          <a:solidFill>
            <a:srgbClr val="FFFFFF">
              <a:alpha val="75000"/>
            </a:srgbClr>
          </a:solidFill>
          <a:ln w="5715">
            <a:solidFill>
              <a:srgbClr val="3074D8"/>
            </a:solidFill>
            <a:prstDash val="solid"/>
          </a:ln>
        </p:spPr>
      </p:sp>
      <p:sp>
        <p:nvSpPr>
          <p:cNvPr id="371" name="Shape 49"/>
          <p:cNvSpPr/>
          <p:nvPr/>
        </p:nvSpPr>
        <p:spPr>
          <a:xfrm>
            <a:off x="521970" y="3982339"/>
            <a:ext cx="189411" cy="243840"/>
          </a:xfrm>
          <a:prstGeom prst="rect">
            <a:avLst/>
          </a:prstGeom>
          <a:solidFill>
            <a:srgbClr val="E8D7FF"/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2" name="Shape 50"/>
          <p:cNvSpPr/>
          <p:nvPr/>
        </p:nvSpPr>
        <p:spPr>
          <a:xfrm>
            <a:off x="711381" y="3982339"/>
            <a:ext cx="189411" cy="243840"/>
          </a:xfrm>
          <a:prstGeom prst="rect">
            <a:avLst/>
          </a:prstGeom>
          <a:solidFill>
            <a:srgbClr val="E8D7FF"/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3" name="Shape 51"/>
          <p:cNvSpPr/>
          <p:nvPr/>
        </p:nvSpPr>
        <p:spPr>
          <a:xfrm>
            <a:off x="900793" y="3982339"/>
            <a:ext cx="189411" cy="243840"/>
          </a:xfrm>
          <a:prstGeom prst="rect">
            <a:avLst/>
          </a:prstGeom>
          <a:solidFill>
            <a:srgbClr val="E8D7FF"/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4" name="Shape 52"/>
          <p:cNvSpPr/>
          <p:nvPr/>
        </p:nvSpPr>
        <p:spPr>
          <a:xfrm>
            <a:off x="1090204" y="3982339"/>
            <a:ext cx="189411" cy="243840"/>
          </a:xfrm>
          <a:prstGeom prst="rect">
            <a:avLst/>
          </a:prstGeom>
          <a:solidFill>
            <a:srgbClr val="E8D7FF"/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5" name="Shape 53"/>
          <p:cNvSpPr/>
          <p:nvPr/>
        </p:nvSpPr>
        <p:spPr>
          <a:xfrm>
            <a:off x="1279525" y="3982085"/>
            <a:ext cx="381000" cy="243840"/>
          </a:xfrm>
          <a:prstGeom prst="rect">
            <a:avLst/>
          </a:prstGeom>
          <a:solidFill>
            <a:srgbClr val="FFFFFF"/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7" name="Shape 55"/>
          <p:cNvSpPr/>
          <p:nvPr/>
        </p:nvSpPr>
        <p:spPr>
          <a:xfrm>
            <a:off x="1658439" y="3982339"/>
            <a:ext cx="189411" cy="243840"/>
          </a:xfrm>
          <a:prstGeom prst="rect">
            <a:avLst/>
          </a:prstGeom>
          <a:solidFill>
            <a:srgbClr val="FFFFFF">
              <a:alpha val="75000"/>
            </a:srgbClr>
          </a:solidFill>
          <a:ln w="5715">
            <a:solidFill>
              <a:srgbClr val="8D4BD6"/>
            </a:solidFill>
            <a:prstDash val="solid"/>
          </a:ln>
        </p:spPr>
      </p:sp>
      <p:sp>
        <p:nvSpPr>
          <p:cNvPr id="379" name="Text 57"/>
          <p:cNvSpPr/>
          <p:nvPr/>
        </p:nvSpPr>
        <p:spPr>
          <a:xfrm>
            <a:off x="220345" y="4939665"/>
            <a:ext cx="1795145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Data Augmentation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380" name="Shape 58"/>
          <p:cNvSpPr/>
          <p:nvPr/>
        </p:nvSpPr>
        <p:spPr>
          <a:xfrm>
            <a:off x="220345" y="5324475"/>
            <a:ext cx="869950" cy="810895"/>
          </a:xfrm>
          <a:prstGeom prst="roundRect">
            <a:avLst>
              <a:gd name="adj" fmla="val 10256"/>
            </a:avLst>
          </a:prstGeom>
          <a:solidFill>
            <a:srgbClr val="F1F7FF"/>
          </a:solidFill>
          <a:ln w="13970">
            <a:solidFill>
              <a:srgbClr val="2F66C8"/>
            </a:solidFill>
            <a:prstDash val="solid"/>
          </a:ln>
        </p:spPr>
      </p:sp>
      <p:sp>
        <p:nvSpPr>
          <p:cNvPr id="381" name="Text 59"/>
          <p:cNvSpPr/>
          <p:nvPr/>
        </p:nvSpPr>
        <p:spPr>
          <a:xfrm>
            <a:off x="334010" y="5419344"/>
            <a:ext cx="676656" cy="118872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66C8"/>
                </a:solidFill>
                <a:latin typeface="Chalkboard" panose="03050602040202020205" charset="0"/>
                <a:ea typeface="Aptos" pitchFamily="34" charset="-122"/>
                <a:cs typeface="Chalkboard" panose="03050602040202020205" charset="0"/>
              </a:rPr>
              <a:t>View 1</a:t>
            </a:r>
            <a:endParaRPr lang="en-US" sz="1400" dirty="0">
              <a:solidFill>
                <a:srgbClr val="2F66C8"/>
              </a:solidFill>
              <a:latin typeface="Chalkboard" panose="03050602040202020205" charset="0"/>
              <a:ea typeface="Aptos" pitchFamily="34" charset="-122"/>
              <a:cs typeface="Chalkboard" panose="03050602040202020205" charset="0"/>
            </a:endParaRPr>
          </a:p>
        </p:txBody>
      </p:sp>
      <p:sp>
        <p:nvSpPr>
          <p:cNvPr id="382" name="Shape 60"/>
          <p:cNvSpPr/>
          <p:nvPr/>
        </p:nvSpPr>
        <p:spPr>
          <a:xfrm rot="6600000">
            <a:off x="347218" y="5681599"/>
            <a:ext cx="142646" cy="87782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85" name="Shape 63"/>
          <p:cNvSpPr/>
          <p:nvPr/>
        </p:nvSpPr>
        <p:spPr>
          <a:xfrm>
            <a:off x="347218" y="5769381"/>
            <a:ext cx="159106" cy="98755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86" name="Shape 64"/>
          <p:cNvSpPr/>
          <p:nvPr/>
        </p:nvSpPr>
        <p:spPr>
          <a:xfrm>
            <a:off x="489864" y="5681599"/>
            <a:ext cx="16459" cy="186538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87" name="Shape 65"/>
          <p:cNvSpPr/>
          <p:nvPr/>
        </p:nvSpPr>
        <p:spPr>
          <a:xfrm rot="6600000">
            <a:off x="374650" y="5868137"/>
            <a:ext cx="131674" cy="87782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90" name="Shape 68"/>
          <p:cNvSpPr/>
          <p:nvPr/>
        </p:nvSpPr>
        <p:spPr>
          <a:xfrm rot="2820000">
            <a:off x="789305" y="5681980"/>
            <a:ext cx="56515" cy="17526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91" name="Shape 69"/>
          <p:cNvSpPr/>
          <p:nvPr/>
        </p:nvSpPr>
        <p:spPr>
          <a:xfrm rot="19320000">
            <a:off x="564134" y="5818962"/>
            <a:ext cx="137160" cy="115214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92" name="Shape 70"/>
          <p:cNvSpPr/>
          <p:nvPr/>
        </p:nvSpPr>
        <p:spPr>
          <a:xfrm>
            <a:off x="772414" y="5868137"/>
            <a:ext cx="123444" cy="96012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93" name="Shape 71"/>
          <p:cNvSpPr/>
          <p:nvPr/>
        </p:nvSpPr>
        <p:spPr>
          <a:xfrm>
            <a:off x="296926" y="5719089"/>
            <a:ext cx="100584" cy="100584"/>
          </a:xfrm>
          <a:prstGeom prst="ellipse">
            <a:avLst/>
          </a:prstGeom>
          <a:solidFill>
            <a:srgbClr val="6EA8FE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94" name="Shape 72"/>
          <p:cNvSpPr/>
          <p:nvPr/>
        </p:nvSpPr>
        <p:spPr>
          <a:xfrm>
            <a:off x="439572" y="5631307"/>
            <a:ext cx="100584" cy="100584"/>
          </a:xfrm>
          <a:prstGeom prst="ellipse">
            <a:avLst/>
          </a:prstGeom>
          <a:solidFill>
            <a:srgbClr val="55C878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96" name="Shape 74"/>
          <p:cNvSpPr/>
          <p:nvPr/>
        </p:nvSpPr>
        <p:spPr>
          <a:xfrm>
            <a:off x="808609" y="5649900"/>
            <a:ext cx="100584" cy="100584"/>
          </a:xfrm>
          <a:prstGeom prst="ellipse">
            <a:avLst/>
          </a:prstGeom>
          <a:solidFill>
            <a:srgbClr val="4D8DFF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97" name="Shape 75"/>
          <p:cNvSpPr/>
          <p:nvPr/>
        </p:nvSpPr>
        <p:spPr>
          <a:xfrm>
            <a:off x="456032" y="5817845"/>
            <a:ext cx="100584" cy="100584"/>
          </a:xfrm>
          <a:prstGeom prst="ellipse">
            <a:avLst/>
          </a:prstGeom>
          <a:solidFill>
            <a:srgbClr val="D0D5DD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98" name="Shape 76"/>
          <p:cNvSpPr/>
          <p:nvPr/>
        </p:nvSpPr>
        <p:spPr>
          <a:xfrm>
            <a:off x="324358" y="5905627"/>
            <a:ext cx="100584" cy="100584"/>
          </a:xfrm>
          <a:prstGeom prst="ellipse">
            <a:avLst/>
          </a:prstGeom>
          <a:solidFill>
            <a:srgbClr val="77A7FF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00" name="Shape 78"/>
          <p:cNvSpPr/>
          <p:nvPr/>
        </p:nvSpPr>
        <p:spPr>
          <a:xfrm>
            <a:off x="722122" y="5817845"/>
            <a:ext cx="100584" cy="100584"/>
          </a:xfrm>
          <a:prstGeom prst="ellipse">
            <a:avLst/>
          </a:prstGeom>
          <a:solidFill>
            <a:srgbClr val="72C39A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01" name="Shape 79"/>
          <p:cNvSpPr/>
          <p:nvPr/>
        </p:nvSpPr>
        <p:spPr>
          <a:xfrm>
            <a:off x="845566" y="5913857"/>
            <a:ext cx="100584" cy="100584"/>
          </a:xfrm>
          <a:prstGeom prst="ellipse">
            <a:avLst/>
          </a:prstGeom>
          <a:solidFill>
            <a:srgbClr val="D9DEE7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03" name="Text 81"/>
          <p:cNvSpPr/>
          <p:nvPr/>
        </p:nvSpPr>
        <p:spPr>
          <a:xfrm>
            <a:off x="563931" y="5791327"/>
            <a:ext cx="68580" cy="3291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60" dirty="0"/>
          </a:p>
        </p:txBody>
      </p:sp>
      <p:sp>
        <p:nvSpPr>
          <p:cNvPr id="404" name="Text 82"/>
          <p:cNvSpPr/>
          <p:nvPr/>
        </p:nvSpPr>
        <p:spPr>
          <a:xfrm>
            <a:off x="868426" y="5777611"/>
            <a:ext cx="68580" cy="3291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60" dirty="0"/>
          </a:p>
        </p:txBody>
      </p:sp>
      <p:sp>
        <p:nvSpPr>
          <p:cNvPr id="405" name="Text 83"/>
          <p:cNvSpPr/>
          <p:nvPr/>
        </p:nvSpPr>
        <p:spPr>
          <a:xfrm>
            <a:off x="333502" y="5928487"/>
            <a:ext cx="68580" cy="32918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6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60" dirty="0"/>
          </a:p>
        </p:txBody>
      </p:sp>
      <p:sp>
        <p:nvSpPr>
          <p:cNvPr id="406" name="Shape 84"/>
          <p:cNvSpPr/>
          <p:nvPr/>
        </p:nvSpPr>
        <p:spPr>
          <a:xfrm>
            <a:off x="1127760" y="5328920"/>
            <a:ext cx="859790" cy="811530"/>
          </a:xfrm>
          <a:prstGeom prst="roundRect">
            <a:avLst>
              <a:gd name="adj" fmla="val 10256"/>
            </a:avLst>
          </a:prstGeom>
          <a:solidFill>
            <a:srgbClr val="F2FFF7"/>
          </a:solidFill>
          <a:ln w="13970">
            <a:solidFill>
              <a:srgbClr val="177245"/>
            </a:solidFill>
            <a:prstDash val="solid"/>
          </a:ln>
        </p:spPr>
      </p:sp>
      <p:sp>
        <p:nvSpPr>
          <p:cNvPr id="407" name="Text 85"/>
          <p:cNvSpPr/>
          <p:nvPr/>
        </p:nvSpPr>
        <p:spPr>
          <a:xfrm>
            <a:off x="1162685" y="5418455"/>
            <a:ext cx="767715" cy="11874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77245"/>
                </a:solidFill>
                <a:latin typeface="Chalkboard" panose="03050602040202020205" charset="0"/>
                <a:ea typeface="Aptos" pitchFamily="34" charset="-122"/>
                <a:cs typeface="Chalkboard" panose="03050602040202020205" charset="0"/>
              </a:rPr>
              <a:t>View 2</a:t>
            </a:r>
            <a:endParaRPr lang="en-US" sz="1400" dirty="0">
              <a:solidFill>
                <a:srgbClr val="177245"/>
              </a:solidFill>
              <a:latin typeface="Chalkboard" panose="03050602040202020205" charset="0"/>
              <a:ea typeface="Aptos" pitchFamily="34" charset="-122"/>
              <a:cs typeface="Chalkboard" panose="03050602040202020205" charset="0"/>
            </a:endParaRPr>
          </a:p>
        </p:txBody>
      </p:sp>
      <p:sp>
        <p:nvSpPr>
          <p:cNvPr id="409" name="Shape 87"/>
          <p:cNvSpPr/>
          <p:nvPr/>
        </p:nvSpPr>
        <p:spPr>
          <a:xfrm>
            <a:off x="1381603" y="5769331"/>
            <a:ext cx="140543" cy="68946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10" name="Shape 88"/>
          <p:cNvSpPr/>
          <p:nvPr/>
        </p:nvSpPr>
        <p:spPr>
          <a:xfrm rot="8040000">
            <a:off x="1522146" y="5779937"/>
            <a:ext cx="159106" cy="58339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12" name="Shape 90"/>
          <p:cNvSpPr/>
          <p:nvPr/>
        </p:nvSpPr>
        <p:spPr>
          <a:xfrm>
            <a:off x="1381603" y="5769331"/>
            <a:ext cx="15911" cy="180320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14" name="Shape 92"/>
          <p:cNvSpPr/>
          <p:nvPr/>
        </p:nvSpPr>
        <p:spPr>
          <a:xfrm rot="6360000">
            <a:off x="1393703" y="5869640"/>
            <a:ext cx="143195" cy="71598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17" name="Shape 95"/>
          <p:cNvSpPr/>
          <p:nvPr/>
        </p:nvSpPr>
        <p:spPr>
          <a:xfrm>
            <a:off x="1522146" y="5838276"/>
            <a:ext cx="132588" cy="111374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420" name="Shape 98"/>
          <p:cNvSpPr/>
          <p:nvPr/>
        </p:nvSpPr>
        <p:spPr>
          <a:xfrm>
            <a:off x="1331311" y="5719039"/>
            <a:ext cx="100584" cy="100584"/>
          </a:xfrm>
          <a:prstGeom prst="ellipse">
            <a:avLst/>
          </a:prstGeom>
          <a:solidFill>
            <a:srgbClr val="55C878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21" name="Shape 99"/>
          <p:cNvSpPr/>
          <p:nvPr/>
        </p:nvSpPr>
        <p:spPr>
          <a:xfrm>
            <a:off x="1471854" y="5787984"/>
            <a:ext cx="100584" cy="100584"/>
          </a:xfrm>
          <a:prstGeom prst="ellipse">
            <a:avLst/>
          </a:prstGeom>
          <a:solidFill>
            <a:srgbClr val="FFC72C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22" name="Shape 100"/>
          <p:cNvSpPr/>
          <p:nvPr/>
        </p:nvSpPr>
        <p:spPr>
          <a:xfrm>
            <a:off x="1630959" y="5729646"/>
            <a:ext cx="100584" cy="100584"/>
          </a:xfrm>
          <a:prstGeom prst="ellipse">
            <a:avLst/>
          </a:prstGeom>
          <a:solidFill>
            <a:srgbClr val="4D8DFF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23" name="Shape 101"/>
          <p:cNvSpPr/>
          <p:nvPr/>
        </p:nvSpPr>
        <p:spPr>
          <a:xfrm>
            <a:off x="1347221" y="5899358"/>
            <a:ext cx="100584" cy="100584"/>
          </a:xfrm>
          <a:prstGeom prst="ellipse">
            <a:avLst/>
          </a:prstGeom>
          <a:solidFill>
            <a:srgbClr val="D0D5DD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26" name="Shape 104"/>
          <p:cNvSpPr/>
          <p:nvPr/>
        </p:nvSpPr>
        <p:spPr>
          <a:xfrm>
            <a:off x="1604442" y="5899358"/>
            <a:ext cx="100584" cy="100584"/>
          </a:xfrm>
          <a:prstGeom prst="ellipse">
            <a:avLst/>
          </a:prstGeom>
          <a:solidFill>
            <a:srgbClr val="72C39A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28" name="Text 106"/>
          <p:cNvSpPr/>
          <p:nvPr/>
        </p:nvSpPr>
        <p:spPr>
          <a:xfrm>
            <a:off x="1495628" y="5756072"/>
            <a:ext cx="66294" cy="31821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50" dirty="0"/>
          </a:p>
        </p:txBody>
      </p:sp>
      <p:sp>
        <p:nvSpPr>
          <p:cNvPr id="429" name="Text 107"/>
          <p:cNvSpPr/>
          <p:nvPr/>
        </p:nvSpPr>
        <p:spPr>
          <a:xfrm>
            <a:off x="1453200" y="5875401"/>
            <a:ext cx="66294" cy="31821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50" dirty="0"/>
          </a:p>
        </p:txBody>
      </p:sp>
      <p:sp>
        <p:nvSpPr>
          <p:cNvPr id="430" name="Text 108"/>
          <p:cNvSpPr/>
          <p:nvPr/>
        </p:nvSpPr>
        <p:spPr>
          <a:xfrm>
            <a:off x="1747545" y="5862142"/>
            <a:ext cx="66294" cy="31821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40000"/>
          </a:bodyPr>
          <a:lstStyle/>
          <a:p>
            <a:pPr marL="0" indent="0" algn="ctr">
              <a:buNone/>
            </a:pPr>
            <a:r>
              <a:rPr lang="en-US" sz="3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⋯</a:t>
            </a:r>
            <a:endParaRPr lang="en-US" sz="350" dirty="0"/>
          </a:p>
        </p:txBody>
      </p:sp>
      <p:sp>
        <p:nvSpPr>
          <p:cNvPr id="480" name="Shape 8"/>
          <p:cNvSpPr/>
          <p:nvPr/>
        </p:nvSpPr>
        <p:spPr>
          <a:xfrm rot="19680000">
            <a:off x="497840" y="1786890"/>
            <a:ext cx="568325" cy="320675"/>
          </a:xfrm>
          <a:prstGeom prst="line">
            <a:avLst/>
          </a:prstGeom>
          <a:noFill/>
          <a:ln w="12700">
            <a:solidFill>
              <a:srgbClr val="7B8794"/>
            </a:solidFill>
            <a:prstDash val="solid"/>
          </a:ln>
        </p:spPr>
      </p:sp>
      <p:sp>
        <p:nvSpPr>
          <p:cNvPr id="301" name="Shape 21"/>
          <p:cNvSpPr/>
          <p:nvPr/>
        </p:nvSpPr>
        <p:spPr>
          <a:xfrm>
            <a:off x="436550" y="2354377"/>
            <a:ext cx="100584" cy="100584"/>
          </a:xfrm>
          <a:prstGeom prst="ellipse">
            <a:avLst/>
          </a:prstGeom>
          <a:solidFill>
            <a:srgbClr val="77A7FF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337" name="Shape 22"/>
          <p:cNvSpPr/>
          <p:nvPr/>
        </p:nvSpPr>
        <p:spPr>
          <a:xfrm>
            <a:off x="1108085" y="2321458"/>
            <a:ext cx="100584" cy="100584"/>
          </a:xfrm>
          <a:prstGeom prst="ellipse">
            <a:avLst/>
          </a:prstGeom>
          <a:solidFill>
            <a:srgbClr val="7E6BD6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481" name="文本框 480"/>
          <p:cNvSpPr txBox="1"/>
          <p:nvPr/>
        </p:nvSpPr>
        <p:spPr>
          <a:xfrm>
            <a:off x="1279525" y="3444875"/>
            <a:ext cx="41338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···</a:t>
            </a:r>
            <a:endParaRPr lang="en-US" altLang="zh-CN"/>
          </a:p>
        </p:txBody>
      </p:sp>
      <p:sp>
        <p:nvSpPr>
          <p:cNvPr id="482" name="文本框 481"/>
          <p:cNvSpPr txBox="1"/>
          <p:nvPr/>
        </p:nvSpPr>
        <p:spPr>
          <a:xfrm>
            <a:off x="1273175" y="3676650"/>
            <a:ext cx="41338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···</a:t>
            </a:r>
            <a:endParaRPr lang="en-US" altLang="zh-CN"/>
          </a:p>
        </p:txBody>
      </p:sp>
      <p:sp>
        <p:nvSpPr>
          <p:cNvPr id="483" name="文本框 482"/>
          <p:cNvSpPr txBox="1"/>
          <p:nvPr/>
        </p:nvSpPr>
        <p:spPr>
          <a:xfrm>
            <a:off x="1273175" y="3929380"/>
            <a:ext cx="41338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···</a:t>
            </a:r>
            <a:endParaRPr lang="en-US" altLang="zh-CN"/>
          </a:p>
        </p:txBody>
      </p:sp>
      <p:sp>
        <p:nvSpPr>
          <p:cNvPr id="298" name="Shape 18"/>
          <p:cNvSpPr/>
          <p:nvPr/>
        </p:nvSpPr>
        <p:spPr>
          <a:xfrm>
            <a:off x="1061999" y="1867184"/>
            <a:ext cx="100584" cy="100584"/>
          </a:xfrm>
          <a:prstGeom prst="ellipse">
            <a:avLst/>
          </a:prstGeom>
          <a:solidFill>
            <a:srgbClr val="FFC72C"/>
          </a:solidFill>
          <a:ln w="10160">
            <a:solidFill>
              <a:srgbClr val="305080"/>
            </a:solidFill>
            <a:prstDash val="solid"/>
          </a:ln>
        </p:spPr>
      </p:sp>
      <p:sp>
        <p:nvSpPr>
          <p:cNvPr id="923" name="Shape 193"/>
          <p:cNvSpPr/>
          <p:nvPr/>
        </p:nvSpPr>
        <p:spPr>
          <a:xfrm>
            <a:off x="2131695" y="3383915"/>
            <a:ext cx="355600" cy="127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headEnd type="none"/>
            <a:tailEnd type="triangle"/>
          </a:ln>
        </p:spPr>
      </p:sp>
      <p:cxnSp>
        <p:nvCxnSpPr>
          <p:cNvPr id="3" name="肘形连接符 2"/>
          <p:cNvCxnSpPr>
            <a:stCxn id="152" idx="2"/>
          </p:cNvCxnSpPr>
          <p:nvPr/>
        </p:nvCxnSpPr>
        <p:spPr>
          <a:xfrm rot="5400000" flipV="1">
            <a:off x="4175760" y="7019925"/>
            <a:ext cx="35242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178435" y="918845"/>
            <a:ext cx="1854200" cy="1631315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487795" y="1166495"/>
            <a:ext cx="2120265" cy="4025900"/>
          </a:xfrm>
          <a:prstGeom prst="roundRect">
            <a:avLst>
              <a:gd name="adj" fmla="val 6019"/>
            </a:avLst>
          </a:prstGeom>
          <a:noFill/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547620" y="5524500"/>
            <a:ext cx="3591560" cy="838200"/>
          </a:xfrm>
          <a:prstGeom prst="roundRect">
            <a:avLst>
              <a:gd name="adj" fmla="val 9755"/>
            </a:avLst>
          </a:prstGeom>
          <a:solidFill>
            <a:srgbClr val="F99E94">
              <a:alpha val="30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6" name="Text 192"/>
          <p:cNvSpPr/>
          <p:nvPr/>
        </p:nvSpPr>
        <p:spPr>
          <a:xfrm>
            <a:off x="1788160" y="5760720"/>
            <a:ext cx="5137150" cy="22796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Align similarity distributions </a:t>
            </a:r>
            <a:b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</a:br>
            <a: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with symmetric KL divergence</a:t>
            </a:r>
            <a:endParaRPr lang="en-US" sz="16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73990" y="2870835"/>
            <a:ext cx="1861185" cy="1631315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78435" y="4796790"/>
            <a:ext cx="1854200" cy="1631315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180975" y="6852285"/>
            <a:ext cx="1864995" cy="901700"/>
          </a:xfrm>
          <a:prstGeom prst="roundRect">
            <a:avLst>
              <a:gd name="adj" fmla="val 9755"/>
            </a:avLst>
          </a:prstGeom>
          <a:solidFill>
            <a:schemeClr val="accent2">
              <a:alpha val="19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Shape 170"/>
          <p:cNvSpPr/>
          <p:nvPr/>
        </p:nvSpPr>
        <p:spPr>
          <a:xfrm rot="20940000">
            <a:off x="3916045" y="1991995"/>
            <a:ext cx="843280" cy="164465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2" name="圆角矩形 11"/>
          <p:cNvSpPr/>
          <p:nvPr/>
        </p:nvSpPr>
        <p:spPr>
          <a:xfrm>
            <a:off x="2557780" y="1154430"/>
            <a:ext cx="3591560" cy="1562735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557780" y="2990215"/>
            <a:ext cx="3591560" cy="1562735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Shape 162"/>
          <p:cNvSpPr/>
          <p:nvPr/>
        </p:nvSpPr>
        <p:spPr>
          <a:xfrm>
            <a:off x="5337810" y="3456940"/>
            <a:ext cx="207010" cy="209550"/>
          </a:xfrm>
          <a:prstGeom prst="rect">
            <a:avLst/>
          </a:prstGeom>
          <a:solidFill>
            <a:srgbClr val="E9D9F6">
              <a:alpha val="80000"/>
            </a:srgbClr>
          </a:solidFill>
          <a:ln w="6350">
            <a:solidFill>
              <a:srgbClr val="8BA3B8"/>
            </a:solidFill>
            <a:prstDash val="solid"/>
          </a:ln>
        </p:spPr>
      </p:sp>
      <p:sp>
        <p:nvSpPr>
          <p:cNvPr id="16" name="Shape 170"/>
          <p:cNvSpPr/>
          <p:nvPr/>
        </p:nvSpPr>
        <p:spPr>
          <a:xfrm rot="20940000">
            <a:off x="3439160" y="5079365"/>
            <a:ext cx="387985" cy="762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cxnSp>
        <p:nvCxnSpPr>
          <p:cNvPr id="17" name="肘形连接符 16"/>
          <p:cNvCxnSpPr/>
          <p:nvPr/>
        </p:nvCxnSpPr>
        <p:spPr>
          <a:xfrm rot="5400000" flipV="1">
            <a:off x="8599805" y="7045325"/>
            <a:ext cx="30162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25" name="文本框 924"/>
          <p:cNvSpPr txBox="1"/>
          <p:nvPr/>
        </p:nvSpPr>
        <p:spPr>
          <a:xfrm>
            <a:off x="262255" y="6895465"/>
            <a:ext cx="1742440" cy="73787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Generate two augmented graph </a:t>
            </a:r>
            <a:b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</a:br>
            <a:r>
              <a:rPr lang="en-US" sz="14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views as the input </a:t>
            </a:r>
            <a:endParaRPr lang="en-US" sz="14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524625" y="5524500"/>
            <a:ext cx="4352925" cy="811530"/>
          </a:xfrm>
          <a:prstGeom prst="roundRect">
            <a:avLst>
              <a:gd name="adj" fmla="val 9755"/>
            </a:avLst>
          </a:prstGeom>
          <a:solidFill>
            <a:srgbClr val="F99E94">
              <a:alpha val="30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4" name="Text 220"/>
          <p:cNvSpPr/>
          <p:nvPr/>
        </p:nvSpPr>
        <p:spPr>
          <a:xfrm>
            <a:off x="6725285" y="5750560"/>
            <a:ext cx="4003040" cy="2743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Use small-d confusion to weight</a:t>
            </a:r>
            <a:endParaRPr lang="en-US" sz="1600" dirty="0">
              <a:solidFill>
                <a:schemeClr val="tx1"/>
              </a:solidFill>
              <a:latin typeface="Comic Sans MS" panose="030F0902030302020204" charset="0"/>
              <a:cs typeface="Comic Sans MS" panose="030F0902030302020204" charset="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large-d InfoNCE loss</a:t>
            </a:r>
            <a:endParaRPr lang="en-US" sz="1600" dirty="0">
              <a:solidFill>
                <a:schemeClr val="tx1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11273155" y="6757035"/>
            <a:ext cx="3251200" cy="901065"/>
          </a:xfrm>
          <a:prstGeom prst="roundRect">
            <a:avLst>
              <a:gd name="adj" fmla="val 9755"/>
            </a:avLst>
          </a:prstGeom>
          <a:solidFill>
            <a:srgbClr val="F99E94">
              <a:alpha val="30000"/>
            </a:srgb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4" name="文本框 923"/>
          <p:cNvSpPr txBox="1"/>
          <p:nvPr/>
        </p:nvSpPr>
        <p:spPr>
          <a:xfrm>
            <a:off x="11297285" y="6969125"/>
            <a:ext cx="3400425" cy="784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1400" dirty="0"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  <a:sym typeface="+mn-ea"/>
              </a:rPr>
              <a:t>Effect: Higher-dimensional prefixes receive larger weights</a:t>
            </a:r>
            <a:endParaRPr lang="en-US" altLang="zh-CN" sz="1000">
              <a:latin typeface="Chalkboard" panose="03050602040202020205" charset="0"/>
              <a:cs typeface="Chalkboard" panose="03050602040202020205" charset="0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8725535" y="1154430"/>
            <a:ext cx="2120900" cy="4036695"/>
          </a:xfrm>
          <a:prstGeom prst="roundRect">
            <a:avLst>
              <a:gd name="adj" fmla="val 6019"/>
            </a:avLst>
          </a:prstGeom>
          <a:noFill/>
          <a:ln w="9525"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Shape 30"/>
          <p:cNvSpPr/>
          <p:nvPr/>
        </p:nvSpPr>
        <p:spPr>
          <a:xfrm>
            <a:off x="8813165" y="2454910"/>
            <a:ext cx="1962150" cy="2491740"/>
          </a:xfrm>
          <a:prstGeom prst="roundRect">
            <a:avLst>
              <a:gd name="adj" fmla="val 6250"/>
            </a:avLst>
          </a:prstGeom>
          <a:solidFill>
            <a:srgbClr val="AEE5B7">
              <a:alpha val="25000"/>
            </a:srgbClr>
          </a:solidFill>
          <a:ln w="9525">
            <a:solidFill>
              <a:schemeClr val="tx1"/>
            </a:solidFill>
            <a:prstDash val="lgDash"/>
          </a:ln>
        </p:spPr>
      </p:sp>
      <p:sp>
        <p:nvSpPr>
          <p:cNvPr id="634" name="Text 114"/>
          <p:cNvSpPr/>
          <p:nvPr/>
        </p:nvSpPr>
        <p:spPr>
          <a:xfrm>
            <a:off x="8966200" y="3589655"/>
            <a:ext cx="125730" cy="13081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500" b="1" dirty="0">
              <a:solidFill>
                <a:srgbClr val="16A3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636" name="Text 114"/>
          <p:cNvSpPr/>
          <p:nvPr/>
        </p:nvSpPr>
        <p:spPr>
          <a:xfrm>
            <a:off x="9101455" y="4142105"/>
            <a:ext cx="125730" cy="12319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5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37" name="Text 114"/>
          <p:cNvSpPr/>
          <p:nvPr/>
        </p:nvSpPr>
        <p:spPr>
          <a:xfrm>
            <a:off x="10112375" y="3599815"/>
            <a:ext cx="125730" cy="12319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 fontScale="50000"/>
          </a:bodyPr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42" name="Shape 122"/>
          <p:cNvSpPr/>
          <p:nvPr/>
        </p:nvSpPr>
        <p:spPr>
          <a:xfrm>
            <a:off x="9917430" y="3592830"/>
            <a:ext cx="143510" cy="13271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43" name="Shape 123"/>
          <p:cNvSpPr/>
          <p:nvPr/>
        </p:nvSpPr>
        <p:spPr>
          <a:xfrm>
            <a:off x="9949180" y="3620135"/>
            <a:ext cx="82550" cy="76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4" name="Shape 125"/>
          <p:cNvSpPr/>
          <p:nvPr/>
        </p:nvSpPr>
        <p:spPr>
          <a:xfrm>
            <a:off x="9890760" y="3657600"/>
            <a:ext cx="201295" cy="127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45" name="Shape 119"/>
          <p:cNvSpPr/>
          <p:nvPr/>
        </p:nvSpPr>
        <p:spPr>
          <a:xfrm>
            <a:off x="9987280" y="3557270"/>
            <a:ext cx="1270" cy="20891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46" name="Shape 122"/>
          <p:cNvSpPr/>
          <p:nvPr/>
        </p:nvSpPr>
        <p:spPr>
          <a:xfrm>
            <a:off x="10595610" y="3599180"/>
            <a:ext cx="143510" cy="13271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647" name="Shape 123"/>
          <p:cNvSpPr/>
          <p:nvPr/>
        </p:nvSpPr>
        <p:spPr>
          <a:xfrm>
            <a:off x="10627360" y="3626485"/>
            <a:ext cx="82550" cy="76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48" name="Shape 125"/>
          <p:cNvSpPr/>
          <p:nvPr/>
        </p:nvSpPr>
        <p:spPr>
          <a:xfrm>
            <a:off x="10568940" y="3663950"/>
            <a:ext cx="201295" cy="127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49" name="Shape 119"/>
          <p:cNvSpPr/>
          <p:nvPr/>
        </p:nvSpPr>
        <p:spPr>
          <a:xfrm>
            <a:off x="10665460" y="3563620"/>
            <a:ext cx="1270" cy="208915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headEnd type="none"/>
            <a:tailEnd type="none"/>
          </a:ln>
        </p:spPr>
      </p:sp>
      <p:sp>
        <p:nvSpPr>
          <p:cNvPr id="650" name="Shape 126"/>
          <p:cNvSpPr/>
          <p:nvPr/>
        </p:nvSpPr>
        <p:spPr>
          <a:xfrm>
            <a:off x="9992360" y="4023360"/>
            <a:ext cx="682625" cy="635"/>
          </a:xfrm>
          <a:prstGeom prst="line">
            <a:avLst/>
          </a:prstGeom>
          <a:noFill/>
          <a:ln w="13970">
            <a:solidFill>
              <a:srgbClr val="6D3DB8"/>
            </a:solidFill>
            <a:prstDash val="solid"/>
            <a:headEnd type="none"/>
            <a:tailEnd type="none"/>
          </a:ln>
        </p:spPr>
      </p:sp>
      <p:sp>
        <p:nvSpPr>
          <p:cNvPr id="651" name="Shape 127"/>
          <p:cNvSpPr/>
          <p:nvPr/>
        </p:nvSpPr>
        <p:spPr>
          <a:xfrm>
            <a:off x="9987915" y="3803650"/>
            <a:ext cx="1270" cy="220345"/>
          </a:xfrm>
          <a:prstGeom prst="line">
            <a:avLst/>
          </a:prstGeom>
          <a:noFill/>
          <a:ln w="13970">
            <a:solidFill>
              <a:srgbClr val="6D3DB8"/>
            </a:solidFill>
            <a:prstDash val="solid"/>
            <a:headEnd type="none"/>
            <a:tailEnd type="none"/>
          </a:ln>
        </p:spPr>
      </p:sp>
      <p:sp>
        <p:nvSpPr>
          <p:cNvPr id="652" name="Shape 128"/>
          <p:cNvSpPr/>
          <p:nvPr/>
        </p:nvSpPr>
        <p:spPr>
          <a:xfrm>
            <a:off x="10665460" y="3803650"/>
            <a:ext cx="635" cy="217805"/>
          </a:xfrm>
          <a:prstGeom prst="line">
            <a:avLst/>
          </a:prstGeom>
          <a:noFill/>
          <a:ln w="13970">
            <a:solidFill>
              <a:srgbClr val="6D3DB8"/>
            </a:solidFill>
            <a:prstDash val="solid"/>
            <a:headEnd type="none"/>
            <a:tailEnd type="none"/>
          </a:ln>
        </p:spPr>
      </p:sp>
      <p:sp>
        <p:nvSpPr>
          <p:cNvPr id="653" name="Text 129"/>
          <p:cNvSpPr/>
          <p:nvPr/>
        </p:nvSpPr>
        <p:spPr>
          <a:xfrm>
            <a:off x="9101455" y="4358640"/>
            <a:ext cx="1508760" cy="2012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D3DB8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More optimization focus : </a:t>
            </a:r>
            <a:br>
              <a:rPr lang="en-US" sz="1000" dirty="0">
                <a:solidFill>
                  <a:srgbClr val="6D3DB8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</a:br>
            <a:r>
              <a:rPr lang="en-US" sz="1000" dirty="0">
                <a:solidFill>
                  <a:srgbClr val="6D3DB8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Higher Weight</a:t>
            </a:r>
            <a:endParaRPr lang="en-US" sz="1000" dirty="0">
              <a:solidFill>
                <a:srgbClr val="6D3DB8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213" name="Text 114"/>
          <p:cNvSpPr/>
          <p:nvPr/>
        </p:nvSpPr>
        <p:spPr>
          <a:xfrm>
            <a:off x="9295130" y="3607435"/>
            <a:ext cx="125730" cy="12446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500" b="1" dirty="0">
              <a:solidFill>
                <a:srgbClr val="16A3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4" name="Text 114"/>
          <p:cNvSpPr/>
          <p:nvPr/>
        </p:nvSpPr>
        <p:spPr>
          <a:xfrm>
            <a:off x="9626600" y="3615055"/>
            <a:ext cx="125730" cy="12065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500" b="1" dirty="0">
              <a:solidFill>
                <a:srgbClr val="16A3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5" name="Text 114"/>
          <p:cNvSpPr/>
          <p:nvPr/>
        </p:nvSpPr>
        <p:spPr>
          <a:xfrm>
            <a:off x="10218420" y="3622675"/>
            <a:ext cx="125730" cy="12065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✓</a:t>
            </a:r>
            <a:endParaRPr lang="en-US" sz="1500" b="1" dirty="0">
              <a:solidFill>
                <a:srgbClr val="16A34A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217" name="Shape 127"/>
          <p:cNvSpPr/>
          <p:nvPr/>
        </p:nvSpPr>
        <p:spPr>
          <a:xfrm rot="10800000">
            <a:off x="10313670" y="4021455"/>
            <a:ext cx="1270" cy="220345"/>
          </a:xfrm>
          <a:prstGeom prst="line">
            <a:avLst/>
          </a:prstGeom>
          <a:noFill/>
          <a:ln w="13970">
            <a:solidFill>
              <a:srgbClr val="6D3DB8"/>
            </a:solidFill>
            <a:prstDash val="solid"/>
            <a:headEnd type="triangle"/>
            <a:tailEnd type="none"/>
          </a:ln>
        </p:spPr>
      </p:sp>
      <p:sp>
        <p:nvSpPr>
          <p:cNvPr id="626" name="Text 100"/>
          <p:cNvSpPr/>
          <p:nvPr/>
        </p:nvSpPr>
        <p:spPr>
          <a:xfrm>
            <a:off x="8595995" y="2431415"/>
            <a:ext cx="2496185" cy="32512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400" dirty="0">
                <a:solidFill>
                  <a:schemeClr val="tx1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Focus on Hard Samples</a:t>
            </a:r>
            <a:endParaRPr lang="en-US" sz="1400" dirty="0">
              <a:solidFill>
                <a:schemeClr val="tx1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576060" y="3803650"/>
            <a:ext cx="1918335" cy="1164590"/>
          </a:xfrm>
          <a:prstGeom prst="roundRect">
            <a:avLst>
              <a:gd name="adj" fmla="val 6250"/>
            </a:avLst>
          </a:prstGeom>
          <a:solidFill>
            <a:srgbClr val="AEE5B7">
              <a:alpha val="25000"/>
            </a:srgbClr>
          </a:solidFill>
          <a:ln w="9525">
            <a:solidFill>
              <a:schemeClr val="tx1"/>
            </a:solidFill>
            <a:prstDash val="lgDash"/>
          </a:ln>
        </p:spPr>
      </p:sp>
      <p:sp>
        <p:nvSpPr>
          <p:cNvPr id="570" name="Text 44"/>
          <p:cNvSpPr/>
          <p:nvPr/>
        </p:nvSpPr>
        <p:spPr>
          <a:xfrm>
            <a:off x="7766685" y="439039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baseline="-25000" dirty="0">
                <a:solidFill>
                  <a:srgbClr val="1F293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0"/>
              </a:rPr>
              <a:t>···</a:t>
            </a:r>
            <a:endParaRPr lang="en-US" sz="1400" b="1" baseline="-25000" dirty="0">
              <a:solidFill>
                <a:srgbClr val="1F2937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0"/>
            </a:endParaRPr>
          </a:p>
        </p:txBody>
      </p:sp>
      <p:sp>
        <p:nvSpPr>
          <p:cNvPr id="116" name="Text 41"/>
          <p:cNvSpPr/>
          <p:nvPr/>
        </p:nvSpPr>
        <p:spPr>
          <a:xfrm>
            <a:off x="6743065" y="455295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v₄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117" name="Text 41"/>
          <p:cNvSpPr/>
          <p:nvPr/>
        </p:nvSpPr>
        <p:spPr>
          <a:xfrm>
            <a:off x="7058025" y="455993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i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151" name="Text 44"/>
          <p:cNvSpPr/>
          <p:nvPr/>
        </p:nvSpPr>
        <p:spPr>
          <a:xfrm>
            <a:off x="8087360" y="455993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n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66" name="文本框 565"/>
          <p:cNvSpPr txBox="1"/>
          <p:nvPr/>
        </p:nvSpPr>
        <p:spPr>
          <a:xfrm>
            <a:off x="6362700" y="3864610"/>
            <a:ext cx="2387600" cy="2197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ctr">
              <a:buClrTx/>
              <a:buSzTx/>
              <a:buFontTx/>
              <a:buNone/>
            </a:pPr>
            <a:r>
              <a:rPr lang="en-US" sz="1000" dirty="0">
                <a:solidFill>
                  <a:srgbClr val="FF0000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  <a:sym typeface="+mn-ea"/>
              </a:rPr>
              <a:t>Hard Samples Discovered</a:t>
            </a:r>
            <a:endParaRPr lang="en-US" sz="1000" dirty="0">
              <a:solidFill>
                <a:srgbClr val="FF0000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  <a:sym typeface="+mn-ea"/>
            </a:endParaRPr>
          </a:p>
        </p:txBody>
      </p:sp>
      <p:sp>
        <p:nvSpPr>
          <p:cNvPr id="31" name="Shape 33"/>
          <p:cNvSpPr/>
          <p:nvPr/>
        </p:nvSpPr>
        <p:spPr>
          <a:xfrm>
            <a:off x="7985760" y="2870835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hape 33"/>
          <p:cNvSpPr/>
          <p:nvPr/>
        </p:nvSpPr>
        <p:spPr>
          <a:xfrm>
            <a:off x="7303770" y="2870835"/>
            <a:ext cx="155575" cy="146050"/>
          </a:xfrm>
          <a:prstGeom prst="ellipse">
            <a:avLst/>
          </a:prstGeom>
          <a:solidFill>
            <a:srgbClr val="FFE48A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3" name="Shape 33"/>
          <p:cNvSpPr/>
          <p:nvPr/>
        </p:nvSpPr>
        <p:spPr>
          <a:xfrm>
            <a:off x="7669530" y="2875915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4" name="Shape 33"/>
          <p:cNvSpPr/>
          <p:nvPr/>
        </p:nvSpPr>
        <p:spPr>
          <a:xfrm>
            <a:off x="8325485" y="2875280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6725285" y="4356100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6" name="Shape 33"/>
          <p:cNvSpPr/>
          <p:nvPr/>
        </p:nvSpPr>
        <p:spPr>
          <a:xfrm>
            <a:off x="8129905" y="4358640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7" name="Shape 33"/>
          <p:cNvSpPr/>
          <p:nvPr/>
        </p:nvSpPr>
        <p:spPr>
          <a:xfrm>
            <a:off x="7087235" y="4356100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8" name="Shape 33"/>
          <p:cNvSpPr/>
          <p:nvPr/>
        </p:nvSpPr>
        <p:spPr>
          <a:xfrm>
            <a:off x="7479665" y="4359275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9" name="Text 44"/>
          <p:cNvSpPr/>
          <p:nvPr/>
        </p:nvSpPr>
        <p:spPr>
          <a:xfrm>
            <a:off x="7459345" y="455993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k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8926195" y="315912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v₁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41" name="Shape 33"/>
          <p:cNvSpPr/>
          <p:nvPr/>
        </p:nvSpPr>
        <p:spPr>
          <a:xfrm>
            <a:off x="8915400" y="2940050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Text 41"/>
          <p:cNvSpPr/>
          <p:nvPr/>
        </p:nvSpPr>
        <p:spPr>
          <a:xfrm>
            <a:off x="9973945" y="318516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v₄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0" name="Text 44"/>
          <p:cNvSpPr/>
          <p:nvPr/>
        </p:nvSpPr>
        <p:spPr>
          <a:xfrm>
            <a:off x="10274935" y="317944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v₅</a:t>
            </a:r>
            <a:endParaRPr lang="en-US" sz="1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1" name="Text 44"/>
          <p:cNvSpPr/>
          <p:nvPr/>
        </p:nvSpPr>
        <p:spPr>
          <a:xfrm>
            <a:off x="10537190" y="3177540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n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2" name="Shape 33"/>
          <p:cNvSpPr/>
          <p:nvPr/>
        </p:nvSpPr>
        <p:spPr>
          <a:xfrm>
            <a:off x="9232900" y="2940685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Text 32"/>
          <p:cNvSpPr/>
          <p:nvPr/>
        </p:nvSpPr>
        <p:spPr>
          <a:xfrm>
            <a:off x="9199880" y="316293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2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4" name="Text 32"/>
          <p:cNvSpPr/>
          <p:nvPr/>
        </p:nvSpPr>
        <p:spPr>
          <a:xfrm>
            <a:off x="9572625" y="3171825"/>
            <a:ext cx="245745" cy="86995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v</a:t>
            </a:r>
            <a:r>
              <a:rPr lang="en-US" sz="1000" baseline="-25000" dirty="0">
                <a:solidFill>
                  <a:srgbClr val="1F293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3</a:t>
            </a:r>
            <a:endParaRPr lang="en-US" sz="1000" baseline="-25000" dirty="0">
              <a:solidFill>
                <a:srgbClr val="1F293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55" name="Shape 33"/>
          <p:cNvSpPr/>
          <p:nvPr/>
        </p:nvSpPr>
        <p:spPr>
          <a:xfrm>
            <a:off x="10313670" y="2935605"/>
            <a:ext cx="155575" cy="146050"/>
          </a:xfrm>
          <a:prstGeom prst="ellipse">
            <a:avLst/>
          </a:prstGeom>
          <a:solidFill>
            <a:srgbClr val="CDEFD3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hape 33"/>
          <p:cNvSpPr/>
          <p:nvPr/>
        </p:nvSpPr>
        <p:spPr>
          <a:xfrm>
            <a:off x="9605010" y="2935605"/>
            <a:ext cx="155575" cy="146050"/>
          </a:xfrm>
          <a:prstGeom prst="ellipse">
            <a:avLst/>
          </a:prstGeom>
          <a:solidFill>
            <a:srgbClr val="FFE48A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7" name="Shape 33"/>
          <p:cNvSpPr/>
          <p:nvPr/>
        </p:nvSpPr>
        <p:spPr>
          <a:xfrm>
            <a:off x="9970770" y="2940685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8" name="Shape 33"/>
          <p:cNvSpPr/>
          <p:nvPr/>
        </p:nvSpPr>
        <p:spPr>
          <a:xfrm>
            <a:off x="10583545" y="2940050"/>
            <a:ext cx="155575" cy="146050"/>
          </a:xfrm>
          <a:prstGeom prst="ellipse">
            <a:avLst/>
          </a:prstGeom>
          <a:solidFill>
            <a:srgbClr val="F7A3B4"/>
          </a:solidFill>
          <a:ln w="12700">
            <a:solidFill>
              <a:srgbClr val="1F2937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9" name="圆角矩形 58"/>
          <p:cNvSpPr/>
          <p:nvPr/>
        </p:nvSpPr>
        <p:spPr>
          <a:xfrm>
            <a:off x="11285855" y="1155065"/>
            <a:ext cx="3238500" cy="2987040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8" name="334E55B0-647D-440b-865C-3EC943EB4CBC-3" descr="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8325" y="1273175"/>
            <a:ext cx="1580515" cy="515620"/>
          </a:xfrm>
          <a:prstGeom prst="rect">
            <a:avLst/>
          </a:prstGeom>
        </p:spPr>
      </p:pic>
      <p:sp>
        <p:nvSpPr>
          <p:cNvPr id="822" name="Shape 64"/>
          <p:cNvSpPr/>
          <p:nvPr/>
        </p:nvSpPr>
        <p:spPr>
          <a:xfrm>
            <a:off x="11529695" y="3148965"/>
            <a:ext cx="3007360" cy="254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23" name="Shape 65"/>
          <p:cNvSpPr/>
          <p:nvPr/>
        </p:nvSpPr>
        <p:spPr>
          <a:xfrm>
            <a:off x="11342370" y="2971800"/>
            <a:ext cx="393700" cy="393700"/>
          </a:xfrm>
          <a:prstGeom prst="ellipse">
            <a:avLst/>
          </a:prstGeom>
          <a:solidFill>
            <a:srgbClr val="FFF3C4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24" name="Text 66"/>
          <p:cNvSpPr/>
          <p:nvPr/>
        </p:nvSpPr>
        <p:spPr>
          <a:xfrm>
            <a:off x="11390630" y="2981960"/>
            <a:ext cx="368300" cy="383540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82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α₁</a:t>
            </a:r>
            <a:endParaRPr lang="en-US" sz="1400" dirty="0">
              <a:solidFill>
                <a:srgbClr val="11182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825" name="Shape 67"/>
          <p:cNvSpPr/>
          <p:nvPr/>
        </p:nvSpPr>
        <p:spPr>
          <a:xfrm>
            <a:off x="11913235" y="2888615"/>
            <a:ext cx="532130" cy="564515"/>
          </a:xfrm>
          <a:prstGeom prst="ellipse">
            <a:avLst/>
          </a:prstGeom>
          <a:solidFill>
            <a:srgbClr val="FED7AA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26" name="Text 68"/>
          <p:cNvSpPr/>
          <p:nvPr/>
        </p:nvSpPr>
        <p:spPr>
          <a:xfrm>
            <a:off x="11965940" y="3018790"/>
            <a:ext cx="637540" cy="241935"/>
          </a:xfrm>
          <a:prstGeom prst="rect">
            <a:avLst/>
          </a:prstGeom>
          <a:noFill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α₂</a:t>
            </a:r>
            <a:endParaRPr lang="en-US" sz="2000" dirty="0">
              <a:solidFill>
                <a:srgbClr val="11182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827" name="Shape 69"/>
          <p:cNvSpPr/>
          <p:nvPr/>
        </p:nvSpPr>
        <p:spPr>
          <a:xfrm>
            <a:off x="12567920" y="2759710"/>
            <a:ext cx="652145" cy="732790"/>
          </a:xfrm>
          <a:prstGeom prst="ellipse">
            <a:avLst/>
          </a:prstGeom>
          <a:solidFill>
            <a:srgbClr val="FDBA74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28" name="Text 70"/>
          <p:cNvSpPr/>
          <p:nvPr/>
        </p:nvSpPr>
        <p:spPr>
          <a:xfrm>
            <a:off x="12781915" y="3018790"/>
            <a:ext cx="283845" cy="27051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111827"/>
                </a:solidFill>
                <a:latin typeface="Chalkboard" panose="03050602040202020205" charset="0"/>
                <a:ea typeface="Arial" panose="020B0604020202090204" pitchFamily="34" charset="-122"/>
                <a:cs typeface="Chalkboard" panose="03050602040202020205" charset="0"/>
              </a:rPr>
              <a:t>αᵢ</a:t>
            </a:r>
            <a:endParaRPr lang="en-US" sz="2800" dirty="0">
              <a:solidFill>
                <a:srgbClr val="111827"/>
              </a:solidFill>
              <a:latin typeface="Chalkboard" panose="03050602040202020205" charset="0"/>
              <a:ea typeface="Arial" panose="020B0604020202090204" pitchFamily="34" charset="-122"/>
              <a:cs typeface="Chalkboard" panose="03050602040202020205" charset="0"/>
            </a:endParaRPr>
          </a:p>
        </p:txBody>
      </p:sp>
      <p:sp>
        <p:nvSpPr>
          <p:cNvPr id="830" name="Shape 72"/>
          <p:cNvSpPr/>
          <p:nvPr/>
        </p:nvSpPr>
        <p:spPr>
          <a:xfrm>
            <a:off x="13368020" y="2602230"/>
            <a:ext cx="934085" cy="100711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E3A008"/>
            </a:solidFill>
            <a:prstDash val="solid"/>
          </a:ln>
        </p:spPr>
      </p:sp>
      <p:sp>
        <p:nvSpPr>
          <p:cNvPr id="831" name="Text 73"/>
          <p:cNvSpPr/>
          <p:nvPr/>
        </p:nvSpPr>
        <p:spPr>
          <a:xfrm>
            <a:off x="13505180" y="2981960"/>
            <a:ext cx="685800" cy="31940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4000" i="1" dirty="0">
                <a:solidFill>
                  <a:srgbClr val="11182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α</a:t>
            </a:r>
            <a:r>
              <a:rPr lang="en-US" sz="4000" i="1" baseline="-25000" dirty="0">
                <a:solidFill>
                  <a:srgbClr val="111827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k</a:t>
            </a:r>
            <a:endParaRPr lang="en-US" sz="4000" i="1" baseline="-25000" dirty="0">
              <a:solidFill>
                <a:srgbClr val="111827"/>
              </a:solidFill>
              <a:latin typeface="Arial" panose="020B0604020202090204" pitchFamily="34" charset="0"/>
              <a:ea typeface="Arial" panose="020B0604020202090204" pitchFamily="34" charset="-122"/>
              <a:cs typeface="Arial" panose="020B0604020202090204" pitchFamily="34" charset="-120"/>
            </a:endParaRPr>
          </a:p>
        </p:txBody>
      </p:sp>
      <p:sp>
        <p:nvSpPr>
          <p:cNvPr id="832" name="Text 78"/>
          <p:cNvSpPr/>
          <p:nvPr/>
        </p:nvSpPr>
        <p:spPr>
          <a:xfrm>
            <a:off x="10657205" y="1999615"/>
            <a:ext cx="4561840" cy="5156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FontTx/>
              <a:buNone/>
            </a:pPr>
            <a: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Weights increase with dimension</a:t>
            </a:r>
            <a:b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</a:br>
            <a:r>
              <a:rPr lang="en-US" sz="1600" dirty="0">
                <a:solidFill>
                  <a:srgbClr val="1C2C4A"/>
                </a:solidFill>
                <a:latin typeface="Comic Sans MS" panose="030F0902030302020204" charset="0"/>
                <a:ea typeface="Arial" panose="020B0604020202090204" pitchFamily="34" charset="-122"/>
                <a:cs typeface="Comic Sans MS" panose="030F0902030302020204" charset="0"/>
              </a:rPr>
              <a:t>: α₁ &lt; α₂ &lt; ··· &lt; αᵢ &lt; ··· &lt; αk</a:t>
            </a:r>
            <a:endParaRPr lang="en-US" sz="1600" dirty="0">
              <a:solidFill>
                <a:srgbClr val="1C2C4A"/>
              </a:solidFill>
              <a:latin typeface="Comic Sans MS" panose="030F0902030302020204" charset="0"/>
              <a:ea typeface="Arial" panose="020B0604020202090204" pitchFamily="34" charset="-122"/>
              <a:cs typeface="Comic Sans MS" panose="030F0902030302020204" charset="0"/>
            </a:endParaRPr>
          </a:p>
        </p:txBody>
      </p:sp>
      <p:sp>
        <p:nvSpPr>
          <p:cNvPr id="60" name="圆角矩形 59"/>
          <p:cNvSpPr/>
          <p:nvPr/>
        </p:nvSpPr>
        <p:spPr>
          <a:xfrm>
            <a:off x="11269345" y="4451985"/>
            <a:ext cx="3239135" cy="1976120"/>
          </a:xfrm>
          <a:prstGeom prst="roundRect">
            <a:avLst>
              <a:gd name="adj" fmla="val 9755"/>
            </a:avLst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4" name="Text 237"/>
          <p:cNvSpPr/>
          <p:nvPr/>
        </p:nvSpPr>
        <p:spPr>
          <a:xfrm>
            <a:off x="2464435" y="7581900"/>
            <a:ext cx="3158490" cy="210185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algn="ctr">
              <a:buClrTx/>
              <a:buSzTx/>
              <a:buNone/>
            </a:pPr>
            <a:r>
              <a:rPr lang="en-US" sz="2000" dirty="0">
                <a:solidFill>
                  <a:srgbClr val="1C2C4A"/>
                </a:solidFill>
                <a:latin typeface="Chalkboard SE Regular" panose="03050602040202020205" charset="0"/>
                <a:ea typeface="Arial" panose="020B0604020202090204" pitchFamily="34" charset="-122"/>
                <a:cs typeface="Chalkboard SE Regular" panose="03050602040202020205" charset="0"/>
              </a:rPr>
              <a:t>Joint Optimization:   </a:t>
            </a:r>
            <a:endParaRPr lang="en-US" sz="2000" dirty="0">
              <a:solidFill>
                <a:srgbClr val="1C2C4A"/>
              </a:solidFill>
              <a:latin typeface="Chalkboard SE Regular" panose="03050602040202020205" charset="0"/>
              <a:ea typeface="Arial" panose="020B0604020202090204" pitchFamily="34" charset="-122"/>
              <a:cs typeface="Chalkboard SE Regular" panose="03050602040202020205" charset="0"/>
            </a:endParaRPr>
          </a:p>
        </p:txBody>
      </p:sp>
      <p:cxnSp>
        <p:nvCxnSpPr>
          <p:cNvPr id="62" name="肘形连接符 61"/>
          <p:cNvCxnSpPr/>
          <p:nvPr/>
        </p:nvCxnSpPr>
        <p:spPr>
          <a:xfrm rot="5400000" flipV="1">
            <a:off x="12867005" y="6577330"/>
            <a:ext cx="30162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0cnVlfSIsCgkiTGF0ZXgiIDogIlhGc2dJRnhoYkhCb1lWOXJJRnhqWkc5MElGeHRZWFJvWTJGc2UweDlYM3RJVUVWTmZWNXJYRjA9IiwKCSJMYXRleEltZ0Jhc2U2NCIgOiAiaVZCT1J3MEtHZ29BQUFBTlNVaEVVZ0FBQWJVQUFBQmdCQU1BQUFCb0FQSEdBQUFBTUZCTVZFWC8vLzhBQUFBQUFBQUFBQUFBQUFBQUFBQUFBQUFBQUFBQUFBQUFBQUFBQUFBQUFBQUFBQUFBQUFBQUFBQUFBQUF2M2FCN0FBQUFEM1JTVGxNQUVIYXIzZTltVkxzaXpabUpNa1JscVhZUkFBQUFDWEJJV1hNQUFBN0VBQUFPeEFHVkt3NGJBQUFNbWtsRVFWUjRBZDFiWFd4alJ4VyszazAyeVdidFpJc3FtdktRU09VQnBLSUVDWkJBQWh0MXcwTlVjRmgyQmFpVUcvcFVWVnFjRndwdkRvSUtBUkwyU2xVRkZVdk1qeEFLU0xaQXFpb2VjRjVRUlVIWVhVSGJGWWdZOFZEeDVIVFhhVU4ydDRmdnpQL2M2MWh4MXI2dGR4NTg1ODZjbVRObjVzejV6c3c5RG9JRTA5UmpmLzdldVdhQ0RCTmt0VWxJZDZsczl5MUR0Z1RuTWxsVzgzU1FMTU1FdWMzVHJRUzVKY3VxVFc4bHl6QkJiZzNhVFpCYnNxeXFWRW1XWVlMY2lMWVQ1SllvcXd4UksxR0dDVEk3UXpTYklMdEVXVTFTSjFGK1NUS2JvWnRKc2t1VTF3NjltU2kvSkprdDB1dEpza3VVVjRseXpDL3pvWU50ZnQ1VmlhZ0dlZExWemxOM2c4dDg5ZHZoNTFwNmZkSkU2OGd2bmcrbWFFRVhqdW96ODJFK2plN3I0WjhROERaNVl6Wm9qTHp2TlpGbjBZZzJsSEFuYVM4SVV0V0ZZSUxreHROQ2o5NXpxaVJGTTRaL25HNEV3ZE00NVp5MDhvNmVXR0xFaTBvMGM5YmVwRGVDZE5nS2d1bFJ2emE1bnc0dS9ldVBRajYxT0FYNlg5QitGQytwMG1kVTBXZyswcUV3K0ZVV3JpeEZ5TkxxcVk3S2o2WlFhdFJ0M2x4Qk1NNnl0V1JaU0IvTWZsTm1SL3BYbThKVFZyWXBvdnhkY1JYVVZwcVlZdG1hWXBsWXpJY3ZqZlNLaWNGUGhYUmRTcEdIUkRJSDY0ajBpQlIwaEVVY00rZ01ZeUkyWGhDTTBmN1VOMmowajNBTjZUcGlkU0RiSitVaXpmTlN2bXZrWVJ0bVE5OGVoR2FoaW5RYlF0YU5tektpYW5tYTRJTElSUHNhMGVyaTRuVkdxK2lJaWhZVWlWYlYyRitZMVVMa2hkTjhXcmhnZjJ2cDBwRjd3amd1UkFjTk5PQ3kwK0xNazIxRnEwZmxIY0FkdjRoRUladi9jYkgvd2xFUkpUWk9iTGY0WlIwdVhwbHdocTFsUnNGQ3JPVTd2NkJOd2lUNkE1WEtDTmx3anpmSkZuTTBVOWFhRWl1QVdEQkdjTWkxazdQbHc4K2xIbGplZStncmcrSERQdVIyckN2MVhmRU1yMXUrRmFzZVhzRkVpUWhmMmo4NkVBNjQ4K2tTanFDK0s2YkNnMkF5eWVQQVJFam55OEU5Ukd1REVBN09KQzU5b3FtdTF2SnBlaWlzUlN1SDk0NWJtODl6Nzg4T3htZllwRzZmN08vWHR2SHhpejhZbmlpeG5ndTBMN3lIbEx3SEFNQXV4V2o2S0doME01Tjl0QjhrS1pCSHlWSlVqdXhPNVU3NmgxZXllaWZ0QjltMmJsUVJPMFVzWUdQN0R2ckhJVURQMVIzME1waW11QW10cUo1ZzRSWTRlMGMybXMza3V1cnc3WDVnZTVUVkdERGxyRTNwTG1idTZLUEU0c2U5eWFNM0h5UWxnZ2YwV1NzSVFySGh6aWh2OEhoQmdUQ1QrbUE2eUhFZXB5OE1oZGRLcHBKd2NzZHhaODhKVmQxUVdGWWUrcnZZRlFJT0pSOW1SZFZGN0laQTNiWVM5bmhCZ1NWNnAwUnRRU1dkM1lVNXg5NHJMZWpKN0JVVStNU0JJZFBrNG9tMTN2VUszcllYN0h4MWs4aERLUElGOTVRMUJUMkNBbUZlOTd1TkdsOUh4ZVZCdDdxRXl3cUVyeXNtdGRsOFQ5dURaWStnUUV4RFYvY1Rua0Q4UXNFd1NEU1RON2VrekJheXJRV2JWdGdlUVlHbFE5WUhoKzR1cDRCRVpWTE0ySW5ZdG94M2VNNnpOVlBRSXlnUWswSTVRMmd6ODk0R3R1WEo1eUpuTGNpMm5UWlFIZ1NlNFA3b3NwQnR3eThTYjhWdWx5VmQ2SVpmQkZQaW1NbUFaWE5PanIyQ0FxRysrc09hTjh4c0R3aVlvQXRiVzF2bkxvclBqb1c5bGEydFh5eUg1cUQ2ZC9TbzA4cHpzN2JYek1mUXlrc0xxbktLdFlmT1cxTE9mWTNMOW1hRGVkL2FiVUsyUXM2UXdpNDRMRXl4eUdERnphamNtdEQxQmR3SzVGbExSR0t0YjZpODZhV29DdVRqUnRNMGxsK0EzTnFjcXNQa0kvbHVFRzh6SWR1T0J3SHNpZnpKV1kyZVFZSC8rSDdMY0xjWmhnQWVlZmVVdWxJSHcydHl3dWIrZ3lGY3Vtd3A1NjVpcGw4NmUvYnMzR3Z2ZFRVNzlkcGpWYUpQZlozVGt3OCtEdzRWM1NoMXBZQlgvU2FlcDdHV2YvZ1JXQlI5RGRva2VsR2ZqMEY0aktCQVhwcXl4OHQvYVR1SEJGekgrcGQ1bUhKdG8xOGwrcW5URXVOczZWZXdXTko1alBGR3hDNDNDdXJNdHVnN0VmTkVZYzYyTzBaUUlDREFtUnpibGM2Qm9jNXlMTWFxZWVFTWhEVUZXZkhoUUZlN3pXQVZhcm9jVHU5dEgyZlQxeHZxaEYzM0RUbGtjOEhwR0VHQk85RzFzS01RdVpManpjQ1FPUXVBYWdockNqQ1VCZHZXYlFZeXA2WlE4VGZCV0tXa1Foa2JqdTZpSjNSb3RqWmVqeEVVV1BjN3RLTlRPWGQvZzl1YVJ3QmhUUUY4dXB5dGRKc0ZHZmZzbTYzSkQwU2F0bEhXRGJIV1pxWlFPNlBMSmFXY2tYNkNBdm5ldGFuWjZPZlY3K3BjQUZOanQxZ3h1alVoYkZtVHdrWmJTcTlaa0hKWmhPdFpxOGc0VjE4SGJVMTBVdEFaMlNWa2srWGlGVlRyeVBRVEZJaDlIdHR1UDNUQ1hWRy9LMW5odCs1aEt3cUtUZ0Zrc3hIQVhqTzRGR1hUQnh4N2IrZU1WVURMb3hiSHo1cWhFK3UyYlY5Qk5Zc1BFLzBFQlNKV0pocTNpMTQyVEorVDdrcytPZy8yVmtvRXRGblp2R2FRemZRWG5PckFDWDdMdmpmS29NV29rVENXRFpHUlAxaTNiZnQ2aktCQXFObUM3VURrU3E2V2dvR3BoLzdhMnd4Qm1uY0tzUGVzVHJyTkVBL211RkluYndLVTdTa3RmUjM3U21FNUxGTk9kQ3QrVWxWUEo0OFJGSmduK3QzV3Q1NTd5ZmFKWmJObkpuYnFtcm9PRmwram1TeUNzTFlBZTI5WFU5cG0weTJVVFRtT3lQaWJIZ3FQVlVDcitBRXRiUThCZTNSTHBrTk1TTDlCZ1JCRXBvZi9yYnVCWm54VzU3RjNqd3B2Mkh2TzFsL1VHN0ZZUTE5cFowdHZ2bzdQekFlR1FhTU1GbHFYUzQ2eW5xQy9TQXYrRVVuYmYxRGdwaElOajkrMFpDZXdEMlhER3FoaUQrdlFPbWNpUWVQQ0d3ZW0ySGFtV1dtZCszSWlwK0Q5b3BsbUFKVUVDNzNqNzdYTTB0VXZReXR5UVhCSzhZZHg3VE1vRUFPeTZXZE5acG1uTDJyT2VMbzROZStnbVNDQnNHdWFGamJhN2lJMGt6dlR1ZTVRaE5sYWdFQXhQUXRRU2REbVZCMlVYa3dGdERpTHBTNnh4a09IUmVvN0tCQXo2S1ZmZi9YYXE5UVJJc29lUFp3cTJqSEoybm1ud0Z0VU5KTWJjZHF4SW1xTTY0QnlMVUlBbFFSdFRWWXhwa2dMbWlrZHRCZ1RNRUhaRFZHSnZkaG5VR0NSRHA1ODhDbFBQRi92c0I5M05lT2dKN3hsWFh4QXMxWFJyT2pzTkRYR1dVQzV0cjJza3FCZDF5d3lJWDBjaS9ZNHNXaFkzODdzc3pqWGNlbzdLQkFUV0VHN2Q0dlFlUzJoM3RqY1krRGhWQzk0dTQ5b1c3UVFQMmkyaE16Y0V3NUd5RnJBRzkrR2N5MFNxNlNCTnk2QUE5QlpOc0YvQmVyb3c0WFVzRWVhVEhTa1pLenZNMWE2bTNLZVZIc1lUVGNkQ20vM2hQUnBoK1dNYVNSVjAxWUIzb3piQzBlbnpPNkhneEJCNXZmNXpzL2ZyK2hUTDE3OHBjcjJIUlFZaXFVWHJaOVJtdmtsY0hQU2pobWt5UGdqaFc2Smd0UlAzb2VUcU5NS2tLWFRxbHVNdkRBTitqYU9WUkswRHB4R3FPM3JQRnVxUG9JQ00xOW8yY2JCeTg4djA4cGZuUUxPRm9od3JKYnBQWG9UYVJxWU5aTStvUXZGRS9DR05uT3YxTFh5bVZyQUcvY3FKNGxWMG9FM1E5UWxVNlRiS0swYktPeEMwbTlSMWlJT0lEY3lVdXlCempsT3YvcHQwKys0cEF6TEdZc1Jpa0JjN3Vnak5LdWtBMjkrSC81YlhkaTBHZGRnK1FUOXY0VU9hR0VUclhrOWVHYmZxOUZZNTE0dlNnTEFHMit4Vy95V0VkczNkRTg4a3FqTDcrQ0RBb0VxckFveXRSMDBFeVh6VVdFMXBVSEZURGQ0RTlIQ1RDcFVFclJMdXQzaFR3VWJnd3dLQktyc0dvYnllNWg1RmZkU3JGVHhCTWlTelU1SWVQdnhyS2FSZm9vNHIwZ3J5ZkMycG1zUGYySnJOMUU3eUtCQTNCTlVETU5xVk5sandtcFNnNHJURWpSS1BDNlJCTHd4aXVGTnFpUllsRlZsajRkc0FXV0d0UnhRVUNEZ2JkdHcxRDZpS1lnSnEydlFiRUhrcDhXSnd2a2NMK0NOcjhjZzdYaUZhY2IxaVlGZkRrMURDQXJjSkh2TENDY21CbThSTE5kRDIzRU9mU2liWkJpVFNYcSsyTVpyU2lYaE5FYmRNazNyUG9jUUZBaDRNeHlnRnF2bWhUTXhZVTN0b3RNTWhXMTlob0g3SzdQc0hrdVZCTllkTWtHbU44NE1JU2pRdlUrTndWdE1XRE1hRnhWUldLMlpHZ0Z2L0NlRVNqQmVFYVhaaURhSXd0alBFSUlDUXdsRWdsVU0zbUxDbWhHNXFNanJhNDJGZ0RjY1hLQUNBcmpaYi9hMXdYVGlaZXBxM3c4dUtCRDdRcDZubUEvZ3Jlbnhpd21yYXoxVVJDQ2RQYmtINGJvZ3dpMmVVa25RTHVsMlBaNkREd3JzRFc4UXR0eDFPRjR6T0l4MmZ2UXhITnZuM29wb0M5cTFycDBNdXpBQ2I4NzhNK2RENGMxckJwWE1tWEZLZU9Pci91dFpPUzlIZ3pmVHdlQXlFWGl6cGx5dzZBVnYyM1lRYllWMVhES3A3UDA0ZFpSMVBCcTgyZDRHbG92QW0zVXRtUU5jdkVPc04rQ3RaY1lBcFpzMUx6dkNSK1kvaTlDR0xEd2F2SmtPQnBkWmRNYUZBODJ1MXpNRzdRdHJhaHRPczRtcWMvU2N5cXVMU1hRbVZSS250NGcybUY2R211RXZ2dlNCeTRKSDZnb0cvTVkxdXdLcEt4RDhsbE5naGpMM1R6UzdMSTZ6YzY4OGdMejJabEl2WjRtK0kyUTZwWlpjZkZUK3IrM1ZkRExrVEJYRDRzUldEaWMxbVpxS0tVeUFUR3ZSVWVobW1zQm9IMTlSYytJV2FhbVNtbllwMnNtdzM2dDdGMVk0NU9KUk1CcWppK2M0RnNQY09FK2lZR1hyM0xLenNkUjQ5SGlsSVBnMWJScDdGemljbzhXRUsyS3Q4dWdWSEJRdS94OUMrZE9RUStjTnNBQUFBQUJKUlU1RXJrSmdnZz09Igp9Cg=="/>
    </extobj>
    <extobj name="334E55B0-647D-440b-865C-3EC943EB4CBC-2">
      <extobjdata type="334E55B0-647D-440b-865C-3EC943EB4CBC" data="ewoJIkltZ1NldHRpbmdKc29uIiA6ICJ7XCJkcGlcIjpcIjYwMFwiLFwiZm9ybWF0XCI6XCJQTkdcIixcInRyYW5zcGFyZW50XCI6dHJ1ZSxcImF1dG9cIjp0cnVlfSIsCgkiTGF0ZXgiIDogIlhGc2dJRnhoYkhCb1lWOHhJRnhqWkc5MElGeHRZWFJvWTJGc2UweDlYM3RJVUVWTmZWNHhYRjA9IiwKCSJMYXRleEltZ0Jhc2U2NCIgOiAiaVZCT1J3MEtHZ29BQUFBTlNVaEVVZ0FBQWJJQUFBQmVCQU1BQUFDMHJJeGlBQUFBTUZCTVZFWC8vLzhBQUFBQUFBQUFBQUFBQUFBQUFBQUFBQUFBQUFBQUFBQUFBQUFBQUFBQUFBQUFBQUFBQUFBQUFBQUFBQUF2M2FCN0FBQUFEM1JTVGxNQUVIYXIzZTltVkxzaXpabUpNa1JscVhZUkFBQUFDWEJJV1hNQUFBN0VBQUFPeEFHVkt3NGJBQUFMVzBsRVFWUjRBZTFhVFd3a1J4WHV5YTdYNit6YWEwZENzRUZnUytFQUtNZ1dVa0FjWUl5d09WaWc4Y0phRVA3R3dBRWtGTWJpRUFRY3hoSnc0TUk0VXJSQ2taeFpRb1NRUVpvVmlDamlrREVIaEFnSU95c1JaUytNb3h3UUV0STR4RTUydlQrUDcxVjF2WHJWTSszTVRIcG44V2pyMEYzMTZ0V3IrcXJlVDFWMVIxRmYwLzIzK3RwZC96b2JLL3kzZjUzMXM2ZmhDZzBpc3R5VDN5clNRQ0xMRSszbEJ4TFpRK2MvdU4wWVNHUnMwSGVSOWRPdFpkUFgzVFhMWmg3N0tlWHVtdlZ6dHJQcDYrNmFaVE9QL1pReU9HdDIrVWZGeis2b3FSc1VaR01QRWRMVndVTTJYR0JnUktzZTJtQ3MyVWpGQXFNM0JnM1pkQXlNRGdZTTJmMTA4TWcvLzJUUURSYXkwU0pkQXFJYVExc1RhSU5nWjAxNmpmRU1NYktkUVVJMlREVExlRTRNSExKbXJJTTVSclk5UUdzMlVuUVhIZ1VnRTJBRGNGdHdQRlpHNDBLTXdWbDBSOStEYkJHdFdDeHdqaDhmb0RVYndkVmlES2RJMXoyd282K045eEs5SHVPaHF6NmFEY0N0WEpsb01VYjI1M0cxWkVkL3plQVFwelFneVI5MUQ0SXdUY0ZTRFF3eW1KbDJHNExyNk50WmsraW1ncU95VFJmQUZlMG9aZlBlZ1NTR1BXMzN5UW5xYlM3bUhwamYvOFJYcytpRTk0cWJyWUp5RSt2L1FjMkhyMHkwdDhIV0Z0bFE4S0dWNW9rK2tvRzBlekQrN1ZZNTBORTQ5ZldMN25DUlByTVczVWUwM0Rxa2JpbllOTzYzYWRPa3BmTnpHM1B6UzMyMU5kekdmSTRIODBRV2RsQWx1dEVHMlowaGxlaXFVZjZjUGVOSDBiMHp2UTlrSzlVMTlpNnoxNWFuaVdJazVmZ09yWEd4VjFsUlZFaDFqYjNMN0xWbFhaUVFObUlXYjJ1elYxa1JOdnB1bm5xV2tWWERZMFFYWTFud2ExT2NMZXp3czZmRXJuR2xwNWJaTjRKaHJNVlNNZUdMeUk2MmMyNGRkb3hsVDlrMWRpZ2dPN1l4ZjVxS29xSXh0Tk1wKzc1T09vVnJkTWZPVHRodkp3K0d3dXRrVThWc1pvZmV3aTl0MC84L1RyK200L09XaWJKTkR6WHE5c2U5Q3RGYm1CYzN3MW04b1l6S3FqRGpzTG5LbEVoTy9YSHZSTzBwWWRJWm1ObXVMdCs1UEN4ZWJlVEtmRms5NGwxQStvOTcrZURMbUl4L0ZNaFdwWFJITXlXaWEzNEFUWGJacDJJSGN0aVBlM3h3ZHRjNHZua1VJZXFuWEJWb3JyN2tDM0xyeWQwQjJYSlVqYUZpV1ZKLzNEc0pCUHBEclJzckR0VHRkdnF1dW85djNqSnMrdjRhUE9QNVM1WncySTk3SExiYWVmZkp3R3k5NFA3bkVxY3BJTnNjbGNDTjRhUmROMkhqMG5iTnlxbVhJUDNHaHJsWHJoRkFhUE9rUG9Ta0lZTkxiZXZkOCszSkJ0WXduZC9ZMkpoYk1oOE5TL3NMR3h0UHp4ZWxzMzlBb2tzTHo0eXJpWGdGcllJa1h2bHhickEvcFhpakNHZE5wSFBSWkRqMVZTQXJ6U3JPTkdUUmRLREYwcUtvNDc1UWJZYjF3eVRXOXEwNEw4aktNY0crWHR2MmpldEJEUXBpQm5BTFNMT2VGYm1xb1ozalJWSk9uOGwvVVI4cDA3VXhHbjMydVVDZ0xiRFRqNjIwVFcxdXZZN3VydGoxT1BzS3B2dVJ4enpiMmN1WTVSY21KaWJPL3VzOWdVNi8rOUgzQTgwM3ZzdnBhMyt0a1Bxb2YvWkZkTGpyWlNEM05OcitHMkxMb2ZaVWlaNVhuNFVPUVJaSWt3SXZ5NXFVV2pPWTVCVkhSZUFJYisvZ3pWd0Flb25vNTQ0UGI3RDZqVTE0QTBiNVVNcnAxK05UMUhRSWVaS29PS3RFcG5vUXphUHljUHJCeEtncWswVjNRanFWVkZ5TWY5SFY1dFhDUkJFbXpDL01xTDZvSGFGR0dGY2JEOGFUVncvVkZNakNjSlJxWjI0STRidVJYSWV3T3Fvb2h3cm5OUk5VQTZvUU1KQXBYNG5vdWVwTGRXVS9KdzdPYUtCUnRBRGVjZWJkOHNkT0xrS2dtRFNYdTEyemVpak9pTkFQYmRYb2ExblhSWUFxQkVTVldWOTVKc0RaVkw4RkhidCtYRTBXOWtEWHpzUU9CdW9oOHdSSkVLRUVndERkbXVVb3NlUTh1TXMvNGFkSmNERGV0TXBKa3dUVU5jZUpYWnJueENpMEprMnFtcUUzam9WaGE2b1JyMkVwOUdWQWRza0pOKy91a01FZVdzenNaL1NxU0F6c3BSNE1DVHhsUlFBeXRUS1lmNUdCNlhkK0JyVHFxNUJwdE04eUxDQWMyWWJWRUFxUWJTb1ozYTRaL216eE1Ld2NkTHdxRWdON0tTUm53ZDgwUlJHMFVTSFQ1Z2xrdXlJd0tzMWl6N0FqNWRQWFlNcDJDQmpMcXRDTk5tNnFZcmZJb0dCVFFYT2M5YlFpWWVLa0hwcWJPQ3dVRkFFMnAzUk9teWVjd2FMdkkzOEpzVUprUm8ycGlHaldWTU1mMll3cDVXcmhFbmFMckVEMHU0MGZQdk9DRVdZZVdMTDRUTVJGYlMvdzhVcXJVQW1vbmpBWitua0g4em1XVXAzbHAwM0ZGVUR4QnJRUXdaUnRFWWpWMnZMZWJjWTFNdSt1N0F3d2JQclV5MDRJZE9LY3kwZThKWlBDb2VFTU5xZkdDN21McHQyd21hV0dIeUlma210eXFRalB5S0Z2eGZaUm9WdlMyVDMwTit1MVB5U2tycEJWWTJCNC9XYkhpb0JYV0JOaG5ZY3ovc3ZPdHhQelBHbHM3OFMyU0R5QkxXVGRydzJVMFlXektIcWJEd2VqdGE5QUkyYnhJNWcvVTNhRkRNUHg2U25UZjRFZWxtRkVVQndmWkNkVjlESXNPcHhCcHp3bng2Smx3MUpOK3FkaldNU1NWK0lGOWhSdXZ3eDFYN0Y5aitUaHNTdk1OdVRkVWpmSW9GOUIrdlczcjd4RWUzNkMyUVp1MnI3d0xPdFZZZXFrSWdEbGpIQ3llYTZaVW4zUkUwMk9SOW9VTHdwbEJLL1lkVGxXeDdIS3dRNmZBZUN3OHFzaW9CdGtaVHA0OU1FZkIrQ0NBWWJidjBQRFdUNklDTk54b0J2V2NNMFFlUkVuWlhtaGpCTE9VRDFXcEk5RzBjZzNpWUhoajhTOThTZjJ4NUd6cVF0a0NDd1gwZWp0NW1kMmg4K3ZQcXJFWGxqMlllSHNIVVNiekJPbmlzR1p1MUR6dTYrNGhzK1NReklMVUVZb25kZFloUHU5ZWFJdmJodnVFdTNwQTBRWHlFUVBMbmhzMS8wY1FUb2NwVTZwNGV5K0luM2FEQ1orK0Vacm1veDgvaExQVjJ4WnA2Q01FczRNNDlnZkNudS9lRi9jSnZmODBpL2pMTCs2UUZZMGkyN2FYb2gxOGt2aFNCcCtpSnpqZ2ZnRTUyVUl1U2ZmUy9SSlQ4Y0hGR21tTHpZTUI4SVpYd1JhYmxaR0NXZGFRTnQ4NThqR1ByK2pKTHo0N0R3dC9GMFJPRnNpd3BIWnBuZTZHT1Y0NE1va2Zjd1J6UnNoNmh3YXJmOUExTTVWbXp0Zi9OSnJKNUNWMFljeng1UDI3aHhabWdSRnovc0lFK0dNT3FPcW9naWVkVytPMDY5K3V4MVVzSGxhMXEyRS9rWWN6bmlaVnJpQlVVWWZ6a0lacmFWTWtSWEZpNWtkNm5MUVhlam9kUlhDMlpRcE4wTDl4YjdaZVBqWTNUU1h3VFNremd1bVRlb2pTMlRZeWQyVWpwcE9oeHhsMG9WalI1QjN3MjJxOVRjaVUyc0RiNEZXdWNUS0NML1Fjb3hpY3B1VUpUSVl4SzUwWWI5blNiRk41SmE2YWVjaXBvMVNqdnhSYXV5ZUpHOTJsVVlaRWM2U0dpdk1pVXlXeUhEbXVpamlhOG5KYllFcXJISTZxeTh6N2FSZmVIczF1bVVtekNoamxFOTRYQkhTa3NrU0djTFpwblRRY2pwcmdTcXNSV2Vldng5bldtTlJhamljOFdvejFpOFlhdEdzbjhtK3lTUExIL2VxNnZTTERVdm9EaERPVXZRbzJHMWl1T3E3SlllemVFZG9sUkdtUFBNbWlGejFkRkpwWEVVUGI0UXphWVh3NnFlZXFTMVFoUlVoYWxjS3pEanVTdkVuVEhNdlo1VVJwcnpzYWc5NVovM2pucjRkYlFsbkxWQmxZRERQVlNuZ3p5bmo2UTNCaEROUTZNQXBJM2pYRkc5YUZvNDVUdXFzbE1iY0FiMUlONFRyVEhKeVc2QUtLOHh6U2dvNHRIZ3R0dUVNdDBIN05reDNITTR5L25FUE5uQkxSb2haMjVZQ1oxcWdTaTNNVTdQV1ZxVW1Qa2RDWGNldE11SVExbWs0RXlFWlpBNFBaNENhb2tjbFpaNjhNZHlSc2NSSGJKam95OVl6WW1lYTRvYWt6ZTNJSk1LWnY1RXduYVdITTIyZVVFWjNHWUJXOFpjK3VOVUhZaFh0UEp4bGlUQVJ6aEsyZTFnNDgrWUp6NmphVldicytJcFVXSGE1eFN5SDNLRXMyTXVPWTRVQytaMEVFdzhOWjk0OG9XNyt5RHpxQW4vTm5TRzZDR2R1SkZtOHA5VUZQSTRzdTRGTUdHRUlWV29SRGp5WTcrdHJ5TWZkWnEzdW9qNTh5WlEwN0ZlR3Y5WFNCeDR6M2VYV3Q3RGp1REl1ZmVmV0FmdUdJcWdhc0Y2emg5WDE3K1FoWXkydWU5Zlg4ZkgzZTZaUXN1SFpTUG1wN1VJRTNQWk1EV1BpeElxRms1aE4yM0czOEMwMkxTZkhnU2lYU003eFlIazRHVmZZTUVUSDIyZS9YOXMvdjhBL1NYelpJRnVhNDc4bjVQYjRKQzNOTGVDUGQyK0hEcUVicllYQno0ZmpxdE8wdEFCNXhnU1BtMi9heDdrTC9KTmgvYzMvQU9ONmNxWHdKVEppQUFBQUFFbEZUa1N1UW1DQyIKfQo=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lhGc2dYR0ZzY0doaFgya0tQUXBjWlhod0NseHNaV1owS0FwY2JHRnRZbVJoQ2x4bWNtRmplMlJmYVgxN1pGOUxmUXBjY21sbmFIUXBJRnhkIiwKCSJMYXRleEltZ0Jhc2U2NCIgOiAiaVZCT1J3MEtHZ29BQUFBTlNVaEVVZ0FBQW1JQUFBREhCQU1BQUFCSU5pS2hBQUFBTUZCTVZFWC8vLzhBQUFBQUFBQUFBQUFBQUFBQUFBQUFBQUFBQUFBQUFBQUFBQUFBQUFBQUFBQUFBQUFBQUFBQUFBQUFBQUF2M2FCN0FBQUFEM1JTVGxNQUVIYXIzZTltVkxzaXpabUpNa1JscVhZUkFBQUFDWEJJV1hNQUFBN0VBQUFPeEFHVkt3NGJBQUFZekVsRVFWUjRBZDFkVFl3a3lWWE9tcC91NmVucEh3R0xCb2xWRmJJNElDM1VJQVFhZzlocXZEc1MrT0FhV3p2MkdvU3pmVURpMW9PTWtCQ0hLZ3NoZ1F5cXRyU1cwVXFtMnQ1ZEpBWlFEVCtuQlNsTHNuendBcW9XNEFPK1ZFazJzc0dTYTd6VFBUdk1laDE4THpQako3TXlJeUlqTTd1ckpnK2RrZkh6NHNYTEZ5Kys5eUlxMi9OVysxcno5K29id0tYVHUvVVJQeS9LRTlhdnIrc3I3TzM2aUo4VDVXdnNTWjA5ajlpNFR2TG5RWHZDanVyczlrZll1M1dTUHdmYW0rekpicDNkTm54MnYwNzZaMDg3WUw5U2I2ZWZZdy9yN2VDTXFXK3kwMFBuTHAvOTFuTTMzekJOdWkzMmRDbFptNzNuTExCTlJwZFJnK2JzKzg1ZExGL0RkY2JjOGRMbFVHS1BUS05DSC91bU9xdFRQaThEbDdhZis3TFAyUDhaUnp0aDd4anJyRXFGRGNadWxPSVZhbmJiU09BS1krNjIwa2o5YkNzOHcwN0tkUWlKbVVVT2dGSHplbHh1RUVWYUQwclkvYkNmcHBXTm1yTEhSYmhhNHJyWHJNYXJHMERQYXNLdHNhZkZWWnFib1lGT1hDZ0wyS21oUmxnOFlEK3dxYmIwZFdCZjlrb3kyYldUK1pDZDdwYnNhU21hWDJWc1ZvNlJCbU5HT0VZOVlGcjJ5L1cwSEszYmRncWlZUmJnMUF6SHFQM0FUckthcnBhaENHRHN3eVg1Z0o5a2htUFV4ek5XSzBSSmJtcHZqa201WDdLVFN6WndqUHJBdER3cTJkY1NORytYRDc3YXdURWFhL2NwbUphWWxIWTJTUE55N2VBWUVaZ3p0dktySlNibFdDTU1xeUpMT0FaYThDM043cFJWbitkWHFXY0hQclVNV3NJeDBJQkdyenlJOWN0YkZzQXg2NzIxb0t6VHIzMTFaMUVJbjlJT0dHaVlBUnl6anVBQ1greHJTSzFBa2YweWx6OFl3TEVIK2FYSmtnc1Z2S0VreGJOKzZwUXlZNSs2OWVSNXp3TWM2MXZ6N2JQVkR2ZGpoOGZLSTh3VVNPTW4yV21YZmRxRG5yWXlLMlJsdGxjY1gyQzFkemRqYmZidW9mZk5rMTNBc2VNczRXVG1XWVZyTTFzdVIrYTBpSHFrV0w3T1RraFFnNk9Bc1ZTUjVoRkxUV25FckNGZmU5SEEzWXh0KzVHUGVPbFJ0MGcwR2xERXRCbGMrNmhMZEFBelpvMmswdDNNWTM5MG14VWpBbzNjVGROYW5lZUxCWEJCYWxRUWRyd3oxQzBBeDBCa3VOTEhDVXB3UHhXUlc2eCtEMUxpMUQxaXNmbWVybnk1eXpCRDdGZTU1RkNrTHduWjlaTmwyaWZNWW1kTG9DVjhKb1hNMmNzRHp1ZVIyMmJCOWJicnZ0cWNpVkIwblNBazZ2cTZFZWdheDZTUlZCVDE2NDlOZGgyeitLNk9xMlV1ZzN2amFsSjhHYkdmcUhETTRnZ0hkUEpvbWFXaTR3M2EwZGVWNTVmQm9SWW5Ba1l5NlhtWXJTYVNNUDNXb1k1OERzNm5aQ0RXdTZMOXc5Y1JSNXNTVXh2aTJEY1FneTFZVlF3TCtHMjErWjhoZ1FPSktMRDJLU3F6YlNFTjkyNHpPRG5UTEx4czE4aExWOW9pT0lvUEZMWS9mNmc4WkNjN0sydjZzU21pYUVmMjZMSnpBZmhGZ0FkVSt0bTE4bkxkeldjZXhiUEtIenFIZW1ENHhYbkRIWWt6TEJtSEVYUmRvaTE3cUt2YXhObkRnMTRKQ3dpTm1SWGpFT3VwZXhpeldGY1YxKzQ2MjVPbWNob2RjaS9JRjNaU25oUnNzaHpWQVRhTGpwVXpEcjBTV2pJcVBueDBiSElNZUU5TGRWZFJhRUhHRHVTYUFZaFNlTUVkbVVGYlFZYk9wanFNa1ZDVWdqMjJKYUlBSEN1OHk0M20vWUk5TGtWMUdDUFhpSHVRQThlK2ZlZExOa09iU29IYlZGK2FPcGhhZTQ3TWRPUXFDMDA5QXBWdmtHRzZ6dTZ4WDdNZ3FmcFlGdFdYcHNxZ01KQVNyRVBIV3ZGRE02SXlPdmE4UnZlR043SlpCUkVzWDBuUGtoVUdVa0ppRTJtNmV5R1ZCcTI2VjdBRUJEYXhMN2huSlgra0lqZzV5d1I1T3E1clBFejNMT1kxQ0NIS09zVitEdmJvYlBBNEx0RGNzTDQ2ZDYwaFczY1J3SVh6aTU3S3NLc2Z3ckdMRk12dEhucWViL1c3MDY0emRxNWJLanI2TU5uR1g1SG10ZDhSSTRiSFF5YnBNbGJkTmVnWlVQRitYaU1sdnlOWERpVjMyWk1ZdFNzYzgyQzY5NlB4SFVUeHhQbHRIUEZCakJHaEh5aWE4V3E3TDlORzJ2VlZtRXZjWHJnVDJNQWJZU080aUtIY08yUFBhMEpxbHhrWk5PT0ZXYjJDMFl0SkdSZzVpcU9JODBjQmhhOGJwRm12dE9nc3RRaG02OFMyb3dTOWRmV1dxMndnY1h0eHhvYVJaTlpZYTBvNmRvMXJWaWNSajgybGkwMnNGUVJrdmp1QTliejE2RmRzblVjNGI0NzFZeHE3VzRBTjBXek5sVlZVQUR2b3ZFNGJTTmRYVExHZXV6bmt2M2I2MTdPY0lwN2RZeC95TnI1eU1nUFFaN04xdnhYbEE1ck9lQTNkSGZWV0Q1Q1J6WWJ4eWJ4ZVJkazRzMFJrYm96WVNlUXFYV2VuUHQ5WnZ5cERzNkptVm9MUTh5eXJZSm56Z0FQeTQ0ay9qaWpwcnA3N3JUZjlsejhaVnZuTzZJWGp1TzZRV2NiSzBIbExUMy81U2dGZ05hWUVDK21SQTg4VEZoczBVOXZ1Q2tMWUhTM2tSenpHVWxzU3N2RnRJNFVEdHplUzZPeXNINXBhbWREMlduR09FSS9GWXZLN2VlWlJJUWdkZnFBOHJrUnlyZ1dSRkYzWUx6eU9pNkhoSjRmY2RCMnNJT2dIejdvTjhZN0x0R2tTTHQzU21FY2hTTHl2d3JzRG92RTVKUUw5dk1DUWludCtQWG9KRjIzOCsySGlRTkE1aWFCZ3R5UDlFUUtZZmc2eTdBbFA2QWNvNUpBYnI1MFZkSk44L2JRRFhMT1pYVW5SdEFtU0RQYVRtWmxQY0N4dE5nUXkyNTVYSnRPN2dJVEtMU3g0a3ZzcHdNVUZLMG5nWUo0NHVKR2tzYlJQNUZhT2RkeDFEZVZaYmE5Z1ZnWldYOHhDNkhiVkhFdlNvVmJXcUhsZVcyL25lTFhFdmRGOU1qQjVWMUVEd252SGliWkwvMENPK0YwZGwwT1g5Zi9DSDcyc0pTbzZOSFl2YWk1Tnd2aVM0WGZXR1BTRGQrQ0FrTTlWZWhTNjBGcDJDbUhWeDZIUmpOYlh0U3RsUkVIMUFpRS95VzZHdWJCQTFPKzdORHkvTnBoMGh1VjlvSWNmSlZtSHhQb2xTWnh4YzBCSUEwTHR1ZmhKMXFPQXhJNnNLeTlGUmJncEJxaUpHalllb3VOb3VpcDRhYnp2MXVrTFVVRFhrWnltMlkvK292L3JmM3FzcWVBMXZ2Qjd6OTE4bmVJU2YvREc2YS8rVzA3VnB2TERvdXdxc0hSOFR5MjdRcW5ja1JJSVdCOHdkb3V4OTVjaW1OZjQyNHk5NUxPVFZsZ2UzSG54M3IzWGIva2tuUXVuTDMyUTBqUGE0Y2Yxbm9ldlVkRDFnV3hTUTIwSWx0b1FBTmpOYmx4QkxvVEVZeVByUHZ2SW9mZEQ5Y0NOUDJmc3ExN2p0NkxQSm5nQnhrUlhLTEVvaVIwYUxyRWUrOUx2L3dXazlySE04YzNOY01zM2VBV1pkRzB6TytKSTZjWWdZdkZWOTRNeitaMENJLzBzbFlZNzk1aDFQOWNONWZRbnlOb09rNmV2SFhyci8vS1B5SDF2ay8weVZUM0lXWk42MnFBMXRhUVhzaGNtNnZnRDRuRkk4WUE5RGxXNTRjZDQ0K3FONmpwc3g5c1Y4R1B2aGxRYkhjYllGOE1rcWRZSERxTytYZ0U3ZytnQXhCYk9kNFVNcGJpQUpFM3hyNmxRZzFUYktoN2JQR2dPS0IxTHFCZWYyWmdlVmRGQlNBT0Npb21QK0M3WEJjaHBQeXdFaXY0bzd3bTVwNmZIMFJQR25SVk5nTVJNS3lHQ2lpNzdTWndKL1YxSUxCQ1RFWUFuZkxlVHNiYnBzOS9OdS81bm9WMVBRS2lwZ0FZQng4NGI3Q1RzajFxUm4wdkdqUzZrczJDRTREaXFsZlVYYjk4QWNyTmFXZWJ4TjRhcGNSUTN3WHR1VWJJN283OTVGeVp2N3RWS05ZSVc4YU5HOHBleVNFV1phL0hzcEVZVXl0bm5yVHVaZ1M1SXpMUTFRYjVmcktpY1ZuVjNMckdKZEcvUjMyMTBzS1YvVGJTRTUxMzlGSDl3YlBiaUxDaE9uQ1NSSDFMdUphbGlKREVKcFlhWnNnR25Kb25oVTZUMStYNlFHTmxSakY4YUJ6OTgrZGNNSVpPZno1TVh3N21aNU5XTHRaWnk1YXlieHNMcktQdjNrSmcwNjdCK0dkTVNFdVB6TnRtTDh0UldjYm1TWDBVU2d5RVdoMm9YZ3pDK2RObjRKcTM3SHltVEpDSk9UWUU0NktXc0FZbUpLeUV4bXFKS1dWd3BzSkFZNmxUSHZXQXVTdlNpWlFWajJoY2xrOUJ1MHBIYStESi9PNFBYekx4RGdlVU1uMGk5NllTZFRxVlNoWFpNZWV4SzR5b0pXMGlNWXZIT3A3RmxUOW1wZVNpeHhKaThkbWhnQmkzZUFvYnRCays3M0RFQWFaendpamdOTE1wd2lmejcvQm4zaEk1NUUrbVF5RHFRczJsV0JxY1FtV3hSYlFvU3c5UUE3OHFyeGFCbU9OKyt5M3ZDaVBzODdYSUhQSkkyRVIwZXgwVHdKazY4cXdsVGxaUVlHT0Zyck93WEVsTU1uOHlYcVUzMlJVanNyc3lvTkJWSjdDREJCZkx1ZXB0eWtCSVJ1SFU5Vk4vSFZMRk42UFpHOEhHVmFGSmlhTGc0dVFZSlh0WEdQQjJjN0tKU256OTYzZzRFV1B4NklBbW9xV25JVkRkZXRxS1NPZG1Yb1h5Uk50L09VR21tMHdlcXFqU1Z0dzhRK0RocDI1TVN3MGdYZzRjRGs4UTJvWU85eEh3R0hZZExKekZDZkdNNXppbUJnYzU5bVdIeDdReFplVEhWeHNEL21GOGpkWTNwcXRwSERaTVNnN0ZZTkVjZ0lGL21ZbWZraDg5SXF4UXpneWVISzE5aWp6M3k4WTVsNTFQSWIwdS9YeU1yVzZRbVNYYTUzNGlXUXlVNkZ4SktTZ3pJZDFGaUE0UEVOZ2xaUW5zVisxaTF4QjZTNFpmTFA4NjRRMkwwaThPcXJrN3U2Z1lQSUdtb2toS0RBVjE4Y1NhSkJRVDN5U001cklyL0pCMUk1NkhYVkpmLzhNMlA2UmVIVlYyZFhJbDVJM1dPb2o4TGlXbW9FY09iRVpMeEUzYW1xcEVRblNtdC9QaWp6SHFhSzE5Tkd1UnlQVTV5SlVhYnNRbHdsWlJZNXF6c3BKcWtlQXNpdnhWOTdxVktLbnFjazhSNlNhY0NFbnNyT1ZuS2RkWk9rbGVJVFIvNnlYL2RsSlJZcHVVUHRCTGovekoxcXEybHNGQTRDWWw5bjBDK3VqQTBHZlAzakpTMjhzSmozMDNIeDNxcW02L1NiZmg5akt5dlpDVWx0cE9GTG9KYytST2RJTlpaQ0ZzQ1NxV0Q4c2xRWW1CaVR5SFZaSW1sVXlsUmtnMGZ0WEt1bGxJUHlXRnkwc3ZDS3llN1dLWlZnNUNVR0JvdURudWlreGpjazdzaGZkQlZGelBaWitsVWp6Z0dFMGNLcFdZaTZKdno3UXhhamZLdXZrSU1TYnp2N0VrK0FiQWFLRDVBMnZMM1ZPakxhWUxaUmRlSkZ3YVlNZUhWQUc4em5sdnBIVXc5b2xsNVE2RzZvNnBjN3JjejdPTmplU2RUMTBrZjhNOG9QaXo3VHVwWWtMUVdVVFdkeEtCaWZDQWptWlRrcTBnZGtNVHc1NzVDYkVkNXRQNTJodEkrblNTWFlsZG0vZ2RQRDJrK1FrWUsxa3hLek04YWRWdWpZNEdraFRFOWtIMVdtQUxoZDhqUXBDUTI1bDFZZnp1RE44aTZkeEtvYXpTTDYrQkRKcmdnQWRrNUpDYWhjellNUlgwWkxvNHB4VGVvbU5EWHBrYXd5VllGbjlEL08vaFZlV0xCMmxIUW4vVzNNM1Q5NG8zc2lmSXQ3dmhjakV5ejJDR2hHcENZdFBVb2tRK2kvVUcreEFKbHhZS2Y5RmkwcVRJeG9aVUg3MlpQRW0yTWxMZHUvKzBNU1dBaEJmb3lpSHlGcndMdEtJOFczVVBlSkRGSHA0a0FCSy9TVTlXUVo0WjNkQ1BYQkRoZ3FpbElWQ3oxRU5CZ1lHZ2VTQ3BmUTEvaGZFRldnVzluU0FLTHFhNjBMK0tYMld0Y3I2ZksrNExFWkNnUWIrN3VJaTFVejlBOHFoZFF6RVZjZnNJVWlPelNpVTRZQ1ZEL3pld0Y5cThSMlBnRkVDL3c3UXdkSzUrVDg3emhqNk9hRXo0OHFBWlhPNXFWd2hRQlVrbWJKcWtQbGVveUZ5blFVVVVaUktOSVZLbmlZUkJxL2pOeXptK05QZ0Vzc3hlcFY1RnZaK2k0Z1Ezbjg0VkhxYjh1RklLa05JNWIwNnprUzJkUHFycEtleWZQUUtWRU5EVkVoVlNhUmRMUWZFeElUUHBZL3pjNmVOOERCbWg1bWNiNFNzdjYyeG5hWGpIVHgyR0ZSamM2Uy9HL0VGTjhxb0ppT2c4UG8rYVEyTnVkZnBnR1Qxa3FSc0hDeGNBc1doRHEyNDJvaEgvaHhtZTJWNm80SmJ1UkVlbkZwbmw3OEdSR2JnM1c3NWh4SkZRajU5UUpQbDJDejVRZlU5dDJPS3Avd0l1Q0d6T21uQi8yS1gzeW1iK25CNUxZbGZCZjg1QlZpdDhpRmNnTEhrU20vek5QNlJRa25sbFBVbkpMZ2QwanROejI2ZERXeG04ekVoZzJYVTkyWCtYL0RocHo5QWJ5U2w1clBudnlNNS85ZkJCaEw1SVJyajRSSFliSkdNZVN4THpnTWJheWNPTHU3ekw3ekF3Qm9lWWs3UmI1WEs4enlUaG5ndDFRSHFUVHR4ajdqVkFSNEFTY2lPTWppR0hObk1uTGhoZWd6YmorTE14aE9OWDU0aTIvVHcvRFV6eTgvdUtkMEh5RkVzTVp2SmVnSU84UHF5NzhBZERpaUM1UmRwQUd0bW1sazdXZi9kWnpOOTk0Vno0WFNaSERPZzRiYkwvWlBYbnRwK0syamJmdS9DVW5ZL3Z0REY0Lzc3N3h2amRPWC91SnZOSTRQNVNZdC8yVy85Sm5aamxWc1NSbUFxMXJkL2FUTGJadXZ2aTN5Wno0aVNqa0xiaVpEZFJNY01nWGVUVmJUUS9yTWFCcUZ6SWRTVXcrWjZRQU90UnRuSXdhcGl5NE9ManlYQzFEYTBMR21mWlZ0clArZG9aczRwNnlrQmhGdW1mdVBhRGw5bk5mOWxQTGhEMDk2ajR5WGJsdC9NaEE1NVpYV21BaE1mTFA5OHQyQ2pXNzdVWURCbDg2ZFpra3dDQ1UwT2JiR1puTkMyWmFTQ3kxSFYyd2c3ZzZKSGJEcldYZXdpT3AyWDg3UTdaeFQxbElER2YyeW10OTAxbFBDVy9yeDlja1o4M3EyeGw2T25hbE5oSWJLWjY3SGRYRldqM1QxRnBzRXVjQVFITTNMcWRPajcxbitlMk1IQUtGc20wazFrbEVXZ3FSRjVVRFozOWd4NGhMN0wrZElkZ3BrYkNSV0RzemJGYXNVL25mOG9xMTAyeU1DVUwyMzg0UVRVb2tJREdqK3d3c0Q3VXZkUUc0TzhJeEQvT1poMkZ5V0pqQ3pOcDlPeU9IUUtGc3JNd3dtL3ByYU9SWjN4NmxnS0dJempoZDBIQkRVL3R2WnpneGtHb0VmQ2lpaTZraThRaExZdFJEVVRrN0FUL0pFWTU1Wml0cS8rMk1iT2FLNVZKZzR0RFFCS3VWVWFwbUVvNXdqRTRqN1Jtb1czODd3MERIWEx6MlQyOUNZT3prbC81Wld4Y1kwckMrYTV0VFlkTVpqaEVhdkcra2YxWVZDRTVIbDdaSGNzVzFGY3lGUGJNbTV4Q2hZTTkrVHRuWloxOUUyT3lERkRmVEM0UWN5K055M0xuRHNRbzZMOGU2UytzS1hyTTdIS3RBd1YzR1hMSk50NndwZ2N6VkkxaEYyS25BaUJicHJxSzZRZG1kU01BeFZ3eU1vSWNSTUZZMHpBckp3RzQvS0VVT2NNeVZRTlBkV3lqRmNybkc0TnBWUlQ1MTY4bno0UkhBdmlNTGVGdmZjMng2anMwQVlkMjhRbng2NUxUTFBrMXdyT1hJLzhRTVlCMHAxOWtNazhyTmxyVFp1NGZlTjA5Mm9TaXU4QVNRLzM2ZFk2dUhOZ3gzNWprQ1UyL1hveSs2REk0Q2R3ak1qRHRKSmk3T281d0EyVzd4anJmOWNQdmZ1L1NvS3cvbUZDU0RhSlJMMXdWN3FiNDZBTmwrY2FyejJCMGwyTzRLeHhCYmNWTHY0dHhXMnlKdzJRbUNlc1NIaVNCdzE3VVdBTFpzcEtsYVVWaFM2N21FdDZaaVk3anREc2QyMVBPcGx0d3VRelh3WFZ4SnBDOEoyZlVkaHpGM2VWZU9mVlhaREh1R2hRMFJJQWsvdWQ1MGgyT0JpejJvY3VpT3RHQi9DOGNVb1IzanVEc2tKUnhiWnkvZHUzZnZ4VHNjWm5YeHliM1hiK1ZocnU1S2dndjZaMjNGQVpVdmc0Z1R0VFdGYjhJckVoS1J4cFVqc2RTdlh4eGYrSGswR3drcmJ0czdCQ04rRUlFVHBrcXp4aGNDeGo3eVg3dHhGbUdQdi9rZHBWeE5xbFRVL09WUEgrUnFRUjd2aU5LSWJjYTBGWnlyVXcxS0ZwMmp6S0tFalJ0QkphdDhlZk9haFpjc3lQaEJQQjVvVVhLbGJhdXo5Q3JMUHRnWU5rYS9uTXJ5Q2llVE13REpndSs2SzZPUU9BR1dIUFpBbWFVYlhWMVlwTGVpUzJXNHAxMXN5NUw4d1ZZc2ZFeXRmdUk5cUxQMDRERTNhSWtxOGNPZ3NQM01vbkl1ZVg1Qmg1aFd4TU9ZMHgySk04SWNTUE1IZkJEWHRRNHJiRnd0UHhIZ3ZkZDVEd3I2NHRBck1kWjVTbEVnVFQ1THQvMi8wbkdObWl2cFZkS1lodElzNllZb3lwckt5WU9KYXVoUkF4N0VVVnd4MEFzRXdkOFZERmxIWThNb0RTZHNZaG5FTitpVnNPaWpsTU1nWitrcjBlOTdrazJWcCtuS0d2N1E5QmZ5TEE4a29vQXhTbW9TNURBTHhiSm1PazBjOEpxS0ZGY202UmVMN0xVVlc2VVkrbkM0S0F2dmpjSEhETU5mMFhCaU5Db01jMllZbjFvTTdUaUtuelBnV09UVy83Y1dXS0ExQWdCaWFxdkVWeVBkVElNcVBkc2Q2VlpoMlR4QzVXOEkzT1ZIczNSVEFMWThVbWg1TzY5cytmT2hLVWxYUjg4eWRLd1YxNENzeDBpT2p1UG5HSTV0ZFFVb2l3c1dia05KWktGcytUTmd2NHVnL2drVDBMUVh6dWVHT0hFVnc3RzIrUTEwSktaYmZnRXRjZ2l0RWZOcXNUU2RvNWc5TkVUcHVnajRSSERzdWpsSWllQlljcEZOZDdMa3owMXBtU3c0bmNxd3F4L0NzWXNDbkNBT05QYldmV1pjU3VEK3J5eCtKUkVoYmwrQS94MFJBb3VQSUZ3V0FIaElvZ3JlbnN2Vk5PY05vT0k0cDJnbHNtSEloSnFZR1laKzdFZTFEcUoyOHF2ZHlQRCs4K1FRazlOZytvTkNkc0RNMDVuWGFCZXh3MWdRYjRRYzRzeEdDS282WTg1d2h6MjVnTGcrYWtTd2pPZW43OFZlVWJyMU1qeUg5c2Vha1ZFY241Zy9DaWdZMlJDeEg4OW5EMGVmQUoyQndaQmhPdTlaZDdlVUZZSEFDeGl5WVJTMFhXT3RLZW5ZTmJGVTB2WlFDUGFuQmtQV05FaDBLWVdVWkVwdWNpZnpNNS9XbzIrQ2RoNGh1QU1nTnhXR0g0S1BUSnpKa0FWTVNEbXpoeFhJaEZKdzNHN0JiWTk5eU52NHlzbk1hM1RaYk4xdjhTWllFejRlcGcyR0RMb29wTXpicnRvZGh1WEludWVORWI1NndscG9jSjJkK25LWmxlYXdJeEJJRmxXbzRQMnMvRlhLYS9pRk5wUzIzdlJmL21RNHZ1K01YcERLT1JUbUNhbTkvUEgzaW9XWDhnbWRaMGtsZ3dBYzI0MEdnZm1adjZXSDEyT0FhK2NwQ2R1K01WRmF0blZ6NjNXRTdzQlM1WjgvaEFsWStVa0pVT1ZYWUl4OWVXNWJaOGltR21ubXZvM2xLK2daWUxvRngxQXNNUlYxaHF6N05FekswQnR2V1VoRlYwWEZ3Wmg1UW5xcE5naWlqVk5acS9uWUxUMHRZZTczK05qaE9lWVpzbWw1YmVhOW5PKzl2SFVCSEpNV1BSQVJqdlN3dXVKSWFMcGt4WjR4cDhibFdJYnR1aXNvTkJXRkU1bVVnQ2JPRWhtcit4Q1VOY2h0QWNjZ0JKd1N5STVMSHhTSnhTMjNOTEVoZGxpQ3d4LzdkOGJZVDM4MnB2RHNCRS9QWjlDRHk5a3YwY3RTTlFVazIzTm5hQVFKMFJXaGVRRGk4RHBlSUhqcGFiSDdOTEpwb1UyNGxDem9KRHI5OC9mZkRQT3ZobDhRdlpQNERHL1VZTUIvbjVOcXY1S1BPTlRhcXB0eC92OXg2dTduak9qM2NsRm5aUXhZYlA1VzF0Y1pFQUxBbU5YYkRUWlRhdTZoWHY0WHFOZXVBZlA2dFhoaFVMVm1yTEhUREVCUVhaZUFGclBxcUMwRnBZTTRVRjhUTTlPeUlMa212a3FReFRaUmpVcTI1VDkxS2tiL2NtR3ZoTUFOVFMrekNLMFpxcTFXOGRiTisvVXh2UG1IR1FyOC83anFNK0JRTVdodUFBQUFBRWxGVGtTdVFtQ0MiCn0K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KQ1FLWEcxaGRHaGpZV3g3VEgxZmUxeHRZWFJvY20xN1RVTk9SWDE5Q2oxY2MzVnRYM3RwUFRGOVhudExmUXBjWVd4d2FHRmZhUXBjYldGMGFHTmhiSHRNZlY5N1hHMWhkR2h5Ylh0SVVFVk5mWDFlZXlocEtYMEtYR3hoWW1Wc2UyVnhPbTFqYm1WZmIySnFaV04wYVhabGZTdGNiWFZjYldGMGFHTmhiSHRNZlY5N1hHMWhkR2h5Ylh0RFJFMUVmWDBLSkNRPSIsCgkiTGF0ZXhJbWdCYXNlNjQiIDogImlWQk9SdzBLR2dvQUFBQU5TVWhFVWdBQUJPZ0FBQUR6QkFNQUFBRE9UelNSQUFBQU1GQk1WRVgvLy84QUFBQUFBQUFBQUFBQUFBQUFBQUFBQUFBQUFBQUFBQUFBQUFBQUFBQUFBQUFBQUFBQUFBQUFBQUFBQUFBdjNhQjdBQUFBRDNSU1RsTUFNbmE3M2UrclJGUWl6UkJtaVpsSTNKTmtBQUFBQ1hCSVdYTUFBQTdFQUFBT3hBR1ZLdzRiQUFBZ0FFbEVRVlI0QWUxOURXd2t5WFZlazF3dXlSMHVsN1lrU0xJdGs4cFpObUlnSVFOSWNRd2pHZHJhVmFKVGd0bFl0MVlrSVdvR3lNR0lZSVNNRlZrK1JESnBTQTRrUkRseTRidWNwWFZBUWo0NXdVcjJVSllFYUxPQWgrZEQvbTF4RTlrNVdVRThCQUxIaUNLQTY3dmw2WTYzZDVYdjFYLzNkSFhYY0dZNDNMMVhBTm5WMWE5ZVZYM3Y2L3A1MWRPZEpQZFgyRGg4OFByMUp5K2xyNmhtblJGWExsNi8rSUg3cTQzY21sT0d3SUpRUVpPdUpjLzB5U21yS2xmbnZrSGd4ZzhLY2ZqbWE2WTlhMEljZlhQSG5QR1JFUmdJQWhOQ3ZPQVV0OFJ6cys2TVk0ekFRQkFZRmVLMlU5dzhZczQ1TkRnMklBVEdoRmkwcWg4VHV6Yk9FVVpnVUFoY0VHTGU2SjRXUDJHaWZHUUVCb2ZBbkJDcldudXRmbmR3NWJCbVJzQWlBS2VKaVgvNGFOTkUrY2dJREJDQnVqalMybWZFclFHV3c2b1pBWXVBRUMrcitGVGpKMjBpUnhpQkFTSXdJc1IzbGZxOTV3ZFlES3RtQkJ3QzFrMzM1Y04xbDhveFJtQ0FDTUJOdDAzcUoxTDJsZ3dRWmxidEl6QXUxUExoNEZrL2xlT013QUFSMEc2NjExcG4zUURMWXRXTWdFUkF1ZWt3czV0bFFCaUJFMEpBdXVscWRUMnpPNkZDdVpoWE53SXB1ZWwrUlZqSHlhc2JEVzc5U1NBd1JXeWJFVCtDWnpkUG9qZ3VneEZJa21rOFRUZlNlR2VDOGRWcyt6TXNqTUJnRVRpTHlkd0NmaE9CUmV6MllFdGk3WXlBUmdCdXVnOGVvbytEajFqdmhqRTBqTUNBRWRqQ0VvSzJJckFGeTVPNkFXUE42alVDZTBLb0J6ZDVVc2VjT0NrRVZzVGhwaXlMSjNVbkJUbVhJOTEwQkFOV0ZONHZFUmtZUm1CZ0NFZzNuZFNPMkoyQkZjT0tHUUdIQU54MEwrbXpGU0hXM1FXT01RS0RRZ0NENnBMV2pYV3NpUTZxTk5iTENBQUJ1T24yTlJBOHFXTkduQXdDNk43V2RVazhxVHNaeUxrVXVPbDJEQW9Iam9BbWlZK01RUDhSV1BHV3JDMmUxUFVmWU5iWWlVQXEzQXNRWjh6bVJLY1lwekFDZlVNQTh6am5FYTZ4cDY1dndMS2lNQUw0YVlSeDAwR29vWDhZRnBibks0eEFqd2pVcmk0SThld2I5VXFpOWlZaHhQT1A5S2lUc3pNQ1pRaWNBOGxrd09OMENIVjE4dWRsV2ZnYUk5QWJBdkwxL2RjdlhqbWNsWHFhaHc4OWlIZjd2NnMzcFp5YkVXQUVHQUZHZ0JGZ0JCZ0JSb0FSWUFRWUFVYUFFV0FFR0FGR2dCRmdCQmdCUm9BUllBUVlBVWFBRVdBRUdBRkdnQkZnQkJnQlJvQVJZQVFZQVVhQUVXQUVHQUZHZ0JGZ0JCaUJMQUwyWjk3WlpENWpCQWFHd01UUDVGU2ZlMmN1Z1U4WmdUNGpzUGZlbk1JSi9xcEFEaEUrN1RNQ00vcTlzNTdhTmY0U280Y0dSL3VQd0VxK284TTNaOVZYUVB0ZkZtdGtCQWlCR2Yremk5LzNuRnBVN0trM3ZUTkNqTUJBRUZqdytJVlhxaXpMUW1aNFZqY1FzRm1wUkdCU0xEb2s4TDRvZmRiZ0Z3dzRXTzZMMkZTcTNoelJ4Zi9aUVRYOHE0ZHFRSlg2OFkyb1hWWFFITC9oZlZDSUQwbnZSQmRzMDZMTGc2cnFpamU2WWdGaDNwSTNJK1lIVlNMckhRb0NrOTJUem51UldGK3JQSmw5ay91dmJXcnROZkZpWDh0aFpjTkdBQitkNnpZTXluRTJidCt2blFPbC9Wd3VnVS92Y1FUYWluUExnV2JVYm56bUYzL3ZUOTdxRS9Nd0lOcHI4bDVvN3RieVBTbTlsc0w1VHdFQytvMTAvblNxb0ZhMU4zd2p0Y1JiTHhEb1ExSWoxSVdlTmV2WVBoVENLazREQWpWTkpqT0RDdGFwOWloZUJTdkRkbENtbHd1VC9sdG5NNG9tZUZLWHdlTStPTmxRVEZxcWJrcnRoNVRvWVB4bTU4TDlXV29Xc3RWMVpJbDdBZ0Y0WVNsRTJmVk5LWWsrUDVCMnRZeGZybFA3d2FDbWtaMUZjY3JKSUtCSHpmV1kwa1lsNnp3ZmJreW1PSmtGRVJ6aE4zZ25MQTdEZTBkcWkzb3ZFVGx2T2sraXR3YlJ1S2EvZVAzUWxjOTVaYlRzRi9LOFJJN2V5d2pnKzY0VWp1TGE4THNRdlJ3bjJwMlVQOEIvV1Z3WDNpUEQ1d1pUWW5mMVkrbStJckFpU1JmYmYzM1kvNkpPLytveElaekhwTlpZVHByZVRUQVRYTmoycjN6V2RMSUluRkdrKzI1Y3FiVm1iS2NZcDA5TGpRcFgvdGpMU1hMZzdVLzQxN3BTeXNLbkZnRzlGZVkvNDFGV1YzeDVlTGJzK3ZHdWpYbVR5cjBsK202S216bE9DckNRdy8yRndJTHE2aFlqVzlYV2oxZEdpc2VKblJHM3JXQmpNMGxTYi9Fd05TQXZqUzJRSXllUEFKNWRvK0FtVmVWVk9EdUlLZFlGOTR6Sk5EYjQ4ZUR3cnF2RlFBWjBwNTVqUTBEQWJJWE5ScFpkSDhCbzEzS2tPNE5QZjhJMWcrN09CTUhlWVFQRi9YTmNrejJkZUg5a2k4NE1nQU56WXR1VTNycWNKT1BDZjU1SkNIT05qL2NOQXRMbEc3Ky9OZVVQZlgwQ1ljNXR2VDQybnlScjNwZU9hWUszMDZkaVdNM3BRYUNwdXJyZHlCcTFseUlGNDhYV3NxdVRGVzlkUVo4Nlp0SlZRem55d0tYRG42MFdPelVTVzRwMHNjK0ZqL2ZuUVpQdmZXdjZNNnNhZzQwTTZmQVo5MlVQbktZL3dmUFNUMU4wNkNiL2haU011SGlhTUNtdmkvNnBoTC85V1paaHRCOFBta3c4VENDWnFWdTJwOFBXbkdFajFlTWU2T21HYnZKUEVKb096ekx6blpackI2cksrNUgxK1Vpa1hJbllaRU1WcVcvTnRjdzllaTY3WGsxUC9VSmk2Q2IvVllXbThEWnlTc0EvSFpmMFZoaWNGU2NVcHVvYUpWMmt0NUJBRGJheWV4Q25ublJETi9tbzRaeHpBcHlRSVhzb0JzNVlHVFo3ME5GVjFnV0RrdDdZYjJYUWFudWJZbENiN2ZlNkt1ZEVoSWR1Y215SWYvRjdQcFlTcHJkUHBNWDlLV1JQa1dDN1A5b3F0Znc3Y2ZUVTYvOUlscWxrdlIwSkpLU1p3VFlSc1pQTnluSUhJakI4azc5T1BoZ21mMlFWdXhnY0NCSmRLc1UyUG9VQjdEVVVWV1JFYmEwMnFValZ1ZnA3ci9oNVAwMU5QbUc2M2RPKzl6cDBrd092WllJNUJaenVZUjFLT2QzQmJJV3Rua2cxMTlRVy9qaVJUcFU0NW0vb25wWGpLZTM3eStBL2EzY2kxZXV1a09HYmZFTVBCVFJjM1V1a1MrYUlBQ0o2SzZ3N3UrU2s0YUZab2lUNTBMSWkzWG5oK2Y1YU5GcU0yREYxK25Rak9YU1RnL1ZxVUczQmdCNk1PZFJQNGFtZURCdS8yVUJydUtZSFZmaUF6Y041bWQ1c2c2QTdlOWZVWWNCUERuL2Q5S2ltdk82T3d6ZjU0MEsvWTRoOEVMZTdxLzJRcGVVRXkxUi9vSFhCKzhuMFkxUU5vS1NLcXZuUHpMWHBSeEcwNzYvQ21ZSCtSbUlrdTJneGhVWWZoMi95aGxsbzBVcGlPYnJpcDBId3E2Z3h3Z2wwejdnaGwxU0xRWFN6dWVIL0dteUIvQ2YxWFNXVEpCZThCenBOV3YrT3ViZEZkYTE0NkNiSDR4cmEyUW5TM2RucHVnSER6SUJoZ29LZFNRMnVMbTNyTndmcDNxWExXZkEyOWNsVFBLb2RlTGk4bHRrVDYzZTlwbnZyUjRkdjhpMTdEMk5odHQ5dmVBYXM3NEE0ZHdMOU14elJodG1wOUMvSmRtMkpYZHUrTWZEZ3dMQVJQOUlad1BON3RpeXNadXc0N2hMalkxdEROem51M0YxVjN3dml4K01yZmpvazQxN2cxSHRkVVk1Wkk0am5ObzArLzEwbXRjWlIvY2lORTJuVU95K01vbTZQUFpKdTZDYUhLOERjbE9mL1JiZU5IN3I4U1cyRmJiaWZhMy9UTVd2YWQ5U052dTNkNnhhUGtleWVtRTN2VTZRMzBnM2Y1SmdoeC82NnBVK0k5VlhObmh4ZXpTUy9yNnA5WlkzaUpYSWFnbTZteCtXbFgzWkJ2RGZTRGQva3VJZGZLbWpXdlpLa3Q4SUdPcGdsQ1QyNzV6bzRoODJDbWVpNUpCVnJEWFFkMGVPY2J2Z21iOTU3cTRlTWhkRUhVVmpQSlBiN0JGTzZRbG9IM3ptODROYXgvYTRMNmV1dHB4dTZ5Y25wTURzSVhFNUs1eHhSYnRCYllXc0JYMkRRWDVZTzFuWFlFK21HYjNJTVQyWWRjVkkwNlc4NWVpdHNzRDNMaWx0SFpHdGZOMnZhYlBMNUFmdWVlaUxkOEUzZU9yRkhnN0ptNmQ5WkhmMGN3cTNqYUt6OThLWERkL3pYeXB5MDMxcXN2MVg4TnBXdDBGeXZzcWc0Z1FqUy9kRlBoMVMxaG03eWhjREFFYXJ4NlV2WFcySEhlVHhtc2k3RUpTSCtVVldqcURjdG5vTk1GKzhiMWdjN3VrYk02ZkNHWEZ2anp4NnUreTBjdnNrYm9ZSERyK2FwanV1dHNPSXVwN1RtazZuNDZjM2tkNnh6UENnTUgwTm9EdEl1R2wvUEQzaGRFMEU2ZEdmcnBqMXA5akdPb1p1Y25LdkZBNGVwOGVrL3R0RUdoTVZ1YXpwVkYzK1A4bnpXYnVDSE5HeUZCNlN6cmtOeHVkZEM3anNuMGx1c2VuaEZkN2FqeTRDLzU3WlgzUEJOVGk5bm1QVnFkQzlHOVZaWTE0YmVFK3Fid0hnQWVWKzIrOXh5b1BudGtqbEkvYjBkbVVZR2ZoOVhrNjV1OTRvVExCeVd2RG9PMytRbEE0ZFh6OU1kTlZ0aFhkNDhBSDlaTld4RFAyWXp0eDFvYU5tQWRQWndNNTlycnRDbmw1ZnE1YnlhZEtucnZuUFBjUXpmNUJnNHpNTmh2WURRZTk0dmZTUVVIcWxVdm9IdUdtR3BVakFqY0dCYkRqUHMwS1gycll5QVBTRldMOXV6ZkdRaDM5V05wUE41bVg2ZlY1SU9ieXExazgydDdLUVZwME0yT1liK0YvcU55SEgwbWQvWXdMd2RZYjVLSVZacUZMcURFb1BPdGxhTXhha3NvN0ZhWEJJdFh0ZUxMeUYxTWwvdXViOFpsTzNYaFVyUzRaY2NMNXJDOXN5djExVEM4RTNlNkdIbmRlcUgzNXErL1R1eWovajM4cjlwNVRHT2Vna3F5WlAvdDFpcEQ2MmdzRnNwNkFtMG5TblFrMTNHbFpIUUNoVTlvWjJWZXhwTTlLYUo2R010ZHo2QTAwclM0WmFpSnNtd2tsMTZsNXU4bjBZMUZjZ2RhZUJZeXFYaGRBL0o0bkErYzBHOWIvVzJTL3ZCbEtURWM2djA0dFBaSkZFQ2kxcmcvT0ZERDE2L2VJVjZnVzlmejRYZmRrcHM3R0dwck9qZkhSUlFFYlpVUG50dlY0alRaYkRjamo5Sktydjc4NkdwR05RUDJOa2JVZUdNU0NYcE1JOHpsa0RyL0Y4dUJVeXUxZWVOQ3ZMYWNPYzMvNktyaFB4Um5NZzVvT3RTRmtMQmJLU0FCbzViVHBPSlNkTGxIajdaa0Fwdkc1SGtOZmgyeURmZmVQWFJGTTgwbm5Ha000YWpOUklDa2E0dVk5Ni9VSTlpZFhjYlVRaDB4WXd0cnl0QURhbmE0ODYvL0gxcVhhdnJzUkQybUhSYjB6N0pWNUlPelp2WFpZRmwvc0krWUhJbDNHRlVuejJ3NEUvdG1BWm95TzA1cGRPek9BaUlCYk9SR1BWT3F4VEpodHFOTitHQ1g5VWsrVHgrelBIVU5Wc0lYcitpYWpEWnZKdTBpWFMxbTFkL0Jibld0YXFyUDRyKzRVZXU0ZXdObi81RHBQL2NKeW44L3Y5b0lKNHRyUTluSzFDS3NCK3ZxdW1QeG0wNUFLMWROdGxocDJVVHg3Ris2bjRPWEVtNlBlY0pBejM4L1pHQXlXVnpPNDJhM0hnQzJMNXc3ZWJObTEvNjZKLzZuTGg1dFEzRTV6Mllrbk1QQ2ZHMzN5aG5HOEZza0wrQWZINDJGejk0TWpzVEdIbTU0ZGNkcERhY0hCVi9abHBJSGpNM3hpMVlFbUR2MG81UFU2anJwaXVuUDdHdXQ4SXd1bnI5N1lLc1VuM2VWQVlyazBVVHh4R3R1dTJkbm9Kb0plbkFGRk5OOURwKzdjTW1wNTZxMktqTFd0Y3ZDUEdUUm0yU3pCdzEzTVNSa3VmUXVjeWE2K0RDc281bnN5Vnp3VGZTTFh6UmRWcVVkK2JGaGovZXRyMWZDcndPUmxGbG5Ydk8vMTZYOTI1cC80czFVNDJpemxYWDc1aUhMcjlsa21CQ1lQRkZrUnZVMzArNXhRSjZnMTFYRTFLKzZFNVBRNnlTZE40OHpwL2VvZTVoazJQQWNqLy9jRVlGYVpkTm0xL3JrMkwwYUMvcitqaDR6RnR3QmJPaEdCOTdvNXFPZTl0WnBGdUxEZStHZ1VabkJqS0tKdDFkS0x4bDFNeTQrV3ZUbjh0KzFiZW9FZTd4aUw2S3duYXNtajIvUzA3V0NNc1ptdGVwTUNIbmVPYU1wcWZ6NW1SNFI5K1QrVXZpUFo1Yjg1R09Tdm56dUsxczdkdEJrd2VNaXVSOVc4Q0JlTm5HcDQ4dStHWk5hcy9oVnJaWGc5bVNabmE4dHptSWRBZmVTSmtrQzZzKzZRNHlwY0ZtaG5Ub1ZPMTAvTHh6WUdWSU4rbDQ2UlhZVzFRdG5WM1pWZG9hbVZVN0dyQ2JiTDNvTXYzYXBvc25OR2xRN2ZNU1R6emFsU2ZUbjhmaC92SnJIelo1d0tnWjltRGlNVythUG4yRU13K28wZThHU2Vkbm8rZkVMaHNkMmVQZTlsYm1kcitJbCtqZU5pSllBUzJaT0k2b2xtcld1YnVBeGo3dUVTSmRraTU3bWZzVFJia1VZaDNkNURlNDVVcWVJeWhYOWwxQ0p0Ykt6UDh5bDA3d0JMUFFZRmpNMXdNV3NjWmE4Ym9mTFBlZzVISmVYSjZIakpvaEhUNjZaenVWNlNQQXVPOTBuVmtLa3M3UFJtdGNMNWZMVHowZE9nK1hNUEdzVDdxMTdKb1hGcCtWb3VmdTB2Um9XMmNMa3E1dEpMUmdQdzZvRXNKeXBDcnlHNmdxeXd4em9PQ0lmOU5tMUtCSmJ1VE5YRG5SazRlcGdZV2gwNVBweitPODZSM3FHemI1V3NDb1dkS05DN3ZYUEgyVTFCMjM4VktEK1REcHZHelFGNXJVNzIyamVyc1cxYkdYZk5JMWNsdE9iVWM2ZEtSbTFBK1NiczNlaFZaL3p4SHBGenlLVlFOMHZNVXJUYTV2MGJjeml3TzZDbnQzRjB1Y2VHclZRbUxMallMKzlBNzFESnM4Wk5RczZUQndMK3JtZ25RYjRxNXJlMzBuVERvdkcyNElIM3VYbjNxNkpQWEcwSzE5ajNUUThKSXZtN1FjNlNCbStwQWc2VnJaM0JsVnh6NXA0Z1p5YjNXb1VOTVNtVWtwYkhTTHZwMVpITkxRZ0ZRc2ZoS3BWYVRiczBiQTg1Nlp1WG5RNUVHalpra0greHF2SDBnMzdseGh5ZFFyNUJPd3JROW1td3NQSENEZGdsV1BCekJtUGRMQksyYllyc29ZODBnSEE3NWZwUmFSN2hzMHFQWHBPeUsyZlRLQ2NtM0huNzFTY0lhR0c0OFVYVVhlUHc1MStRa3R6dmNMZEF3enFZcDA2SnhOOVdEOHl5YU9JMXBlUEZjSUdqWEhucll3NHdsSWgya0tHVlNHODM5ZVJqcVhiU0Y3RjVqc2RBVHBXdDRnK2o3NkdzZHRMWUQ3YUYxSDFXSFVJeDN1R08wcUtTSmRmUlU1eGw3STVPN1BDYWFnOFlQZ1JsWVlwUHVXVzJybjZrUHp2ODFjR3AyT2lTc1hyMk43V2Q2QWpTdllhbjd5VWtwYVlIRVREdC8rak1rNWs5dUF2bjU5bnk0QlM5d3Q4eFMxQVUxQk1HamJaQzlTUlRwdkhvZXViZG5MdVJBeU9TcXk3c25SRnVtc1BNK1JiczdPeUVBNkxFdVdUYWJ4N1RMU3VXeE5MNC9KcTQ4Z0hVcmIwV2ZUb0lralhkMWRVTmRIUE5JUjV2TXl1WWgwOHVtaGlmK20xWHFIRWMvdmxJMTJlcUc4YkM3YTlxZWdMcms0QnVoOW03YUVTSmVLSlJQeW1CUVNVbEZEcUY2L2dTT0ZIT2tvUlprT0hNMkh5MVRpbmt6TnpqYzJaSnBmd1h6ZEtram56K08yc3JnMFF5YXZoNHlhSXgxSXZLK3FBOUxCMkxicWUrdGxwTFBabkZjMzN5alowK0h5TFgzaEhBQ3lwUE0zdGZSMTNSVmc5U3FkL1dyVUx5SmR1dHBaRktWb2w0ZEVPLzl2dmpoTE5oWExudUJLSUN0Slp3ZFpuMDhMUmM1YXFROWQrWnlOSXpJWDhHWFdianhSQjZkKytkb09oRzVlL1RoMC9PeG5LRjc3RFBaOXhLZXdYWG5qOVU5RGd0THc0TlFuLzZDQmsvOUVPOUNmL29OL0NJbmJsQnl4elUxaXVWQkJPb3cydHRmZnkvVFRRWk9IalpvakhXNmV5Nm8yUkxvNWgvcm5wZWx0UlVQWnNOSTA0N09WTlJIMGRIQWRhL1hKM0MyUGRHaFMvdFovVkdXVHBFTzcxRVpyQWVsR1FqT25DUmdoRkJaTm5jcU9jNkU3dURCVDJ6bDI2SHJMWit5WHhYWHhUaThYQ0xydG5mcFIzTDRHSWRxaGRXQTJMVUlZbk8xa0FzVXNtZXovMmcxekZkdmNKb2QvckNBZERIN2JpS3VuNlViMHp5eURKZzhiTmNjZXVBbTBGNTFJNTc1Tk5ZSjd2bVFoWWJNQkJMTVNNVlZNUmg3WWxIRWluZHRhVzlueFNJZUsrN053bXhWVmtBdG8zRnZMbEZoQXVxK0VTSmM4TEVLaDB3dmxsV2lpVTZsbmNwTVlQaTVrS1hyQlkwT3RzWncwSFgya04zVTJyK2w3ZjF5bVlPVGR0cGRTU3pRYWRleHQrYmdiM2pMaWo5bk9xR0tiMnhiZ1JTcElCK012R1drMXZUdXJtUjgwZWRpb09kS0JuZExLZUtFS1VNTFp1aXJwTE1iWkV0TFpiRG5vS2ZOVVhjL2ppSFRqeHBBMWd0QU9yNmlGTHBaeStFR1JEaDJ3dk41QnVocy9ud1pKNTZzNVJ2d3JkczBjbFhuUFRreWtPRWkzYi9LUnYrN0FJSWxFZEZXV1FFYm1WL1ZNQml4YU5HbkF4OG10dUNVaTVsZW1xOHVJMTFJRFl2azJ0OVh2UnlwSUIycVpldW5wM2JpZWVnVk5Ialpxam5SdUhrT2tTMUp6MjdXV1MwbG5zNlg1dVNPMldNM1NrMGlITG5GVE5uV1VaZ2lXZE1ET3dDaXZ1bitLZERYb3BYd1owZ2tkVnAxMFAyTk5VOVU0cFZzZXk1QURwTHRsTXBLL3J1NU9jZWU1dWJLV0FROFhaVFREb2dEcHdHQ3pNWmdSVHpiQWJobkt0N20xVVBaUVFib05JWloxQnZRd1pMeTVKWFVPMCt6b0srYWdUQjQyYW81MG1BanBtMHVTcm0wRzJ3Vll0cVNuTTlsQXZ2d3dpVTVLRDdoRU90d2wrN0pxNDBzNFdOTEJESGFhS2kvYmY0cDBtRjNLM3YwRVNRZGdBbFd5ZGN0RTBBUkZHNVhxazQ2K2VaTzZqby8yOWVZemVZbVRaclh1cXdtUkRtanNLd1ZaMG8yYmpyRjBtenRYdEQ2dElOMkJ1NGxRNW0xa2F1L0xuR0dUaDQyYUl4Mm03Tm9sSmtsbmQrZ2ZRZ0VscERQWklQTEtCMy9qSHorMUkrc2oveTFZZ0loMFFKY3FqT2ZOZHZFdm5uVG9DY2dCbVNIZEVSWnpUM3pkK25od3VaOEI5ZDd0Umg5bU1FdE9IaDluTTd4SXBvRW9iamFuclNIRS83bitWNy96L1U1Y053OEpHUmFGU0hmQnp1b3o0c2w1R3Awb2xHNXpLNUg4L3dyU29jNzdPc3VHV3VzMDErVjUyT1Rka0U1WFhKSU8zWlRVUEVtVGhYTFN5V3dMUW9VN3oxamFwWFlva0tSYjA1TzNPdW0xcEFOMkw4aUNPdjdwbm82Nmd2VWM2ZFRkOGZoZzVuUjJ3dEJSbzBBQ2FLVnVKM21kSGxoYzFwSm4wRFE3clVBYUdLYkMzL2xuV29JRzNQZXJlSVpGSWRJNWMyYkVrd216YVZDNnpXMEt6UjdMU1VkUGtpeXFER2dvUmFkMFdXR1RoNDJhNitrd1R2bzlIVTUzcWFneHdyT0VkRG9iMVVlSG8yY29uM3dFNGIwcVJqc1NwRVE2UDdDcmhtQkpoMXBVa0E1YktpOFdrbTV5TUtTYnN5QlRSV05DM1J1T1I4WC9VcXZRbjBQTzFtVmFRR2xZY2I1bE1CTGl0MWFWNWcyNzM1WmhVWWgwRUtKZUFDRWpqbVh4amtvRzFLblg4Vzd0TzZpVlFPZi9jdExoSGpUNlFBT3hiMDFSWXZLd1VYT2tnM0pKQjdWNkpWb3NVZjFRNjFMUzZXeUF3SVdqTjFQT014Wk9SVHJjNWdUMERCamtrUzY4dWpZOUhXaU52alF6dkdvekRvUjBVOTM1UzZneFgzVzhHbW0rQjEzREVrQ2tPajQybnlScjNrM1ZkQmdKOGJsWlNBQm1jMmRtV05RRjZjNy9GZEtUU20zU0R4L2M1aWE1Z2xCT09oaklMSDVXUGllbmQvcUhiaVVtRHhzMVJ6cXNUUFJLUUE2dldIcksyZlRCSnFwWjB0UHBiQWMrbkdESmQvN0oxYnI3M1lYczZXQ01SZWk2c0UzdHRqMGQ4cHM1TUtWN3daQXVhVk5UaTBpbmZrUS8rbis5VEwxSHUvU1hVSUc0OGRaVndWTXJhRXlkZXVaeDAzK3Z1TEdYN09lSDMvNlBiM3lOdUtQWmt1MjZRcVNESmZRaXgzSjBUQ2JVZFEwQWRjdEQ5SDBlMUtxS25mL0xTVWZkMjhzeTA5aWRtNUowK2hHYUVwT0hqWm9qSFRvaWpaTWlYVXZkdm5MQ1ZrSTZsUTJ3Lzl2ZiswYnFJK3FUU1pJT3kvMlhVSG5zcWlGWTBoWHNtRHhBQXNZNVRCRUN1b2gwelZXU00xNGppdmNoMU0xcXNndGRHNW9KRS9ValZHbUxSc0FWdXNFUTBMNWxHY0cvRFhIMDZiLzB0aXhJN3FwbEVZbUhTSWM1SFlHSVlNWFBTTko5VEhNWFVNT3dPMG9teVc1ejY4VDhvWngwTGFvdldwVk1OTDRBRTI0blV5bWQwWjBXTkhuWXFEblM0VGJVelZHa3d6bXFUclV1N2VsVXRqWHArYTM5ODVScWFNSTZaWlZCa1c1TDNqR1haSW9sSGZxRi9HTVgrdHU2dHFmRDVPRndwNGgwZGRuNnJjdTZsTDRjMEI3ZGxYU2hiaUlWL3dBVDdLY0ZjUTZPOVRzN256WHVOTnowc3BaSXh6eGhHNGV2UFd3QW9xUHBFRDBXUVNaSXVpMDVxeUlKU3pydlo5MUlCdFJ3S053aUNZVE1OcmRLNnZ4ZlRyb05JZXJpbGMza2EzWE12c1p3UDcxT3pjSktUVjRQR1RWSE92Um1pNnBDaW5Rd05hcCs1aktsbGZSME1odWF1Uy96VHYySEZFQ3E4UDlraXZ5blNDZTMxaVpVVisxSXQ5Zmh1dEtMSTBzNjhtNHRGcEZPRmJDaHErMks2eVcyNEhzNG9oVmhpWHJua2hBZm1KVTU5c1FkOFFXZDErMG5Kbk5tMHZ6cmpuYXY3Tmd5TElzb0pkVFR0YTAxcmZoYzVpWWhxQVBiM0xha1hLU2NkQWRDakRURjRTVkJPNGkxRlhGRm1icmM1RUdqNWtqWHNtZ3IwcW1xcjkyaUdwYVFUbVliRi8vR05HVHE2VlJRT1B4ams0S2pJcDJjK3RDdUdvSWpIUmFuMnpMSi9ETXJja2M2OUQ3UGhrbDNzRzl5OXVHSU91cmxWSGZLSnI3ZGNHL25xSDNyeWhkTmR0Vzl5N05VOW9NeSt1dDZrUDM3bTBiTzY3b29LVUE2OUFTbWF6U2txelU2U0JmWTVuWkZaV1BscEd0Z21qWDFRT1B3dDJZcDE4aTNEMzlNNWk0M2VkQ29PZEtoTzlsUmxkR2trMi8zbzgzNVV0TEpiQjlXRlZIWlI3NysxdlNPOFFpb0pFVzZKQVc5V3NzeXlaRU80NDljenlwSi9KZnJQaHdkNldBQzhTYTMzR2k2eFNKbGF1N1MvejZGT2R2ZjkwbWgzZGxKSnQ2OTZ1bjhnZjk5U1R6NGpKZmd4a3RLREpBT3E1eGRuVWVScnZiRVc3TFRBWUk2c00ydE0zWWNTa21INlZsK3Awa3FLRGQ1MEtnNTBqV3RjazA2cXJyY25DOGxuY3ZXMFJpWG9FbEhhL20ydkdHOG5pNkRMMlVoanlvRmozUmJHTGxDcEt0NUQ2K3BqRDM4cjZYZWMvbzk2SEZaVXpOcGNVbUJHRmprQjlkZXQrRS9uZHFPamppcVEwZFBaLzNSMlczdVFMbVlnMTRPWFpMcmhZNkhoOExTOW9wLzAxQ2lNV3FXZEJpalRkR2FkRmlYenVKUmRabkZQU1ZQYTZOOW1Tai9lZGxjWWtkTWs2NkZvWXQyMVJCY1Q1ZXN1YW0ydkRSM1d4NTgwdUhHOGR3QTJaNXUyblRRS2xkdi96R1BlSDl2R25LNXNYaFlUNUpQYk9hU2kwNGRpeVNaT2tuM3BVZFQ4eEFuOGp2eER0SmhFTjZYSldTM3VZc0twYlJTMG1GcW8rMFJ5bDZZSGpKcWxqMW93N3JPcmttSGpuVmYxcnFzcC9PeUZSYXVFalhwVU9MWDRFMmc0SkVPNUY2U2FmcGZjMTVGdko2T25scDNSc2lTN2x6b0oyaSt6dGg0L1JqK2tsTGRaK1V2NVBSNnZGU1NXUFFGN0NtcjRQY1VhTHdKM2h4UWlkLzRxUGVEWmRJdm9TN2U1ZzRWUDUzRlB5c21GNHJacEppemtGR3pwRnZRSGtCbzFLU2pSOWJsNW53WjZieHNKWFhScEVPMytLUDZ0dkZJQitlUDJ5akMvcVI2VWhpM3NqZVhRTk5EcE52ek01ZlVJZVlTYm1zelQ0OFJqNUNoemowWk1VMHF6UUFXTFZxQkhPa3VVbmp3Ynp4bHI4dWVUb3BQcFIwOUhRWVBkVzludDdtOXpKbm9SRzRsbDduWUVtSStreEI1RWpCcWhuUll0UzBiZFlaMGMrTFpwa3FEemMzRjdQRHFaN01TblpHRkpaWFdFT20raWJsT0d4VnhhQ2NiWmdweHhpTWQ2Qm9nM1ZSNnJOV21xa1grLzhJeEVjN3JjZWNiOUhUWFdkMjl1K1NpV0FucGlraHJ4VGM2U1ZlOHpWMVVxRXo3L0hyd0V2aDd2RGx6d0tnWjBpMTR2WTNwYTdCNXFnMGFKSjJmTFZ6eHBLNzhKUFJycFUwbGxudFYySkZPcGduR3FsYlVPdkkwTG1SSTUxMTVuYjZwUGRsalJ6RUI2eU9EWlRYYU5GTnU0YTg2V0JhUmFMYW5LeVhkaFU3U1lYQWpGSFBiM05WVktKQm9CMzlCWHlEc0o3VkZrVkZCdW1VajlhK2NFNXZjempzeTNhMTdRVHFWaFBSZ05xT3I4emhwR09PZXVNajRTZEJmbXI2Z3RtTEh0eFU3eVlUR01hTUM4UlRMYWhOKzF6NG9hbEo2T001bHV0d2VGTG1zQ3pSMDFYZGRRamgyWE5LcGJiRGtMMjlLMVhJbWcrbjRJczR1YkZPU1A1T2g4KzVDMHdPK3E1ekZSa1VqbDdVYS9KckkycHEyQ0hWNmFvYTlDN2FIa25PSjRteGFWOGRoNmdmcWVMdnJJOFRhODZxWW16YytCQS8rcDY1Wkl0czNoVTYxOWY1MzdZa2Z3cU5XVHlrZ2tiT1c2dUcxUm5uRmY1YlQ3UnR2K0JiaXVoZnRLTGZyQlBLWDJDcDFuYnM0d3h3Z0hIWDNTTEdRU2owdTZjNnBuaTVWVlZmVDU4SnQ3ckxDZzlkY2Z4QVVDVnpvTkdweTg0a0RNTzBhakxYMElJc0FBQWJzU1VSQlZIZmpGLzhRenhGWXRLOCtEVUxJMS9zbWJkblgxRzdTVHpMLzFtZHVrdkpndGtESlNNYVlTbUViMFNubGxtbXFGRzh0L2hvaGpwNzUvaHNmYTRyL3FSU05LUkhUQWVJSklVMjZ1czdyRHBkVmp0Ny9vejkvYjZTVzJuK1BGQnhEaXcvZUZTVjhYTktwcDB5bTlDSmVrYTU0bXp1cUdsa2h6RGl5cnZ2czVkS3pEcU5pa1BUREJ6Wk5kbktKSWNpYmMwczJCR0NvQUpGZ05wTzk0TGlIOS9IakhRbmJkT2t0cS9TL3FkN1FuOTZtRXhYMDI5OFB6WWJ0bU1ya1NEZXFseFYxVXh0N1hEUTZlajFDOVd5a0RtOVRyanhIclhGVVA5b3BsOUZYajBzNmxYMVNMK0lWNllxM3VhT3FrUldDbi9seU5xV0xzN3hSZmZiYytVMzUwS1hTTmswdjFiaDRSWkp1OUQyVWRvNVNucngwaFJhd3dXd3Fjdy8vNlRzWDcvdnJzVWJ2b2FCZzFtNzhKYTNNNUQyb0VoZEczL2J1OWJMcjdscHZwRFB2bTFXa3c0UnFQZW5ZNW5abFJjZFFxZVZvNFE3QjRSdTFvMHFuTEFIVGdQbllLcldYWWlYajVYb2puWEdsSzlJVmIzUEgxOFZLWG5DYnZUYU5JMzFEQUxNWDV3cXMwRG9WVDg4S1RkN2wza2pYMHU1TlRicmliVzZ2dE1qb21yZUVqTXpDWXZFSWJLbTFUbFNHTTg2REZDVWZKZFFiNmZaZVVvVm8waFZ2YzBmVkl5TzBjRnczWFVZTG54UWowSlcvNUtDUFcyKzJPcjJScnFubis1cDBtSHdYYkhQYnNxSWpHL2Jabytnc0xCaU5BRXdlNnk5SlJuMnZablFKVllJOWtXN2F1RlExNlFMYjNGVjE2TGcrYzJlM0k0MFQrb1hBU3J5L0JKN0gyLzBxMXRQVEUra2VGL3RLVmZrMnQxY2NSNGVPQVB4UjNwNU1lWFd3czdsZkxuR3NxeURkdHMyWWVxdWFsY0lIU3pQaUk2bllWWGtydHJsdEFSd1pQZ0x3bDl5S3JVVTNuV0tzVHNpTiszNVk3WjZYMlp2ZU16NU9IOFMzelZudHdQVFRWZHZjSmdjZmg0OUFOLzZTMTJLYnNQODFsbnVOenoraTlocHZmQno3TFg4bTk2WnJOMzRKOFIrN0ppKzRZcVg0WGRyRnZIbno2cjhFTGVWNk9tS2IyNm5nMkpBUjZNSmZnb0Y0QUNzNnZkZXNuZzVwb0FnSzVEZGNVZEVjejYyNHZvcGYzeEdDZStwMEc5SGdOamZKY1RnRkNOVHd6ZU9kdUhwTUVpTzBUeXd1UjVRVXZkTC93U2ZOSy8wUEg4SldwSDZsdjQ1bk85ZE8wa2tuVHRRMmQxUjlXR2pnQ0dCU0h1a3ZrWnd6N29tQjE0c0x1SThSd0JpMkd0VzgzMG5sQUxZZUpjeENqRUFZQVV6VDNETlVZYkdrOXJTYU0vWHo5MmNseGZHbCt4a0J6TDhqL0NWVGo5SjBqa0svZjBoeFAyUExiU3RHSU1aZjhxV2YvN1lpSFAwM3YxY3JWc2VwakVBMUFvOEw4WGUvSnhRKzhzbmYvd3QvOHNIVU1RNnhwV3FkTE1FSWxDRUFmMG1YWWI1TUhWOWpCS29SZ0wra3l4RHAwcXN1bWlWZXJRaXNkRWs1Ynl2KzFRb1p0N3RIQkdoYnE3c1EvYU9jSG12RzJlOWJCRGE2WXh5a0w5KzNXSEREVGdZQnZJR2gyeERoMHp1WnVuTXA5eWdDVTJtM25EUHZBTHBIRzh6VlpnUVlBVWFBRVdBRUdBRkdnQkZnQkJnQlJvQVJZQVFZQVVhQUVXQUVHQUZHZ0JGZ0JCZ0JSb0FSWUFRWUFVYUFFV0FFR0FGR2dCRmdCQmdCUm9BUllBUVlBVWFBRVdBRUdBRkdnQkZnQkJnQlJvQVJZQVFZQVVhQUVXQUVHSUZ1RUJocC9rU0VlSzI1R2lIRklveEFGQUpiVWE4bythZUQrUHhoVlAxWTZENUU0RUJFZkdUdTQxMThFdlkreElpYjFHY0U2cFd2SGI3eDBUL0Z5d0RtKzF3dXEzc1ZJN0JXOWIwditwTDhPNWgwcjJLSzlML3BVNStxMEhuMnlqdmVqQTlhemxlSThXVkdvTDhJTU9uNml5ZHJpMENBU1JjQkVvdjBGd0VtWFgveFpHMFJDRERwSWtCaWtmNGl3S1RyTDU2c0xRSUJKbDBFU0N6U1h3U1lkUDNGODFXdGJlSnQ3NXVQQVlCSkY0TVN5OFFnVUtzZk5lOXNSa2d5NlNKQVlwRW9CTDd5ZkhKT2JFZUlNdWtpUUdLUktBVHF0NUlaOFVLRUtKTXVBaVFXaVVGZytrNlNqSW1YcGVoYkNyNHFjYmh1dEREcERCSjg3QkdCTXk4bXliaFFuNnN1L0F6bm9pbUFTV2VRNEdPUENPeUJWRnY2Y2JyL2NyRXp2TjArb3M2azZ4RnF6bTRRYUt3blNWdWd1NnNNVExwS2lGZ2dDb0hhSWNSU1ljZlFra3hNdWhKdytGSVhDRXo5VkpKTUNMRWVrWVZKRndFU2kwUWlnR2ZSWXlTWmRERW9zVXdjQXEyb0h5QW1UTG80T0ZrcUJvRTlFZldOZENaZERKZ3NFNGRBTSs0YjZVeTZPRGhaS2dLQktTRnVSWWp4OEJvREVzdkVJWEJleEgwam5YdTZPRHhaS2dLQmNmdE9pWTkzYmtoYzVCMkpDQWhacEZzRTF1Z1prOGwzSWh2dnZYYUxIY3NmRTRFVldrZlF2bjlTK0pUSnJsSEx3NnRCZ28rOUlsQVQ5Q0tUdWFWS1BVeTZTb2hZSUJLQlNTRm1rMlJsdDFLY1NWY0pFUXRFSW5CZVlNOWY3dnRYWk1BVzdYeUZDRjltQktJUUdCVkhlSGI0YnJYc3FCREwxVklzd1FoVUl6QkNIcE9GN1FyQm16ZGUzeGJpK1YrK2RyTkNrQzh6QWhFSTFBK1RtVHM3NVlJWVdrMllMNWZrcTR4QUJBSmZFYjhodmxBaE55RU9yMXg4OE1tTFYxS2UxMVZBeFplakVIamd5bCtMa21PaFU0UEEvd2VTenJhWmFJZWsyZ0FBQUFCSlJVNUVya0pnZ2c9PSIKfQo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WPS 表格</Application>
  <PresentationFormat>On-screen Show (16:9)</PresentationFormat>
  <Paragraphs>173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0" baseType="lpstr">
      <vt:lpstr>Arial</vt:lpstr>
      <vt:lpstr>宋体</vt:lpstr>
      <vt:lpstr>Wingdings</vt:lpstr>
      <vt:lpstr>Comic Sans MS</vt:lpstr>
      <vt:lpstr>Arial</vt:lpstr>
      <vt:lpstr>Chalkboard</vt:lpstr>
      <vt:lpstr>Arial</vt:lpstr>
      <vt:lpstr>Aptos</vt:lpstr>
      <vt:lpstr>Helvetica Neue</vt:lpstr>
      <vt:lpstr>Aptos</vt:lpstr>
      <vt:lpstr>Aptos</vt:lpstr>
      <vt:lpstr>Chalkboard SE Regular</vt:lpstr>
      <vt:lpstr>汉仪书宋二KW</vt:lpstr>
      <vt:lpstr>Geneva</vt:lpstr>
      <vt:lpstr>宋体-简</vt:lpstr>
      <vt:lpstr>BatangChe</vt:lpstr>
      <vt:lpstr>Apple SD Gothic Neo</vt:lpstr>
      <vt:lpstr>DejaVu Math TeX Gyre</vt:lpstr>
      <vt:lpstr>MS PGothic</vt:lpstr>
      <vt:lpstr>苹方-简</vt:lpstr>
      <vt:lpstr>儷宋 Pro</vt:lpstr>
      <vt:lpstr>微软雅黑</vt:lpstr>
      <vt:lpstr>汉仪旗黑</vt:lpstr>
      <vt:lpstr>Calibri</vt:lpstr>
      <vt:lpstr>等线</vt:lpstr>
      <vt:lpstr>汉仪中等线KW</vt:lpstr>
      <vt:lpstr>宋体</vt:lpstr>
      <vt:lpstr>Arial Unicode MS</vt:lpstr>
      <vt:lpstr>Office Theme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CSNE Method Figure</dc:title>
  <dc:creator>OpenAI</dc:creator>
  <dc:subject>CSNE method infographic</dc:subject>
  <cp:lastModifiedBy>善良的我</cp:lastModifiedBy>
  <cp:revision>11</cp:revision>
  <dcterms:created xsi:type="dcterms:W3CDTF">2026-07-29T07:28:53Z</dcterms:created>
  <dcterms:modified xsi:type="dcterms:W3CDTF">2026-07-29T07:28:53Z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B1B8D5D926ABE667BA2C536A18CC98A9_43</vt:lpwstr>
  </property>
</Properties>
</file>