
<file path=[Content_Types].xml><?xml version="1.0" encoding="utf-8"?>
<Types xmlns="http://schemas.openxmlformats.org/package/2006/content-types">
  <Default Extension="xml" ContentType="application/xml"/>
  <Default Extension="png" ContentType="image/png"/>
  <Default Extension="rels" ContentType="application/vnd.openxmlformats-package.relationships+xml"/>
  <Override PartName="/customXml/itemProps1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</p:sld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customXml" Target="../customXml/item1.xml"/><Relationship Id="rId8" Type="http://schemas.openxmlformats.org/officeDocument/2006/relationships/customXmlProps" Target="../customXml/itemProps1.xml"/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Shape 148"/>
          <p:cNvSpPr/>
          <p:nvPr/>
        </p:nvSpPr>
        <p:spPr>
          <a:xfrm>
            <a:off x="2376170" y="308610"/>
            <a:ext cx="3741420" cy="5879465"/>
          </a:xfrm>
          <a:prstGeom prst="roundRect">
            <a:avLst/>
          </a:prstGeom>
          <a:solidFill>
            <a:srgbClr val="D9F4EF">
              <a:alpha val="95000"/>
            </a:srgbClr>
          </a:solidFill>
          <a:ln w="12700">
            <a:solidFill>
              <a:srgbClr val="37536B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53" name="Text 149"/>
          <p:cNvSpPr/>
          <p:nvPr/>
        </p:nvSpPr>
        <p:spPr>
          <a:xfrm>
            <a:off x="1211580" y="800100"/>
            <a:ext cx="5805170" cy="384175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C4A"/>
                </a:solidFill>
                <a:latin typeface="Chalkboard SE Regular" panose="03050602040202020205" charset="0"/>
                <a:ea typeface="Arial" panose="020B0604020202090204" pitchFamily="34" charset="-122"/>
                <a:cs typeface="Chalkboard SE Regular" panose="03050602040202020205" charset="0"/>
              </a:rPr>
              <a:t>CDMD: Cross-Dimensional </a:t>
            </a:r>
            <a:endParaRPr lang="en-US" sz="2000" b="1" dirty="0">
              <a:solidFill>
                <a:srgbClr val="1C2C4A"/>
              </a:solidFill>
              <a:latin typeface="Chalkboard SE Regular" panose="03050602040202020205" charset="0"/>
              <a:ea typeface="Arial" panose="020B0604020202090204" pitchFamily="34" charset="-122"/>
              <a:cs typeface="Chalkboard SE Regular" panose="03050602040202020205" charset="0"/>
            </a:endParaRPr>
          </a:p>
          <a:p>
            <a:pPr marL="0" indent="0" algn="ctr">
              <a:buNone/>
            </a:pPr>
            <a:r>
              <a:rPr lang="en-US" sz="2000" b="1" dirty="0">
                <a:solidFill>
                  <a:srgbClr val="1C2C4A"/>
                </a:solidFill>
                <a:latin typeface="Chalkboard SE Regular" panose="03050602040202020205" charset="0"/>
                <a:ea typeface="Arial" panose="020B0604020202090204" pitchFamily="34" charset="-122"/>
                <a:cs typeface="Chalkboard SE Regular" panose="03050602040202020205" charset="0"/>
              </a:rPr>
              <a:t>Mutual Distillation</a:t>
            </a:r>
            <a:endParaRPr lang="en-US" sz="2000" b="1" dirty="0">
              <a:solidFill>
                <a:srgbClr val="1C2C4A"/>
              </a:solidFill>
              <a:latin typeface="Chalkboard SE Regular" panose="03050602040202020205" charset="0"/>
              <a:ea typeface="Arial" panose="020B0604020202090204" pitchFamily="34" charset="-122"/>
              <a:cs typeface="Chalkboard SE Regular" panose="03050602040202020205" charset="0"/>
            </a:endParaRPr>
          </a:p>
        </p:txBody>
      </p:sp>
      <p:sp>
        <p:nvSpPr>
          <p:cNvPr id="154" name="Text 150"/>
          <p:cNvSpPr/>
          <p:nvPr/>
        </p:nvSpPr>
        <p:spPr>
          <a:xfrm>
            <a:off x="2221865" y="1753870"/>
            <a:ext cx="2039620" cy="32004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Autofit/>
          </a:bodyPr>
          <a:lstStyle/>
          <a:p>
            <a:pPr marL="0" algn="ctr">
              <a:buClrTx/>
              <a:buSzTx/>
              <a:buNone/>
            </a:pPr>
            <a:r>
              <a:rPr lang="en-US" sz="1400" b="1" dirty="0">
                <a:solidFill>
                  <a:srgbClr val="1C2C4A"/>
                </a:solidFill>
                <a:latin typeface="Chalkboard SE Regular" panose="03050602040202020205" charset="0"/>
                <a:ea typeface="Arial" panose="020B0604020202090204" pitchFamily="34" charset="-122"/>
                <a:cs typeface="Chalkboard SE Regular" panose="03050602040202020205" charset="0"/>
              </a:rPr>
              <a:t>Low-dᵢ Sim Matrix</a:t>
            </a:r>
            <a:endParaRPr lang="en-US" sz="1400" b="1" dirty="0">
              <a:solidFill>
                <a:srgbClr val="1C2C4A"/>
              </a:solidFill>
              <a:latin typeface="Chalkboard SE Regular" panose="03050602040202020205" charset="0"/>
              <a:ea typeface="Arial" panose="020B0604020202090204" pitchFamily="34" charset="-122"/>
              <a:cs typeface="Chalkboard SE Regular" panose="03050602040202020205" charset="0"/>
            </a:endParaRPr>
          </a:p>
        </p:txBody>
      </p:sp>
      <p:sp>
        <p:nvSpPr>
          <p:cNvPr id="155" name="Text 151"/>
          <p:cNvSpPr/>
          <p:nvPr/>
        </p:nvSpPr>
        <p:spPr>
          <a:xfrm>
            <a:off x="4213860" y="1736090"/>
            <a:ext cx="1979295" cy="32004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Autofit/>
          </a:bodyPr>
          <a:lstStyle/>
          <a:p>
            <a:pPr marL="0" algn="ctr">
              <a:buClrTx/>
              <a:buSzTx/>
              <a:buNone/>
            </a:pPr>
            <a:r>
              <a:rPr lang="en-US" sz="1400" b="1" dirty="0">
                <a:solidFill>
                  <a:srgbClr val="1C2C4A"/>
                </a:solidFill>
                <a:latin typeface="Chalkboard SE Regular" panose="03050602040202020205" charset="0"/>
                <a:ea typeface="Arial" panose="020B0604020202090204" pitchFamily="34" charset="-122"/>
                <a:cs typeface="Chalkboard SE Regular" panose="03050602040202020205" charset="0"/>
              </a:rPr>
              <a:t>Max-d Sim Matrix</a:t>
            </a:r>
            <a:endParaRPr lang="en-US" sz="1400" b="1" dirty="0">
              <a:solidFill>
                <a:srgbClr val="1C2C4A"/>
              </a:solidFill>
              <a:latin typeface="Chalkboard SE Regular" panose="03050602040202020205" charset="0"/>
              <a:ea typeface="Arial" panose="020B0604020202090204" pitchFamily="34" charset="-122"/>
              <a:cs typeface="Chalkboard SE Regular" panose="03050602040202020205" charset="0"/>
            </a:endParaRPr>
          </a:p>
        </p:txBody>
      </p:sp>
      <p:sp>
        <p:nvSpPr>
          <p:cNvPr id="160" name="Shape 156"/>
          <p:cNvSpPr/>
          <p:nvPr/>
        </p:nvSpPr>
        <p:spPr>
          <a:xfrm>
            <a:off x="2990215" y="2234565"/>
            <a:ext cx="208915" cy="219075"/>
          </a:xfrm>
          <a:prstGeom prst="rect">
            <a:avLst/>
          </a:prstGeom>
          <a:solidFill>
            <a:srgbClr val="7AD99D"/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165" name="Shape 161"/>
          <p:cNvSpPr/>
          <p:nvPr/>
        </p:nvSpPr>
        <p:spPr>
          <a:xfrm>
            <a:off x="4821555" y="2227580"/>
            <a:ext cx="207010" cy="210185"/>
          </a:xfrm>
          <a:prstGeom prst="rect">
            <a:avLst/>
          </a:prstGeom>
          <a:solidFill>
            <a:srgbClr val="B18CD9"/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166" name="Shape 162"/>
          <p:cNvSpPr/>
          <p:nvPr/>
        </p:nvSpPr>
        <p:spPr>
          <a:xfrm>
            <a:off x="5028565" y="2227580"/>
            <a:ext cx="207010" cy="209550"/>
          </a:xfrm>
          <a:prstGeom prst="rect">
            <a:avLst/>
          </a:prstGeom>
          <a:solidFill>
            <a:srgbClr val="E9D9F6">
              <a:alpha val="80000"/>
            </a:srgbClr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174" name="Shape 170"/>
          <p:cNvSpPr/>
          <p:nvPr/>
        </p:nvSpPr>
        <p:spPr>
          <a:xfrm rot="20940000">
            <a:off x="3846830" y="2380615"/>
            <a:ext cx="807720" cy="158115"/>
          </a:xfrm>
          <a:prstGeom prst="line">
            <a:avLst/>
          </a:prstGeom>
          <a:noFill/>
          <a:ln w="10160">
            <a:solidFill>
              <a:srgbClr val="9AA6B2"/>
            </a:solidFill>
            <a:prstDash val="solid"/>
            <a:headEnd type="triangle"/>
            <a:tailEnd type="triangle"/>
          </a:ln>
        </p:spPr>
      </p:sp>
      <p:sp>
        <p:nvSpPr>
          <p:cNvPr id="175" name="Text 171"/>
          <p:cNvSpPr/>
          <p:nvPr/>
        </p:nvSpPr>
        <p:spPr>
          <a:xfrm>
            <a:off x="2321560" y="3041650"/>
            <a:ext cx="1979295" cy="32004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Autofit/>
          </a:bodyPr>
          <a:lstStyle/>
          <a:p>
            <a:pPr marL="0" algn="ctr">
              <a:buClrTx/>
              <a:buSzTx/>
              <a:buNone/>
            </a:pPr>
            <a:r>
              <a:rPr lang="en-US" sz="1400" b="1" dirty="0">
                <a:solidFill>
                  <a:srgbClr val="1C2C4A"/>
                </a:solidFill>
                <a:latin typeface="Chalkboard SE Regular" panose="03050602040202020205" charset="0"/>
                <a:ea typeface="Arial" panose="020B0604020202090204" pitchFamily="34" charset="-122"/>
                <a:cs typeface="Chalkboard SE Regular" panose="03050602040202020205" charset="0"/>
              </a:rPr>
              <a:t>Low-dⱼ Sim Matrix</a:t>
            </a:r>
            <a:endParaRPr lang="en-US" sz="1400" b="1" dirty="0">
              <a:solidFill>
                <a:srgbClr val="1C2C4A"/>
              </a:solidFill>
              <a:latin typeface="Chalkboard SE Regular" panose="03050602040202020205" charset="0"/>
              <a:ea typeface="Arial" panose="020B0604020202090204" pitchFamily="34" charset="-122"/>
              <a:cs typeface="Chalkboard SE Regular" panose="03050602040202020205" charset="0"/>
            </a:endParaRPr>
          </a:p>
        </p:txBody>
      </p:sp>
      <p:sp>
        <p:nvSpPr>
          <p:cNvPr id="196" name="Text 192"/>
          <p:cNvSpPr/>
          <p:nvPr/>
        </p:nvSpPr>
        <p:spPr>
          <a:xfrm>
            <a:off x="1689735" y="5306695"/>
            <a:ext cx="5137150" cy="227965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C4A"/>
                </a:solidFill>
                <a:latin typeface="Chalkboard SE Regular" panose="03050602040202020205" charset="0"/>
                <a:ea typeface="Arial" panose="020B0604020202090204" pitchFamily="34" charset="-122"/>
                <a:cs typeface="Chalkboard SE Regular" panose="03050602040202020205" charset="0"/>
              </a:rPr>
              <a:t>Align similarity distributions </a:t>
            </a:r>
            <a:br>
              <a:rPr lang="en-US" sz="2000" b="1" dirty="0">
                <a:solidFill>
                  <a:srgbClr val="1C2C4A"/>
                </a:solidFill>
                <a:latin typeface="Chalkboard SE Regular" panose="03050602040202020205" charset="0"/>
                <a:ea typeface="Arial" panose="020B0604020202090204" pitchFamily="34" charset="-122"/>
                <a:cs typeface="Chalkboard SE Regular" panose="03050602040202020205" charset="0"/>
              </a:rPr>
            </a:br>
            <a:r>
              <a:rPr lang="en-US" sz="2000" b="1" dirty="0">
                <a:solidFill>
                  <a:srgbClr val="1C2C4A"/>
                </a:solidFill>
                <a:latin typeface="Chalkboard SE Regular" panose="03050602040202020205" charset="0"/>
                <a:ea typeface="Arial" panose="020B0604020202090204" pitchFamily="34" charset="-122"/>
                <a:cs typeface="Chalkboard SE Regular" panose="03050602040202020205" charset="0"/>
              </a:rPr>
              <a:t>with symmetric KL divergence</a:t>
            </a:r>
            <a:endParaRPr lang="en-US" sz="2000" b="1" dirty="0">
              <a:solidFill>
                <a:srgbClr val="1C2C4A"/>
              </a:solidFill>
              <a:latin typeface="Chalkboard SE Regular" panose="03050602040202020205" charset="0"/>
              <a:ea typeface="Arial" panose="020B0604020202090204" pitchFamily="34" charset="-122"/>
              <a:cs typeface="Chalkboard SE Regular" panose="03050602040202020205" charset="0"/>
            </a:endParaRPr>
          </a:p>
        </p:txBody>
      </p:sp>
      <p:sp>
        <p:nvSpPr>
          <p:cNvPr id="197" name="Shape 193"/>
          <p:cNvSpPr/>
          <p:nvPr/>
        </p:nvSpPr>
        <p:spPr>
          <a:xfrm>
            <a:off x="6117590" y="3432810"/>
            <a:ext cx="407035" cy="635"/>
          </a:xfrm>
          <a:prstGeom prst="line">
            <a:avLst/>
          </a:prstGeom>
          <a:noFill/>
          <a:ln w="12700">
            <a:solidFill>
              <a:srgbClr val="806000"/>
            </a:solidFill>
            <a:prstDash val="solid"/>
            <a:headEnd type="none"/>
            <a:tailEnd type="triangle"/>
          </a:ln>
        </p:spPr>
      </p:sp>
      <p:sp>
        <p:nvSpPr>
          <p:cNvPr id="199" name="Shape 195"/>
          <p:cNvSpPr/>
          <p:nvPr/>
        </p:nvSpPr>
        <p:spPr>
          <a:xfrm>
            <a:off x="6519545" y="308610"/>
            <a:ext cx="4464050" cy="6000750"/>
          </a:xfrm>
          <a:prstGeom prst="roundRect">
            <a:avLst/>
          </a:prstGeom>
          <a:solidFill>
            <a:srgbClr val="F7C4C7">
              <a:alpha val="90000"/>
            </a:srgbClr>
          </a:solidFill>
          <a:ln w="12700">
            <a:solidFill>
              <a:srgbClr val="794A5D"/>
            </a:solidFill>
            <a:prstDash val="solid"/>
          </a:ln>
        </p:spPr>
      </p:sp>
      <p:sp>
        <p:nvSpPr>
          <p:cNvPr id="200" name="Text 196"/>
          <p:cNvSpPr/>
          <p:nvPr/>
        </p:nvSpPr>
        <p:spPr>
          <a:xfrm>
            <a:off x="6393180" y="440690"/>
            <a:ext cx="4069080" cy="384175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Autofit/>
          </a:bodyPr>
          <a:lstStyle/>
          <a:p>
            <a:pPr marL="0" algn="ctr">
              <a:buClrTx/>
              <a:buSzTx/>
              <a:buNone/>
            </a:pPr>
            <a:r>
              <a:rPr lang="en-US" sz="2000" b="1" dirty="0">
                <a:solidFill>
                  <a:srgbClr val="1C2C4A"/>
                </a:solidFill>
                <a:latin typeface="Chalkboard SE Regular" panose="03050602040202020205" charset="0"/>
                <a:ea typeface="Arial" panose="020B0604020202090204" pitchFamily="34" charset="-122"/>
                <a:cs typeface="Chalkboard SE Regular" panose="03050602040202020205" charset="0"/>
              </a:rPr>
              <a:t>HPEM: Hard-Pair</a:t>
            </a:r>
            <a:endParaRPr lang="en-US" sz="2000" b="1" dirty="0">
              <a:solidFill>
                <a:srgbClr val="1C2C4A"/>
              </a:solidFill>
              <a:latin typeface="Chalkboard SE Regular" panose="03050602040202020205" charset="0"/>
              <a:ea typeface="Arial" panose="020B0604020202090204" pitchFamily="34" charset="-122"/>
              <a:cs typeface="Chalkboard SE Regular" panose="03050602040202020205" charset="0"/>
            </a:endParaRPr>
          </a:p>
          <a:p>
            <a:pPr marL="0" algn="ctr">
              <a:buClrTx/>
              <a:buSzTx/>
              <a:buNone/>
            </a:pPr>
            <a:r>
              <a:rPr lang="en-US" sz="2000" b="1" dirty="0">
                <a:solidFill>
                  <a:srgbClr val="1C2C4A"/>
                </a:solidFill>
                <a:latin typeface="Chalkboard SE Regular" panose="03050602040202020205" charset="0"/>
                <a:ea typeface="Arial" panose="020B0604020202090204" pitchFamily="34" charset="-122"/>
                <a:cs typeface="Chalkboard SE Regular" panose="03050602040202020205" charset="0"/>
              </a:rPr>
              <a:t>Evolutionary Mining</a:t>
            </a:r>
            <a:endParaRPr lang="en-US" sz="2000" b="1" dirty="0">
              <a:solidFill>
                <a:srgbClr val="1C2C4A"/>
              </a:solidFill>
              <a:latin typeface="Chalkboard SE Regular" panose="03050602040202020205" charset="0"/>
              <a:ea typeface="Arial" panose="020B0604020202090204" pitchFamily="34" charset="-122"/>
              <a:cs typeface="Chalkboard SE Regular" panose="03050602040202020205" charset="0"/>
            </a:endParaRPr>
          </a:p>
        </p:txBody>
      </p:sp>
      <p:sp>
        <p:nvSpPr>
          <p:cNvPr id="224" name="Text 220"/>
          <p:cNvSpPr/>
          <p:nvPr/>
        </p:nvSpPr>
        <p:spPr>
          <a:xfrm>
            <a:off x="6725285" y="5302250"/>
            <a:ext cx="4003040" cy="27432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C4A"/>
                </a:solidFill>
                <a:latin typeface="Chalkboard SE Regular" panose="03050602040202020205" charset="0"/>
                <a:ea typeface="Arial" panose="020B0604020202090204" pitchFamily="34" charset="-122"/>
                <a:cs typeface="Chalkboard SE Regular" panose="03050602040202020205" charset="0"/>
              </a:rPr>
              <a:t>Use small-d confusion to weight</a:t>
            </a:r>
            <a:endParaRPr lang="en-US" sz="2000" dirty="0">
              <a:latin typeface="Chalkboard SE Regular" panose="03050602040202020205" charset="0"/>
              <a:cs typeface="Chalkboard SE Regular" panose="03050602040202020205" charset="0"/>
            </a:endParaRPr>
          </a:p>
          <a:p>
            <a:pPr marL="0" indent="0" algn="ctr">
              <a:buNone/>
            </a:pPr>
            <a:r>
              <a:rPr lang="en-US" sz="2000" b="1" dirty="0">
                <a:solidFill>
                  <a:srgbClr val="1C2C4A"/>
                </a:solidFill>
                <a:latin typeface="Chalkboard SE Regular" panose="03050602040202020205" charset="0"/>
                <a:ea typeface="Arial" panose="020B0604020202090204" pitchFamily="34" charset="-122"/>
                <a:cs typeface="Chalkboard SE Regular" panose="03050602040202020205" charset="0"/>
              </a:rPr>
              <a:t>large-d InfoNCE loss</a:t>
            </a:r>
            <a:endParaRPr lang="en-US" sz="2000" b="1" dirty="0">
              <a:solidFill>
                <a:srgbClr val="1C2C4A"/>
              </a:solidFill>
              <a:latin typeface="Chalkboard SE Regular" panose="03050602040202020205" charset="0"/>
              <a:ea typeface="Arial" panose="020B0604020202090204" pitchFamily="34" charset="-122"/>
              <a:cs typeface="Chalkboard SE Regular" panose="03050602040202020205" charset="0"/>
            </a:endParaRPr>
          </a:p>
        </p:txBody>
      </p:sp>
      <p:sp>
        <p:nvSpPr>
          <p:cNvPr id="226" name="Shape 222"/>
          <p:cNvSpPr/>
          <p:nvPr/>
        </p:nvSpPr>
        <p:spPr>
          <a:xfrm>
            <a:off x="11275060" y="267970"/>
            <a:ext cx="3376930" cy="6027420"/>
          </a:xfrm>
          <a:prstGeom prst="roundRect">
            <a:avLst>
              <a:gd name="adj" fmla="val 6061"/>
            </a:avLst>
          </a:prstGeom>
          <a:solidFill>
            <a:srgbClr val="E5D8F2"/>
          </a:solidFill>
          <a:ln w="15240">
            <a:solidFill>
              <a:srgbClr val="735E8D"/>
            </a:solidFill>
            <a:prstDash val="solid"/>
          </a:ln>
        </p:spPr>
      </p:sp>
      <p:sp>
        <p:nvSpPr>
          <p:cNvPr id="228" name="Text 224"/>
          <p:cNvSpPr/>
          <p:nvPr/>
        </p:nvSpPr>
        <p:spPr>
          <a:xfrm>
            <a:off x="11291570" y="415925"/>
            <a:ext cx="3406140" cy="384175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C4A"/>
                </a:solidFill>
                <a:latin typeface="Chalkboard SE Regular" panose="03050602040202020205" charset="0"/>
                <a:ea typeface="Arial" panose="020B0604020202090204" pitchFamily="34" charset="-122"/>
                <a:cs typeface="Chalkboard SE Regular" panose="03050602040202020205" charset="0"/>
              </a:rPr>
              <a:t>DALS: Dimension-Adaptive</a:t>
            </a:r>
            <a:endParaRPr lang="en-US" sz="1900" dirty="0">
              <a:latin typeface="Chalkboard SE Regular" panose="03050602040202020205" charset="0"/>
              <a:cs typeface="Chalkboard SE Regular" panose="03050602040202020205" charset="0"/>
            </a:endParaRPr>
          </a:p>
          <a:p>
            <a:pPr marL="0" indent="0" algn="ctr">
              <a:buNone/>
            </a:pPr>
            <a:r>
              <a:rPr lang="en-US" sz="1900" b="1" dirty="0">
                <a:solidFill>
                  <a:srgbClr val="1C2C4A"/>
                </a:solidFill>
                <a:latin typeface="Chalkboard SE Regular" panose="03050602040202020205" charset="0"/>
                <a:ea typeface="Arial" panose="020B0604020202090204" pitchFamily="34" charset="-122"/>
                <a:cs typeface="Chalkboard SE Regular" panose="03050602040202020205" charset="0"/>
              </a:rPr>
              <a:t>Loss Scheduling</a:t>
            </a:r>
            <a:endParaRPr lang="en-US" sz="1900" b="1" dirty="0">
              <a:solidFill>
                <a:srgbClr val="1C2C4A"/>
              </a:solidFill>
              <a:latin typeface="Chalkboard SE Regular" panose="03050602040202020205" charset="0"/>
              <a:ea typeface="Arial" panose="020B0604020202090204" pitchFamily="34" charset="-122"/>
              <a:cs typeface="Chalkboard SE Regular" panose="03050602040202020205" charset="0"/>
            </a:endParaRPr>
          </a:p>
        </p:txBody>
      </p:sp>
      <p:sp>
        <p:nvSpPr>
          <p:cNvPr id="242" name="Shape 236"/>
          <p:cNvSpPr/>
          <p:nvPr/>
        </p:nvSpPr>
        <p:spPr>
          <a:xfrm>
            <a:off x="5758815" y="6791325"/>
            <a:ext cx="5998845" cy="810895"/>
          </a:xfrm>
          <a:prstGeom prst="roundRect">
            <a:avLst>
              <a:gd name="adj" fmla="val 15000"/>
            </a:avLst>
          </a:prstGeom>
          <a:solidFill>
            <a:srgbClr val="FFECA7"/>
          </a:solidFill>
          <a:ln w="15240">
            <a:solidFill>
              <a:srgbClr val="7A5E2D"/>
            </a:solidFill>
            <a:prstDash val="solid"/>
          </a:ln>
        </p:spPr>
      </p:sp>
      <p:sp>
        <p:nvSpPr>
          <p:cNvPr id="244" name="Text 237"/>
          <p:cNvSpPr/>
          <p:nvPr/>
        </p:nvSpPr>
        <p:spPr>
          <a:xfrm>
            <a:off x="4956683" y="6885940"/>
            <a:ext cx="4617720" cy="22860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Autofit/>
          </a:bodyPr>
          <a:lstStyle/>
          <a:p>
            <a:pPr marL="0" algn="ctr">
              <a:buClrTx/>
              <a:buSzTx/>
              <a:buNone/>
            </a:pPr>
            <a:r>
              <a:rPr lang="en-US" sz="2000" b="1" dirty="0">
                <a:solidFill>
                  <a:srgbClr val="1C2C4A"/>
                </a:solidFill>
                <a:latin typeface="Chalkboard SE Regular" panose="03050602040202020205" charset="0"/>
                <a:ea typeface="Arial" panose="020B0604020202090204" pitchFamily="34" charset="-122"/>
                <a:cs typeface="Chalkboard SE Regular" panose="03050602040202020205" charset="0"/>
              </a:rPr>
              <a:t>Joint Optimization:   </a:t>
            </a:r>
            <a:endParaRPr lang="en-US" sz="2000" b="1" dirty="0">
              <a:solidFill>
                <a:srgbClr val="1C2C4A"/>
              </a:solidFill>
              <a:latin typeface="Chalkboard SE Regular" panose="03050602040202020205" charset="0"/>
              <a:ea typeface="Arial" panose="020B0604020202090204" pitchFamily="34" charset="-122"/>
              <a:cs typeface="Chalkboard SE Regular" panose="03050602040202020205" charset="0"/>
            </a:endParaRPr>
          </a:p>
        </p:txBody>
      </p:sp>
      <p:sp>
        <p:nvSpPr>
          <p:cNvPr id="245" name="Shape 238"/>
          <p:cNvSpPr/>
          <p:nvPr/>
        </p:nvSpPr>
        <p:spPr>
          <a:xfrm>
            <a:off x="4433570" y="6187440"/>
            <a:ext cx="2540" cy="1009650"/>
          </a:xfrm>
          <a:prstGeom prst="line">
            <a:avLst/>
          </a:prstGeom>
          <a:noFill/>
          <a:ln w="10160">
            <a:solidFill>
              <a:srgbClr val="5E6E83"/>
            </a:solidFill>
            <a:prstDash val="solid"/>
            <a:headEnd type="none"/>
            <a:tailEnd type="none"/>
          </a:ln>
        </p:spPr>
      </p:sp>
      <p:sp>
        <p:nvSpPr>
          <p:cNvPr id="246" name="Shape 239"/>
          <p:cNvSpPr/>
          <p:nvPr/>
        </p:nvSpPr>
        <p:spPr>
          <a:xfrm>
            <a:off x="4433570" y="7197725"/>
            <a:ext cx="1325245" cy="635"/>
          </a:xfrm>
          <a:prstGeom prst="line">
            <a:avLst/>
          </a:prstGeom>
          <a:noFill/>
          <a:ln w="10160">
            <a:solidFill>
              <a:srgbClr val="5E6E83"/>
            </a:solidFill>
            <a:prstDash val="solid"/>
            <a:headEnd type="none"/>
            <a:tailEnd type="triangle"/>
          </a:ln>
        </p:spPr>
      </p:sp>
      <p:sp>
        <p:nvSpPr>
          <p:cNvPr id="247" name="Shape 240"/>
          <p:cNvSpPr/>
          <p:nvPr/>
        </p:nvSpPr>
        <p:spPr>
          <a:xfrm flipV="1">
            <a:off x="13095605" y="6294755"/>
            <a:ext cx="1270" cy="902335"/>
          </a:xfrm>
          <a:prstGeom prst="line">
            <a:avLst/>
          </a:prstGeom>
          <a:noFill/>
          <a:ln w="10160">
            <a:solidFill>
              <a:srgbClr val="5E6E83"/>
            </a:solidFill>
            <a:prstDash val="solid"/>
            <a:headEnd type="none"/>
            <a:tailEnd type="none"/>
          </a:ln>
        </p:spPr>
      </p:sp>
      <p:sp>
        <p:nvSpPr>
          <p:cNvPr id="248" name="Shape 241"/>
          <p:cNvSpPr/>
          <p:nvPr/>
        </p:nvSpPr>
        <p:spPr>
          <a:xfrm rot="10800000">
            <a:off x="11757660" y="7198360"/>
            <a:ext cx="1348105" cy="635"/>
          </a:xfrm>
          <a:prstGeom prst="line">
            <a:avLst/>
          </a:prstGeom>
          <a:noFill/>
          <a:ln w="10160">
            <a:solidFill>
              <a:srgbClr val="5E6E83"/>
            </a:solidFill>
            <a:prstDash val="solid"/>
            <a:headEnd type="none"/>
            <a:tailEnd type="triangle"/>
          </a:ln>
        </p:spPr>
      </p:sp>
      <p:sp>
        <p:nvSpPr>
          <p:cNvPr id="356" name="Shape 341"/>
          <p:cNvSpPr/>
          <p:nvPr/>
        </p:nvSpPr>
        <p:spPr>
          <a:xfrm>
            <a:off x="3979545" y="4527550"/>
            <a:ext cx="365760" cy="0"/>
          </a:xfrm>
          <a:prstGeom prst="line">
            <a:avLst/>
          </a:prstGeom>
          <a:noFill/>
          <a:ln w="10160">
            <a:solidFill>
              <a:srgbClr val="A7B4C5"/>
            </a:solidFill>
            <a:prstDash val="solid"/>
            <a:headEnd type="triangle"/>
            <a:tailEnd type="triangle"/>
          </a:ln>
        </p:spPr>
      </p:sp>
      <p:sp>
        <p:nvSpPr>
          <p:cNvPr id="357" name="Text 342"/>
          <p:cNvSpPr/>
          <p:nvPr/>
        </p:nvSpPr>
        <p:spPr>
          <a:xfrm>
            <a:off x="4464177" y="4463542"/>
            <a:ext cx="1417320" cy="164592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C2C4A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: Similarity/Alignment</a:t>
            </a:r>
            <a:endParaRPr lang="en-US" sz="1000" dirty="0">
              <a:latin typeface="Chalkboard" panose="03050602040202020205" charset="0"/>
              <a:cs typeface="Chalkboard" panose="03050602040202020205" charset="0"/>
            </a:endParaRPr>
          </a:p>
        </p:txBody>
      </p:sp>
      <p:pic>
        <p:nvPicPr>
          <p:cNvPr id="358" name="334E55B0-647D-440b-865C-3EC943EB4CBC-7" descr="/Users/wwwsaidthat/Library/Containers/com.kingsoft.wpsoffice.mac/Data/tmp/wpsoffice.YIlSTtwpsoffic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12355" y="6965315"/>
            <a:ext cx="4149725" cy="637540"/>
          </a:xfrm>
          <a:prstGeom prst="rect">
            <a:avLst/>
          </a:prstGeom>
        </p:spPr>
      </p:pic>
      <p:sp>
        <p:nvSpPr>
          <p:cNvPr id="526" name="Text 5"/>
          <p:cNvSpPr/>
          <p:nvPr/>
        </p:nvSpPr>
        <p:spPr>
          <a:xfrm>
            <a:off x="6678930" y="1098550"/>
            <a:ext cx="1459230" cy="25654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Small-d Prefix  </a:t>
            </a:r>
            <a:endParaRPr lang="en-US" sz="1400" b="1" dirty="0">
              <a:solidFill>
                <a:srgbClr val="1F293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527" name="Text 65"/>
          <p:cNvSpPr/>
          <p:nvPr/>
        </p:nvSpPr>
        <p:spPr>
          <a:xfrm>
            <a:off x="9345930" y="1098550"/>
            <a:ext cx="1325880" cy="24384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Large-d Prefix  </a:t>
            </a:r>
            <a:endParaRPr lang="en-US" sz="1400" b="1" dirty="0">
              <a:solidFill>
                <a:srgbClr val="1F293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pic>
        <p:nvPicPr>
          <p:cNvPr id="528" name="334E55B0-647D-440b-865C-3EC943EB4CBC-6" descr="wpsoffic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2575" y="1183640"/>
            <a:ext cx="235585" cy="118745"/>
          </a:xfrm>
          <a:prstGeom prst="rect">
            <a:avLst/>
          </a:prstGeom>
        </p:spPr>
      </p:pic>
      <p:pic>
        <p:nvPicPr>
          <p:cNvPr id="529" name="334E55B0-647D-440b-865C-3EC943EB4CBC-5" descr="wpsoffic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1810" y="1161415"/>
            <a:ext cx="100330" cy="118745"/>
          </a:xfrm>
          <a:prstGeom prst="rect">
            <a:avLst/>
          </a:prstGeom>
        </p:spPr>
      </p:pic>
      <p:sp>
        <p:nvSpPr>
          <p:cNvPr id="530" name="Shape 24"/>
          <p:cNvSpPr/>
          <p:nvPr/>
        </p:nvSpPr>
        <p:spPr>
          <a:xfrm>
            <a:off x="6678930" y="1779905"/>
            <a:ext cx="1979930" cy="548005"/>
          </a:xfrm>
          <a:prstGeom prst="roundRect">
            <a:avLst>
              <a:gd name="adj" fmla="val 9412"/>
            </a:avLst>
          </a:prstGeom>
          <a:solidFill>
            <a:srgbClr val="FFFFFF">
              <a:alpha val="0"/>
            </a:srgbClr>
          </a:solidFill>
          <a:ln w="13970">
            <a:solidFill>
              <a:srgbClr val="3B82F6"/>
            </a:solidFill>
            <a:prstDash val="solid"/>
          </a:ln>
        </p:spPr>
      </p:sp>
      <p:sp>
        <p:nvSpPr>
          <p:cNvPr id="531" name="Text 25"/>
          <p:cNvSpPr/>
          <p:nvPr/>
        </p:nvSpPr>
        <p:spPr>
          <a:xfrm>
            <a:off x="6718300" y="1482725"/>
            <a:ext cx="1710690" cy="18669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Representation Capacity</a:t>
            </a:r>
            <a:endParaRPr lang="en-US" sz="1200" b="1" dirty="0">
              <a:solidFill>
                <a:schemeClr val="tx1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532" name="Shape 26"/>
          <p:cNvSpPr/>
          <p:nvPr/>
        </p:nvSpPr>
        <p:spPr>
          <a:xfrm>
            <a:off x="6722745" y="1853565"/>
            <a:ext cx="1295400" cy="427355"/>
          </a:xfrm>
          <a:prstGeom prst="rect">
            <a:avLst/>
          </a:prstGeom>
          <a:solidFill>
            <a:srgbClr val="AEE5B7"/>
          </a:solidFill>
          <a:ln w="11430">
            <a:solidFill>
              <a:srgbClr val="1F2937"/>
            </a:solidFill>
            <a:prstDash val="solid"/>
          </a:ln>
        </p:spPr>
      </p:sp>
      <p:sp>
        <p:nvSpPr>
          <p:cNvPr id="533" name="Shape 27"/>
          <p:cNvSpPr/>
          <p:nvPr/>
        </p:nvSpPr>
        <p:spPr>
          <a:xfrm>
            <a:off x="8018145" y="1853565"/>
            <a:ext cx="570865" cy="427990"/>
          </a:xfrm>
          <a:prstGeom prst="rect">
            <a:avLst/>
          </a:prstGeom>
          <a:solidFill>
            <a:srgbClr val="F7A3B4"/>
          </a:solidFill>
          <a:ln w="11430">
            <a:solidFill>
              <a:srgbClr val="1F2937"/>
            </a:solidFill>
            <a:prstDash val="solid"/>
          </a:ln>
        </p:spPr>
      </p:sp>
      <p:sp>
        <p:nvSpPr>
          <p:cNvPr id="534" name="Text 28"/>
          <p:cNvSpPr/>
          <p:nvPr/>
        </p:nvSpPr>
        <p:spPr>
          <a:xfrm>
            <a:off x="6788785" y="2011045"/>
            <a:ext cx="1176020" cy="76200"/>
          </a:xfrm>
          <a:prstGeom prst="rect">
            <a:avLst/>
          </a:prstGeom>
          <a:noFill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Capacity Used</a:t>
            </a:r>
            <a:endParaRPr lang="en-US" sz="1200" dirty="0">
              <a:solidFill>
                <a:srgbClr val="1F293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535" name="Text 29"/>
          <p:cNvSpPr/>
          <p:nvPr/>
        </p:nvSpPr>
        <p:spPr>
          <a:xfrm>
            <a:off x="8049260" y="2015490"/>
            <a:ext cx="539115" cy="76200"/>
          </a:xfrm>
          <a:prstGeom prst="rect">
            <a:avLst/>
          </a:prstGeom>
          <a:noFill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Limited</a:t>
            </a:r>
            <a:endParaRPr lang="en-US" sz="1200" dirty="0">
              <a:solidFill>
                <a:srgbClr val="1F293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536" name="Shape 30"/>
          <p:cNvSpPr/>
          <p:nvPr/>
        </p:nvSpPr>
        <p:spPr>
          <a:xfrm>
            <a:off x="6678930" y="2912745"/>
            <a:ext cx="1995170" cy="766445"/>
          </a:xfrm>
          <a:prstGeom prst="roundRect">
            <a:avLst>
              <a:gd name="adj" fmla="val 6250"/>
            </a:avLst>
          </a:prstGeom>
          <a:solidFill>
            <a:srgbClr val="FFFFFF">
              <a:alpha val="0"/>
            </a:srgbClr>
          </a:solidFill>
          <a:ln w="13970">
            <a:solidFill>
              <a:srgbClr val="3B82F6"/>
            </a:solidFill>
            <a:prstDash val="solid"/>
          </a:ln>
        </p:spPr>
      </p:sp>
      <p:sp>
        <p:nvSpPr>
          <p:cNvPr id="537" name="Text 31"/>
          <p:cNvSpPr/>
          <p:nvPr/>
        </p:nvSpPr>
        <p:spPr>
          <a:xfrm>
            <a:off x="6317615" y="2570480"/>
            <a:ext cx="2675255" cy="93345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Node Difficulty (by confusion)</a:t>
            </a:r>
            <a:endParaRPr lang="en-US" sz="1200" b="1" dirty="0">
              <a:solidFill>
                <a:schemeClr val="tx1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538" name="Text 32"/>
          <p:cNvSpPr/>
          <p:nvPr/>
        </p:nvSpPr>
        <p:spPr>
          <a:xfrm>
            <a:off x="6802120" y="3227070"/>
            <a:ext cx="245745" cy="86995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v₁</a:t>
            </a:r>
            <a:endParaRPr lang="en-US" sz="1000" dirty="0">
              <a:solidFill>
                <a:srgbClr val="1F293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539" name="Shape 33"/>
          <p:cNvSpPr/>
          <p:nvPr/>
        </p:nvSpPr>
        <p:spPr>
          <a:xfrm>
            <a:off x="6791325" y="3007995"/>
            <a:ext cx="155575" cy="146050"/>
          </a:xfrm>
          <a:prstGeom prst="ellipse">
            <a:avLst/>
          </a:prstGeom>
          <a:solidFill>
            <a:srgbClr val="CDEFD3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0" name="Text 34"/>
          <p:cNvSpPr/>
          <p:nvPr/>
        </p:nvSpPr>
        <p:spPr>
          <a:xfrm>
            <a:off x="6703060" y="3387725"/>
            <a:ext cx="368935" cy="97155"/>
          </a:xfrm>
          <a:prstGeom prst="rect">
            <a:avLst/>
          </a:prstGeom>
          <a:noFill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easy</a:t>
            </a:r>
            <a:endParaRPr lang="en-US" sz="1000" dirty="0">
              <a:solidFill>
                <a:srgbClr val="1F293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545" name="Shape 39"/>
          <p:cNvSpPr/>
          <p:nvPr/>
        </p:nvSpPr>
        <p:spPr>
          <a:xfrm>
            <a:off x="7447280" y="3013075"/>
            <a:ext cx="160020" cy="146685"/>
          </a:xfrm>
          <a:prstGeom prst="ellipse">
            <a:avLst/>
          </a:prstGeom>
          <a:solidFill>
            <a:srgbClr val="FFE48A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6" name="Text 40"/>
          <p:cNvSpPr/>
          <p:nvPr/>
        </p:nvSpPr>
        <p:spPr>
          <a:xfrm>
            <a:off x="7311390" y="3398520"/>
            <a:ext cx="419735" cy="97155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algn="ctr">
              <a:buClrTx/>
              <a:buSzTx/>
              <a:buFontTx/>
              <a:buNone/>
            </a:pPr>
            <a:r>
              <a:rPr lang="en-US" sz="8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medium</a:t>
            </a:r>
            <a:endParaRPr lang="en-US" sz="800" dirty="0">
              <a:solidFill>
                <a:srgbClr val="1F293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547" name="Text 41"/>
          <p:cNvSpPr/>
          <p:nvPr/>
        </p:nvSpPr>
        <p:spPr>
          <a:xfrm>
            <a:off x="7763510" y="3226435"/>
            <a:ext cx="245745" cy="86995"/>
          </a:xfrm>
          <a:prstGeom prst="rect">
            <a:avLst/>
          </a:prstGeom>
          <a:noFill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v₄</a:t>
            </a:r>
            <a:endParaRPr lang="en-US" sz="1000" dirty="0">
              <a:solidFill>
                <a:srgbClr val="1F293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548" name="Shape 42"/>
          <p:cNvSpPr/>
          <p:nvPr/>
        </p:nvSpPr>
        <p:spPr>
          <a:xfrm flipH="1">
            <a:off x="7756525" y="3010535"/>
            <a:ext cx="155575" cy="156845"/>
          </a:xfrm>
          <a:prstGeom prst="ellipse">
            <a:avLst/>
          </a:prstGeom>
          <a:solidFill>
            <a:srgbClr val="F7A3B4"/>
          </a:solidFill>
          <a:ln w="12700">
            <a:solidFill>
              <a:srgbClr val="1F2937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549" name="Text 43"/>
          <p:cNvSpPr/>
          <p:nvPr/>
        </p:nvSpPr>
        <p:spPr>
          <a:xfrm>
            <a:off x="7729855" y="3402965"/>
            <a:ext cx="245745" cy="97155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FF0000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hard</a:t>
            </a:r>
            <a:endParaRPr lang="en-US" sz="700" dirty="0">
              <a:solidFill>
                <a:srgbClr val="FF0000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550" name="Text 44"/>
          <p:cNvSpPr/>
          <p:nvPr/>
        </p:nvSpPr>
        <p:spPr>
          <a:xfrm>
            <a:off x="8034020" y="3234055"/>
            <a:ext cx="245745" cy="86995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v₅</a:t>
            </a:r>
            <a:endParaRPr lang="en-US" sz="1000" dirty="0">
              <a:solidFill>
                <a:srgbClr val="1F293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560" name="Text 44"/>
          <p:cNvSpPr/>
          <p:nvPr/>
        </p:nvSpPr>
        <p:spPr>
          <a:xfrm>
            <a:off x="8381365" y="3245485"/>
            <a:ext cx="245745" cy="86995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v</a:t>
            </a:r>
            <a:r>
              <a:rPr lang="en-US" sz="1000" baseline="-250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n</a:t>
            </a:r>
            <a:endParaRPr lang="en-US" sz="1000" baseline="-25000" dirty="0">
              <a:solidFill>
                <a:srgbClr val="1F293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561" name="Text 44"/>
          <p:cNvSpPr/>
          <p:nvPr/>
        </p:nvSpPr>
        <p:spPr>
          <a:xfrm>
            <a:off x="8189595" y="3157220"/>
            <a:ext cx="245745" cy="26416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aseline="-25000" dirty="0">
                <a:solidFill>
                  <a:srgbClr val="1F2937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···</a:t>
            </a:r>
            <a:endParaRPr lang="en-US" sz="1000" baseline="-25000" dirty="0">
              <a:solidFill>
                <a:srgbClr val="1F2937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563" name="Text 34"/>
          <p:cNvSpPr/>
          <p:nvPr/>
        </p:nvSpPr>
        <p:spPr>
          <a:xfrm>
            <a:off x="7997825" y="3395345"/>
            <a:ext cx="245745" cy="97155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easy</a:t>
            </a:r>
            <a:endParaRPr lang="en-US" sz="800" dirty="0">
              <a:solidFill>
                <a:srgbClr val="1F293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564" name="Text 43"/>
          <p:cNvSpPr/>
          <p:nvPr/>
        </p:nvSpPr>
        <p:spPr>
          <a:xfrm>
            <a:off x="8411210" y="3417570"/>
            <a:ext cx="245745" cy="97155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FF0000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hard</a:t>
            </a:r>
            <a:endParaRPr lang="en-US" sz="800" dirty="0">
              <a:solidFill>
                <a:srgbClr val="FF0000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565" name="Shape 51"/>
          <p:cNvSpPr/>
          <p:nvPr/>
        </p:nvSpPr>
        <p:spPr>
          <a:xfrm>
            <a:off x="6715760" y="4122420"/>
            <a:ext cx="1997710" cy="467360"/>
          </a:xfrm>
          <a:prstGeom prst="roundRect">
            <a:avLst>
              <a:gd name="adj" fmla="val 9412"/>
            </a:avLst>
          </a:prstGeom>
          <a:solidFill>
            <a:srgbClr val="FFFFFF">
              <a:alpha val="0"/>
            </a:srgbClr>
          </a:solidFill>
          <a:ln w="13970">
            <a:solidFill>
              <a:srgbClr val="EF4444"/>
            </a:solidFill>
            <a:prstDash val="solid"/>
          </a:ln>
        </p:spPr>
      </p:sp>
      <p:sp>
        <p:nvSpPr>
          <p:cNvPr id="566" name="文本框 565"/>
          <p:cNvSpPr txBox="1"/>
          <p:nvPr/>
        </p:nvSpPr>
        <p:spPr>
          <a:xfrm>
            <a:off x="6518910" y="3766820"/>
            <a:ext cx="2387600" cy="21971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  <a:sym typeface="+mn-ea"/>
              </a:rPr>
              <a:t>Hard Samples Discovered</a:t>
            </a:r>
            <a:endParaRPr lang="en-US" altLang="en-US" sz="1400" b="1" dirty="0">
              <a:solidFill>
                <a:srgbClr val="DC2626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  <a:sym typeface="+mn-ea"/>
            </a:endParaRPr>
          </a:p>
        </p:txBody>
      </p:sp>
      <p:sp>
        <p:nvSpPr>
          <p:cNvPr id="570" name="Text 44"/>
          <p:cNvSpPr/>
          <p:nvPr/>
        </p:nvSpPr>
        <p:spPr>
          <a:xfrm>
            <a:off x="7932420" y="4283075"/>
            <a:ext cx="245745" cy="86995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 fontScale="80000"/>
          </a:bodyPr>
          <a:lstStyle/>
          <a:p>
            <a:pPr marL="0" indent="0" algn="ctr">
              <a:buNone/>
            </a:pPr>
            <a:r>
              <a:rPr lang="en-US" sz="1000" baseline="-25000" dirty="0">
                <a:solidFill>
                  <a:srgbClr val="1F2937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···</a:t>
            </a:r>
            <a:endParaRPr lang="en-US" sz="1000" baseline="-25000" dirty="0">
              <a:solidFill>
                <a:srgbClr val="1F2937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574" name="Shape 60"/>
          <p:cNvSpPr/>
          <p:nvPr/>
        </p:nvSpPr>
        <p:spPr>
          <a:xfrm>
            <a:off x="8243570" y="1301750"/>
            <a:ext cx="985520" cy="635"/>
          </a:xfrm>
          <a:prstGeom prst="line">
            <a:avLst/>
          </a:prstGeom>
          <a:noFill/>
          <a:ln w="35560">
            <a:solidFill>
              <a:srgbClr val="4F7DBB"/>
            </a:solidFill>
            <a:prstDash val="solid"/>
            <a:headEnd type="none"/>
            <a:tailEnd type="triangle"/>
          </a:ln>
        </p:spPr>
      </p:sp>
      <p:sp>
        <p:nvSpPr>
          <p:cNvPr id="575" name="Text 61"/>
          <p:cNvSpPr/>
          <p:nvPr/>
        </p:nvSpPr>
        <p:spPr>
          <a:xfrm>
            <a:off x="8121015" y="1098550"/>
            <a:ext cx="1090295" cy="14605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111827"/>
                </a:solidFill>
                <a:latin typeface="Chalkboard Regular" panose="03050602040202020205" charset="0"/>
                <a:ea typeface="Arial" panose="020B0604020202090204" pitchFamily="34" charset="-122"/>
                <a:cs typeface="Chalkboard Regular" panose="03050602040202020205" charset="0"/>
              </a:rPr>
              <a:t>Difficulty Evolution</a:t>
            </a:r>
            <a:endParaRPr lang="en-US" sz="800" dirty="0">
              <a:latin typeface="Chalkboard Regular" panose="03050602040202020205" charset="0"/>
              <a:cs typeface="Chalkboard Regular" panose="03050602040202020205" charset="0"/>
            </a:endParaRPr>
          </a:p>
        </p:txBody>
      </p:sp>
      <p:sp>
        <p:nvSpPr>
          <p:cNvPr id="617" name="Shape 24"/>
          <p:cNvSpPr/>
          <p:nvPr/>
        </p:nvSpPr>
        <p:spPr>
          <a:xfrm>
            <a:off x="8927465" y="1778000"/>
            <a:ext cx="1982470" cy="527050"/>
          </a:xfrm>
          <a:prstGeom prst="roundRect">
            <a:avLst>
              <a:gd name="adj" fmla="val 9412"/>
            </a:avLst>
          </a:prstGeom>
          <a:solidFill>
            <a:srgbClr val="FFFFFF">
              <a:alpha val="0"/>
            </a:srgbClr>
          </a:solidFill>
          <a:ln w="13970">
            <a:solidFill>
              <a:srgbClr val="3B82F6"/>
            </a:solidFill>
            <a:prstDash val="solid"/>
          </a:ln>
        </p:spPr>
      </p:sp>
      <p:sp>
        <p:nvSpPr>
          <p:cNvPr id="618" name="Shape 30"/>
          <p:cNvSpPr/>
          <p:nvPr/>
        </p:nvSpPr>
        <p:spPr>
          <a:xfrm>
            <a:off x="8925560" y="2907665"/>
            <a:ext cx="2040255" cy="1666875"/>
          </a:xfrm>
          <a:prstGeom prst="roundRect">
            <a:avLst>
              <a:gd name="adj" fmla="val 6250"/>
            </a:avLst>
          </a:prstGeom>
          <a:solidFill>
            <a:srgbClr val="FFFFFF">
              <a:alpha val="0"/>
            </a:srgbClr>
          </a:solidFill>
          <a:ln w="13970">
            <a:solidFill>
              <a:srgbClr val="3B82F6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20" name="Shape 26"/>
          <p:cNvSpPr/>
          <p:nvPr/>
        </p:nvSpPr>
        <p:spPr>
          <a:xfrm>
            <a:off x="8970010" y="1844040"/>
            <a:ext cx="1268730" cy="414655"/>
          </a:xfrm>
          <a:prstGeom prst="rect">
            <a:avLst/>
          </a:prstGeom>
          <a:solidFill>
            <a:srgbClr val="AEE5B7"/>
          </a:solidFill>
          <a:ln w="11430">
            <a:solidFill>
              <a:srgbClr val="1F2937"/>
            </a:solidFill>
            <a:prstDash val="solid"/>
          </a:ln>
        </p:spPr>
      </p:sp>
      <p:sp>
        <p:nvSpPr>
          <p:cNvPr id="622" name="Text 96"/>
          <p:cNvSpPr/>
          <p:nvPr/>
        </p:nvSpPr>
        <p:spPr>
          <a:xfrm>
            <a:off x="9004173" y="1945005"/>
            <a:ext cx="1234440" cy="146304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algn="ctr">
              <a:buClrTx/>
              <a:buSzTx/>
              <a:buFontTx/>
              <a:buNone/>
            </a:pPr>
            <a:r>
              <a:rPr lang="en-US" sz="12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Previous Capacity</a:t>
            </a:r>
            <a:endParaRPr lang="en-US" sz="1200" dirty="0">
              <a:solidFill>
                <a:srgbClr val="1F293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623" name="Shape 95"/>
          <p:cNvSpPr/>
          <p:nvPr/>
        </p:nvSpPr>
        <p:spPr>
          <a:xfrm>
            <a:off x="10238740" y="1844040"/>
            <a:ext cx="637540" cy="414020"/>
          </a:xfrm>
          <a:prstGeom prst="rect">
            <a:avLst/>
          </a:prstGeom>
          <a:solidFill>
            <a:srgbClr val="D9C8F8"/>
          </a:solidFill>
          <a:ln w="11430">
            <a:solidFill>
              <a:srgbClr val="1F2937"/>
            </a:solidFill>
            <a:prstDash val="solid"/>
          </a:ln>
        </p:spPr>
      </p:sp>
      <p:sp>
        <p:nvSpPr>
          <p:cNvPr id="625" name="文本框 624"/>
          <p:cNvSpPr txBox="1"/>
          <p:nvPr/>
        </p:nvSpPr>
        <p:spPr>
          <a:xfrm>
            <a:off x="10031095" y="1814830"/>
            <a:ext cx="1037590" cy="6375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  <a:sym typeface="+mn-ea"/>
              </a:rPr>
              <a:t>Extra </a:t>
            </a:r>
            <a:endParaRPr lang="en-US" sz="1200" dirty="0">
              <a:solidFill>
                <a:srgbClr val="1F293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  <a:sym typeface="+mn-ea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  <a:sym typeface="+mn-ea"/>
              </a:rPr>
              <a:t>Capacity</a:t>
            </a:r>
            <a:endParaRPr lang="en-US" altLang="en-US" sz="1200" dirty="0">
              <a:solidFill>
                <a:srgbClr val="1F293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  <a:sym typeface="+mn-ea"/>
            </a:endParaRPr>
          </a:p>
        </p:txBody>
      </p:sp>
      <p:sp>
        <p:nvSpPr>
          <p:cNvPr id="626" name="Text 100"/>
          <p:cNvSpPr/>
          <p:nvPr/>
        </p:nvSpPr>
        <p:spPr>
          <a:xfrm>
            <a:off x="8778875" y="2494280"/>
            <a:ext cx="2496185" cy="32512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algn="ctr">
              <a:buClrTx/>
              <a:buSzTx/>
              <a:buFontTx/>
              <a:buNone/>
            </a:pPr>
            <a:r>
              <a:rPr lang="en-US" sz="1400" b="1" dirty="0">
                <a:solidFill>
                  <a:schemeClr val="tx1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Focus on Hard Samples</a:t>
            </a:r>
            <a:endParaRPr lang="en-US" sz="1400" b="1" dirty="0">
              <a:solidFill>
                <a:schemeClr val="tx1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634" name="Text 114"/>
          <p:cNvSpPr/>
          <p:nvPr/>
        </p:nvSpPr>
        <p:spPr>
          <a:xfrm>
            <a:off x="9117330" y="3580765"/>
            <a:ext cx="125730" cy="13081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A3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✓</a:t>
            </a:r>
            <a:endParaRPr lang="en-US" sz="1500" b="1" dirty="0">
              <a:solidFill>
                <a:srgbClr val="16A34A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636" name="Text 114"/>
          <p:cNvSpPr/>
          <p:nvPr/>
        </p:nvSpPr>
        <p:spPr>
          <a:xfrm>
            <a:off x="9252585" y="4133215"/>
            <a:ext cx="125730" cy="12319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 fontScale="50000"/>
          </a:bodyPr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637" name="Text 114"/>
          <p:cNvSpPr/>
          <p:nvPr/>
        </p:nvSpPr>
        <p:spPr>
          <a:xfrm>
            <a:off x="10263505" y="3590925"/>
            <a:ext cx="125730" cy="12319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 fontScale="50000"/>
          </a:bodyPr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642" name="Shape 122"/>
          <p:cNvSpPr/>
          <p:nvPr/>
        </p:nvSpPr>
        <p:spPr>
          <a:xfrm>
            <a:off x="10068560" y="3583940"/>
            <a:ext cx="143510" cy="132715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643" name="Shape 123"/>
          <p:cNvSpPr/>
          <p:nvPr/>
        </p:nvSpPr>
        <p:spPr>
          <a:xfrm>
            <a:off x="10100310" y="3611245"/>
            <a:ext cx="82550" cy="76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44" name="Shape 125"/>
          <p:cNvSpPr/>
          <p:nvPr/>
        </p:nvSpPr>
        <p:spPr>
          <a:xfrm>
            <a:off x="10041890" y="3648710"/>
            <a:ext cx="201295" cy="127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headEnd type="none"/>
            <a:tailEnd type="none"/>
          </a:ln>
        </p:spPr>
      </p:sp>
      <p:sp>
        <p:nvSpPr>
          <p:cNvPr id="645" name="Shape 119"/>
          <p:cNvSpPr/>
          <p:nvPr/>
        </p:nvSpPr>
        <p:spPr>
          <a:xfrm>
            <a:off x="10138410" y="3548380"/>
            <a:ext cx="1270" cy="208915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headEnd type="none"/>
            <a:tailEnd type="none"/>
          </a:ln>
        </p:spPr>
      </p:sp>
      <p:sp>
        <p:nvSpPr>
          <p:cNvPr id="646" name="Shape 122"/>
          <p:cNvSpPr/>
          <p:nvPr/>
        </p:nvSpPr>
        <p:spPr>
          <a:xfrm>
            <a:off x="10746740" y="3590290"/>
            <a:ext cx="143510" cy="132715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647" name="Shape 123"/>
          <p:cNvSpPr/>
          <p:nvPr/>
        </p:nvSpPr>
        <p:spPr>
          <a:xfrm>
            <a:off x="10778490" y="3617595"/>
            <a:ext cx="82550" cy="76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48" name="Shape 125"/>
          <p:cNvSpPr/>
          <p:nvPr/>
        </p:nvSpPr>
        <p:spPr>
          <a:xfrm>
            <a:off x="10720070" y="3655060"/>
            <a:ext cx="201295" cy="127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headEnd type="none"/>
            <a:tailEnd type="none"/>
          </a:ln>
        </p:spPr>
      </p:sp>
      <p:sp>
        <p:nvSpPr>
          <p:cNvPr id="649" name="Shape 119"/>
          <p:cNvSpPr/>
          <p:nvPr/>
        </p:nvSpPr>
        <p:spPr>
          <a:xfrm>
            <a:off x="10816590" y="3554730"/>
            <a:ext cx="1270" cy="208915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headEnd type="none"/>
            <a:tailEnd type="none"/>
          </a:ln>
        </p:spPr>
      </p:sp>
      <p:sp>
        <p:nvSpPr>
          <p:cNvPr id="650" name="Shape 126"/>
          <p:cNvSpPr/>
          <p:nvPr/>
        </p:nvSpPr>
        <p:spPr>
          <a:xfrm>
            <a:off x="10143490" y="4014470"/>
            <a:ext cx="682625" cy="635"/>
          </a:xfrm>
          <a:prstGeom prst="line">
            <a:avLst/>
          </a:prstGeom>
          <a:noFill/>
          <a:ln w="13970">
            <a:solidFill>
              <a:srgbClr val="6D3DB8"/>
            </a:solidFill>
            <a:prstDash val="solid"/>
            <a:headEnd type="none"/>
            <a:tailEnd type="none"/>
          </a:ln>
        </p:spPr>
      </p:sp>
      <p:sp>
        <p:nvSpPr>
          <p:cNvPr id="651" name="Shape 127"/>
          <p:cNvSpPr/>
          <p:nvPr/>
        </p:nvSpPr>
        <p:spPr>
          <a:xfrm>
            <a:off x="10139045" y="3794760"/>
            <a:ext cx="1270" cy="220345"/>
          </a:xfrm>
          <a:prstGeom prst="line">
            <a:avLst/>
          </a:prstGeom>
          <a:noFill/>
          <a:ln w="13970">
            <a:solidFill>
              <a:srgbClr val="6D3DB8"/>
            </a:solidFill>
            <a:prstDash val="solid"/>
            <a:headEnd type="none"/>
            <a:tailEnd type="none"/>
          </a:ln>
        </p:spPr>
      </p:sp>
      <p:sp>
        <p:nvSpPr>
          <p:cNvPr id="652" name="Shape 128"/>
          <p:cNvSpPr/>
          <p:nvPr/>
        </p:nvSpPr>
        <p:spPr>
          <a:xfrm>
            <a:off x="10816590" y="3794760"/>
            <a:ext cx="635" cy="217805"/>
          </a:xfrm>
          <a:prstGeom prst="line">
            <a:avLst/>
          </a:prstGeom>
          <a:noFill/>
          <a:ln w="13970">
            <a:solidFill>
              <a:srgbClr val="6D3DB8"/>
            </a:solidFill>
            <a:prstDash val="solid"/>
            <a:headEnd type="none"/>
            <a:tailEnd type="none"/>
          </a:ln>
        </p:spPr>
      </p:sp>
      <p:sp>
        <p:nvSpPr>
          <p:cNvPr id="653" name="Text 129"/>
          <p:cNvSpPr/>
          <p:nvPr/>
        </p:nvSpPr>
        <p:spPr>
          <a:xfrm>
            <a:off x="9410700" y="4279900"/>
            <a:ext cx="1508760" cy="201295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D3DB8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More optimization focus : </a:t>
            </a:r>
            <a:br>
              <a:rPr lang="en-US" sz="1000" dirty="0">
                <a:solidFill>
                  <a:srgbClr val="6D3DB8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</a:br>
            <a:r>
              <a:rPr lang="en-US" sz="1000" dirty="0">
                <a:solidFill>
                  <a:srgbClr val="6D3DB8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Higher Weight</a:t>
            </a:r>
            <a:endParaRPr lang="en-US" sz="1000" dirty="0">
              <a:solidFill>
                <a:srgbClr val="6D3DB8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pic>
        <p:nvPicPr>
          <p:cNvPr id="818" name="334E55B0-647D-440b-865C-3EC943EB4CBC-4" descr="wpsoffic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18035" y="944245"/>
            <a:ext cx="1580515" cy="515620"/>
          </a:xfrm>
          <a:prstGeom prst="rect">
            <a:avLst/>
          </a:prstGeom>
        </p:spPr>
      </p:pic>
      <p:sp>
        <p:nvSpPr>
          <p:cNvPr id="822" name="Shape 64"/>
          <p:cNvSpPr/>
          <p:nvPr/>
        </p:nvSpPr>
        <p:spPr>
          <a:xfrm>
            <a:off x="11562080" y="2033905"/>
            <a:ext cx="3007360" cy="254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823" name="Shape 65"/>
          <p:cNvSpPr/>
          <p:nvPr/>
        </p:nvSpPr>
        <p:spPr>
          <a:xfrm>
            <a:off x="11374755" y="1856740"/>
            <a:ext cx="393700" cy="393700"/>
          </a:xfrm>
          <a:prstGeom prst="ellipse">
            <a:avLst/>
          </a:prstGeom>
          <a:solidFill>
            <a:srgbClr val="FFF3C4"/>
          </a:solidFill>
          <a:ln w="12700">
            <a:solidFill>
              <a:srgbClr val="E3A008"/>
            </a:solidFill>
            <a:prstDash val="solid"/>
          </a:ln>
        </p:spPr>
      </p:sp>
      <p:sp>
        <p:nvSpPr>
          <p:cNvPr id="824" name="Text 66"/>
          <p:cNvSpPr/>
          <p:nvPr/>
        </p:nvSpPr>
        <p:spPr>
          <a:xfrm>
            <a:off x="11423015" y="1866900"/>
            <a:ext cx="368300" cy="383540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1182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α₁</a:t>
            </a:r>
            <a:endParaRPr lang="en-US" sz="1400" dirty="0">
              <a:solidFill>
                <a:srgbClr val="11182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825" name="Shape 67"/>
          <p:cNvSpPr/>
          <p:nvPr/>
        </p:nvSpPr>
        <p:spPr>
          <a:xfrm>
            <a:off x="11945620" y="1773555"/>
            <a:ext cx="532130" cy="564515"/>
          </a:xfrm>
          <a:prstGeom prst="ellipse">
            <a:avLst/>
          </a:prstGeom>
          <a:solidFill>
            <a:srgbClr val="FED7AA"/>
          </a:solidFill>
          <a:ln w="12700">
            <a:solidFill>
              <a:srgbClr val="E3A008"/>
            </a:solidFill>
            <a:prstDash val="solid"/>
          </a:ln>
        </p:spPr>
      </p:sp>
      <p:sp>
        <p:nvSpPr>
          <p:cNvPr id="826" name="Text 68"/>
          <p:cNvSpPr/>
          <p:nvPr/>
        </p:nvSpPr>
        <p:spPr>
          <a:xfrm>
            <a:off x="11998325" y="1903730"/>
            <a:ext cx="637540" cy="241935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1182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α₂</a:t>
            </a:r>
            <a:endParaRPr lang="en-US" sz="2000" dirty="0">
              <a:solidFill>
                <a:srgbClr val="11182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827" name="Shape 69"/>
          <p:cNvSpPr/>
          <p:nvPr/>
        </p:nvSpPr>
        <p:spPr>
          <a:xfrm>
            <a:off x="12600305" y="1644650"/>
            <a:ext cx="652145" cy="732790"/>
          </a:xfrm>
          <a:prstGeom prst="ellipse">
            <a:avLst/>
          </a:prstGeom>
          <a:solidFill>
            <a:srgbClr val="FDBA74"/>
          </a:solidFill>
          <a:ln w="12700">
            <a:solidFill>
              <a:srgbClr val="E3A008"/>
            </a:solidFill>
            <a:prstDash val="solid"/>
          </a:ln>
        </p:spPr>
      </p:sp>
      <p:sp>
        <p:nvSpPr>
          <p:cNvPr id="828" name="Text 70"/>
          <p:cNvSpPr/>
          <p:nvPr/>
        </p:nvSpPr>
        <p:spPr>
          <a:xfrm>
            <a:off x="12814300" y="1903730"/>
            <a:ext cx="283845" cy="27051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rgbClr val="11182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αᵢ</a:t>
            </a:r>
            <a:endParaRPr lang="en-US" sz="2800" dirty="0">
              <a:solidFill>
                <a:srgbClr val="11182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830" name="Shape 72"/>
          <p:cNvSpPr/>
          <p:nvPr/>
        </p:nvSpPr>
        <p:spPr>
          <a:xfrm>
            <a:off x="13400405" y="1487170"/>
            <a:ext cx="934085" cy="100711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E3A008"/>
            </a:solidFill>
            <a:prstDash val="solid"/>
          </a:ln>
        </p:spPr>
      </p:sp>
      <p:sp>
        <p:nvSpPr>
          <p:cNvPr id="831" name="Text 73"/>
          <p:cNvSpPr/>
          <p:nvPr/>
        </p:nvSpPr>
        <p:spPr>
          <a:xfrm>
            <a:off x="13537565" y="1866900"/>
            <a:ext cx="685800" cy="319405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Autofit/>
          </a:bodyPr>
          <a:lstStyle/>
          <a:p>
            <a:pPr marL="0" indent="0" algn="ctr">
              <a:buNone/>
            </a:pPr>
            <a:r>
              <a:rPr lang="en-US" sz="4000" i="1" dirty="0">
                <a:solidFill>
                  <a:srgbClr val="111827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α</a:t>
            </a:r>
            <a:r>
              <a:rPr lang="en-US" sz="4000" i="1" baseline="-25000" dirty="0">
                <a:solidFill>
                  <a:srgbClr val="111827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k</a:t>
            </a:r>
            <a:endParaRPr lang="en-US" sz="4000" i="1" baseline="-25000" dirty="0">
              <a:solidFill>
                <a:srgbClr val="111827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832" name="Text 78"/>
          <p:cNvSpPr/>
          <p:nvPr/>
        </p:nvSpPr>
        <p:spPr>
          <a:xfrm>
            <a:off x="11598910" y="2874010"/>
            <a:ext cx="2879725" cy="31242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Autofit/>
          </a:bodyPr>
          <a:lstStyle/>
          <a:p>
            <a:pPr marL="0" algn="ctr">
              <a:buClrTx/>
              <a:buSzTx/>
              <a:buNone/>
            </a:pPr>
            <a:r>
              <a:rPr lang="en-US" sz="1400" dirty="0">
                <a:solidFill>
                  <a:schemeClr val="tx1"/>
                </a:solidFill>
                <a:latin typeface="Chalkboard Regular" panose="03050602040202020205" charset="0"/>
                <a:ea typeface="Arial" panose="020B0604020202090204" pitchFamily="34" charset="-122"/>
                <a:cs typeface="Chalkboard Regular" panose="03050602040202020205" charset="0"/>
              </a:rPr>
              <a:t>Weights increase with dimension:</a:t>
            </a:r>
            <a:br>
              <a:rPr lang="en-US" sz="1400" dirty="0">
                <a:solidFill>
                  <a:schemeClr val="tx1"/>
                </a:solidFill>
                <a:latin typeface="Chalkboard Regular" panose="03050602040202020205" charset="0"/>
                <a:ea typeface="Arial" panose="020B0604020202090204" pitchFamily="34" charset="-122"/>
                <a:cs typeface="Chalkboard Regular" panose="03050602040202020205" charset="0"/>
              </a:rPr>
            </a:br>
            <a:r>
              <a:rPr lang="en-US" sz="1400" dirty="0">
                <a:solidFill>
                  <a:schemeClr val="tx1"/>
                </a:solidFill>
                <a:latin typeface="Chalkboard Regular" panose="03050602040202020205" charset="0"/>
                <a:ea typeface="Arial" panose="020B0604020202090204" pitchFamily="34" charset="-122"/>
                <a:cs typeface="Chalkboard Regular" panose="03050602040202020205" charset="0"/>
              </a:rPr>
              <a:t>   α₁ &lt; α₂ &lt; ··· &lt; αᵢ &lt; ··· &lt; α</a:t>
            </a:r>
            <a:r>
              <a:rPr lang="en-US" sz="1400" baseline="-25000" dirty="0">
                <a:solidFill>
                  <a:schemeClr val="tx1"/>
                </a:solidFill>
                <a:latin typeface="Chalkboard Regular" panose="03050602040202020205" charset="0"/>
                <a:ea typeface="Arial" panose="020B0604020202090204" pitchFamily="34" charset="-122"/>
                <a:cs typeface="Chalkboard Regular" panose="03050602040202020205" charset="0"/>
              </a:rPr>
              <a:t>k</a:t>
            </a:r>
            <a:endParaRPr lang="en-US" sz="1400" baseline="-25000" dirty="0">
              <a:solidFill>
                <a:schemeClr val="tx1"/>
              </a:solidFill>
              <a:latin typeface="Chalkboard Regular" panose="03050602040202020205" charset="0"/>
              <a:ea typeface="Arial" panose="020B0604020202090204" pitchFamily="34" charset="-122"/>
              <a:cs typeface="Chalkboard Regular" panose="03050602040202020205" charset="0"/>
            </a:endParaRPr>
          </a:p>
        </p:txBody>
      </p:sp>
      <p:sp>
        <p:nvSpPr>
          <p:cNvPr id="845" name="Text 80"/>
          <p:cNvSpPr/>
          <p:nvPr/>
        </p:nvSpPr>
        <p:spPr>
          <a:xfrm>
            <a:off x="11423015" y="3432175"/>
            <a:ext cx="3159125" cy="367665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Autofit/>
          </a:bodyPr>
          <a:lstStyle/>
          <a:p>
            <a:pPr marL="0" algn="ctr">
              <a:buClrTx/>
              <a:buSzTx/>
              <a:buNone/>
            </a:pPr>
            <a:r>
              <a:rPr lang="en-US" sz="1400" b="1" dirty="0">
                <a:solidFill>
                  <a:srgbClr val="1C2C4A"/>
                </a:solidFill>
                <a:latin typeface="Chalkboard SE Regular" panose="03050602040202020205" charset="0"/>
                <a:ea typeface="Arial" panose="020B0604020202090204" pitchFamily="34" charset="-122"/>
                <a:cs typeface="Chalkboard SE Regular" panose="03050602040202020205" charset="0"/>
              </a:rPr>
              <a:t>Weighted HPEM Loss Aggregation</a:t>
            </a:r>
            <a:endParaRPr lang="en-US" sz="1400" b="1" dirty="0">
              <a:solidFill>
                <a:srgbClr val="1C2C4A"/>
              </a:solidFill>
              <a:latin typeface="Chalkboard SE Regular" panose="03050602040202020205" charset="0"/>
              <a:ea typeface="Arial" panose="020B0604020202090204" pitchFamily="34" charset="-122"/>
              <a:cs typeface="Chalkboard SE Regular" panose="03050602040202020205" charset="0"/>
            </a:endParaRPr>
          </a:p>
        </p:txBody>
      </p:sp>
      <p:sp>
        <p:nvSpPr>
          <p:cNvPr id="846" name="Shape 81"/>
          <p:cNvSpPr/>
          <p:nvPr/>
        </p:nvSpPr>
        <p:spPr>
          <a:xfrm>
            <a:off x="11426190" y="3844925"/>
            <a:ext cx="734695" cy="278130"/>
          </a:xfrm>
          <a:prstGeom prst="roundRect">
            <a:avLst>
              <a:gd name="adj" fmla="val 18182"/>
            </a:avLst>
          </a:prstGeom>
          <a:solidFill>
            <a:srgbClr val="EAF4FF"/>
          </a:solidFill>
          <a:ln w="13970">
            <a:solidFill>
              <a:srgbClr val="93C5FD"/>
            </a:solidFill>
            <a:prstDash val="solid"/>
          </a:ln>
        </p:spPr>
      </p:sp>
      <p:sp>
        <p:nvSpPr>
          <p:cNvPr id="849" name="Text 86"/>
          <p:cNvSpPr/>
          <p:nvPr/>
        </p:nvSpPr>
        <p:spPr>
          <a:xfrm>
            <a:off x="13024485" y="3870325"/>
            <a:ext cx="826770" cy="193675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 fontScale="6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827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+  ···  +</a:t>
            </a:r>
            <a:endParaRPr lang="en-US" sz="1800" dirty="0"/>
          </a:p>
        </p:txBody>
      </p:sp>
      <p:sp>
        <p:nvSpPr>
          <p:cNvPr id="851" name="Text 89"/>
          <p:cNvSpPr/>
          <p:nvPr/>
        </p:nvSpPr>
        <p:spPr>
          <a:xfrm>
            <a:off x="18394045" y="2767965"/>
            <a:ext cx="826770" cy="193675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 fontScale="6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827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+  ···  +</a:t>
            </a:r>
            <a:endParaRPr lang="en-US" sz="1800" dirty="0"/>
          </a:p>
        </p:txBody>
      </p:sp>
      <p:sp>
        <p:nvSpPr>
          <p:cNvPr id="852" name="Shape 90"/>
          <p:cNvSpPr/>
          <p:nvPr/>
        </p:nvSpPr>
        <p:spPr>
          <a:xfrm>
            <a:off x="13735050" y="3855720"/>
            <a:ext cx="749935" cy="281305"/>
          </a:xfrm>
          <a:prstGeom prst="roundRect">
            <a:avLst>
              <a:gd name="adj" fmla="val 18182"/>
            </a:avLst>
          </a:prstGeom>
          <a:solidFill>
            <a:srgbClr val="FEE2E2"/>
          </a:solidFill>
          <a:ln w="13970">
            <a:solidFill>
              <a:srgbClr val="93C5FD"/>
            </a:solidFill>
            <a:prstDash val="solid"/>
          </a:ln>
        </p:spPr>
      </p:sp>
      <p:pic>
        <p:nvPicPr>
          <p:cNvPr id="853" name="334E55B0-647D-440b-865C-3EC943EB4CBC-3" descr="wpsoffic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56670" y="3912235"/>
            <a:ext cx="673100" cy="146050"/>
          </a:xfrm>
          <a:prstGeom prst="rect">
            <a:avLst/>
          </a:prstGeom>
        </p:spPr>
      </p:pic>
      <p:pic>
        <p:nvPicPr>
          <p:cNvPr id="854" name="334E55B0-647D-440b-865C-3EC943EB4CBC-2" descr="/Users/wwwsaidthat/Library/Containers/com.kingsoft.wpsoffice.mac/Data/tmp/wpsoffice.gDptyCwpsoffic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96645" y="3912235"/>
            <a:ext cx="638175" cy="140335"/>
          </a:xfrm>
          <a:prstGeom prst="rect">
            <a:avLst/>
          </a:prstGeom>
        </p:spPr>
      </p:pic>
      <p:sp>
        <p:nvSpPr>
          <p:cNvPr id="19" name="Shape 155"/>
          <p:cNvSpPr/>
          <p:nvPr/>
        </p:nvSpPr>
        <p:spPr>
          <a:xfrm>
            <a:off x="3199130" y="2234565"/>
            <a:ext cx="208280" cy="219075"/>
          </a:xfrm>
          <a:prstGeom prst="rect">
            <a:avLst/>
          </a:prstGeom>
          <a:solidFill>
            <a:srgbClr val="DBF3E3">
              <a:alpha val="80000"/>
            </a:srgbClr>
          </a:solidFill>
          <a:ln w="6350">
            <a:solidFill>
              <a:srgbClr val="8BA3B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1" name="Shape 155"/>
          <p:cNvSpPr/>
          <p:nvPr/>
        </p:nvSpPr>
        <p:spPr>
          <a:xfrm>
            <a:off x="3406140" y="2235835"/>
            <a:ext cx="208280" cy="219075"/>
          </a:xfrm>
          <a:prstGeom prst="rect">
            <a:avLst/>
          </a:prstGeom>
          <a:solidFill>
            <a:srgbClr val="DBF3E3">
              <a:alpha val="80000"/>
            </a:srgbClr>
          </a:solidFill>
          <a:ln w="6350">
            <a:solidFill>
              <a:srgbClr val="8BA3B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2" name="Shape 156"/>
          <p:cNvSpPr/>
          <p:nvPr/>
        </p:nvSpPr>
        <p:spPr>
          <a:xfrm>
            <a:off x="3199130" y="2455545"/>
            <a:ext cx="208915" cy="219075"/>
          </a:xfrm>
          <a:prstGeom prst="rect">
            <a:avLst/>
          </a:prstGeom>
          <a:solidFill>
            <a:srgbClr val="7AD99D"/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23" name="Shape 155"/>
          <p:cNvSpPr/>
          <p:nvPr/>
        </p:nvSpPr>
        <p:spPr>
          <a:xfrm>
            <a:off x="3408045" y="2455545"/>
            <a:ext cx="208280" cy="219075"/>
          </a:xfrm>
          <a:prstGeom prst="rect">
            <a:avLst/>
          </a:prstGeom>
          <a:solidFill>
            <a:srgbClr val="DBF3E3">
              <a:alpha val="80000"/>
            </a:srgbClr>
          </a:solidFill>
          <a:ln w="6350">
            <a:solidFill>
              <a:srgbClr val="8BA3B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4" name="Shape 155"/>
          <p:cNvSpPr/>
          <p:nvPr/>
        </p:nvSpPr>
        <p:spPr>
          <a:xfrm>
            <a:off x="2990215" y="2456815"/>
            <a:ext cx="208280" cy="219075"/>
          </a:xfrm>
          <a:prstGeom prst="rect">
            <a:avLst/>
          </a:prstGeom>
          <a:solidFill>
            <a:srgbClr val="DBF3E3">
              <a:alpha val="80000"/>
            </a:srgbClr>
          </a:solidFill>
          <a:ln w="6350">
            <a:solidFill>
              <a:srgbClr val="8BA3B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5" name="Shape 156"/>
          <p:cNvSpPr/>
          <p:nvPr/>
        </p:nvSpPr>
        <p:spPr>
          <a:xfrm>
            <a:off x="3408045" y="2674620"/>
            <a:ext cx="208915" cy="219075"/>
          </a:xfrm>
          <a:prstGeom prst="rect">
            <a:avLst/>
          </a:prstGeom>
          <a:solidFill>
            <a:srgbClr val="7AD99D"/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26" name="Shape 155"/>
          <p:cNvSpPr/>
          <p:nvPr/>
        </p:nvSpPr>
        <p:spPr>
          <a:xfrm>
            <a:off x="2990850" y="2674620"/>
            <a:ext cx="208280" cy="219075"/>
          </a:xfrm>
          <a:prstGeom prst="rect">
            <a:avLst/>
          </a:prstGeom>
          <a:solidFill>
            <a:srgbClr val="DBF3E3">
              <a:alpha val="80000"/>
            </a:srgbClr>
          </a:solidFill>
          <a:ln w="6350">
            <a:solidFill>
              <a:srgbClr val="8BA3B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7" name="Shape 155"/>
          <p:cNvSpPr/>
          <p:nvPr/>
        </p:nvSpPr>
        <p:spPr>
          <a:xfrm>
            <a:off x="3199765" y="2674620"/>
            <a:ext cx="208280" cy="219075"/>
          </a:xfrm>
          <a:prstGeom prst="rect">
            <a:avLst/>
          </a:prstGeom>
          <a:solidFill>
            <a:srgbClr val="DBF3E3">
              <a:alpha val="80000"/>
            </a:srgbClr>
          </a:solidFill>
          <a:ln w="6350">
            <a:solidFill>
              <a:srgbClr val="8BA3B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43" name="Shape 162"/>
          <p:cNvSpPr/>
          <p:nvPr/>
        </p:nvSpPr>
        <p:spPr>
          <a:xfrm>
            <a:off x="5231765" y="2228850"/>
            <a:ext cx="207010" cy="209550"/>
          </a:xfrm>
          <a:prstGeom prst="rect">
            <a:avLst/>
          </a:prstGeom>
          <a:solidFill>
            <a:srgbClr val="E9D9F6">
              <a:alpha val="80000"/>
            </a:srgbClr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44" name="Shape 161"/>
          <p:cNvSpPr/>
          <p:nvPr/>
        </p:nvSpPr>
        <p:spPr>
          <a:xfrm>
            <a:off x="5024755" y="2437130"/>
            <a:ext cx="207010" cy="210185"/>
          </a:xfrm>
          <a:prstGeom prst="rect">
            <a:avLst/>
          </a:prstGeom>
          <a:solidFill>
            <a:srgbClr val="B18CD9"/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45" name="Shape 161"/>
          <p:cNvSpPr/>
          <p:nvPr/>
        </p:nvSpPr>
        <p:spPr>
          <a:xfrm>
            <a:off x="5231765" y="2647315"/>
            <a:ext cx="207010" cy="210185"/>
          </a:xfrm>
          <a:prstGeom prst="rect">
            <a:avLst/>
          </a:prstGeom>
          <a:solidFill>
            <a:srgbClr val="B18CD9"/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46" name="Shape 162"/>
          <p:cNvSpPr/>
          <p:nvPr/>
        </p:nvSpPr>
        <p:spPr>
          <a:xfrm>
            <a:off x="5231765" y="2438400"/>
            <a:ext cx="207010" cy="209550"/>
          </a:xfrm>
          <a:prstGeom prst="rect">
            <a:avLst/>
          </a:prstGeom>
          <a:solidFill>
            <a:srgbClr val="E9D9F6">
              <a:alpha val="80000"/>
            </a:srgbClr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47" name="Shape 162"/>
          <p:cNvSpPr/>
          <p:nvPr/>
        </p:nvSpPr>
        <p:spPr>
          <a:xfrm>
            <a:off x="5028565" y="2647950"/>
            <a:ext cx="207010" cy="209550"/>
          </a:xfrm>
          <a:prstGeom prst="rect">
            <a:avLst/>
          </a:prstGeom>
          <a:solidFill>
            <a:srgbClr val="E9D9F6">
              <a:alpha val="80000"/>
            </a:srgbClr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48" name="Shape 162"/>
          <p:cNvSpPr/>
          <p:nvPr/>
        </p:nvSpPr>
        <p:spPr>
          <a:xfrm>
            <a:off x="4821555" y="2437130"/>
            <a:ext cx="207010" cy="209550"/>
          </a:xfrm>
          <a:prstGeom prst="rect">
            <a:avLst/>
          </a:prstGeom>
          <a:solidFill>
            <a:srgbClr val="E9D9F6">
              <a:alpha val="80000"/>
            </a:srgbClr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49" name="Shape 162"/>
          <p:cNvSpPr/>
          <p:nvPr/>
        </p:nvSpPr>
        <p:spPr>
          <a:xfrm>
            <a:off x="4821555" y="2646045"/>
            <a:ext cx="207010" cy="209550"/>
          </a:xfrm>
          <a:prstGeom prst="rect">
            <a:avLst/>
          </a:prstGeom>
          <a:solidFill>
            <a:srgbClr val="E9D9F6">
              <a:alpha val="80000"/>
            </a:srgbClr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83" name="Shape 156"/>
          <p:cNvSpPr/>
          <p:nvPr/>
        </p:nvSpPr>
        <p:spPr>
          <a:xfrm>
            <a:off x="3041015" y="3471545"/>
            <a:ext cx="208915" cy="219075"/>
          </a:xfrm>
          <a:prstGeom prst="rect">
            <a:avLst/>
          </a:prstGeom>
          <a:solidFill>
            <a:srgbClr val="7AD99D"/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84" name="Shape 161"/>
          <p:cNvSpPr/>
          <p:nvPr/>
        </p:nvSpPr>
        <p:spPr>
          <a:xfrm>
            <a:off x="4821555" y="3464560"/>
            <a:ext cx="207010" cy="210185"/>
          </a:xfrm>
          <a:prstGeom prst="rect">
            <a:avLst/>
          </a:prstGeom>
          <a:solidFill>
            <a:srgbClr val="B18CD9"/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85" name="Shape 162"/>
          <p:cNvSpPr/>
          <p:nvPr/>
        </p:nvSpPr>
        <p:spPr>
          <a:xfrm>
            <a:off x="5028565" y="3464560"/>
            <a:ext cx="207010" cy="209550"/>
          </a:xfrm>
          <a:prstGeom prst="rect">
            <a:avLst/>
          </a:prstGeom>
          <a:solidFill>
            <a:srgbClr val="E9D9F6">
              <a:alpha val="80000"/>
            </a:srgbClr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86" name="Shape 170"/>
          <p:cNvSpPr/>
          <p:nvPr/>
        </p:nvSpPr>
        <p:spPr>
          <a:xfrm rot="20940000">
            <a:off x="3810635" y="3722370"/>
            <a:ext cx="843280" cy="164465"/>
          </a:xfrm>
          <a:prstGeom prst="line">
            <a:avLst/>
          </a:prstGeom>
          <a:noFill/>
          <a:ln w="10160">
            <a:solidFill>
              <a:srgbClr val="9AA6B2"/>
            </a:solidFill>
            <a:prstDash val="solid"/>
            <a:headEnd type="triangle"/>
            <a:tailEnd type="triangle"/>
          </a:ln>
        </p:spPr>
      </p:sp>
      <p:sp>
        <p:nvSpPr>
          <p:cNvPr id="87" name="Shape 155"/>
          <p:cNvSpPr/>
          <p:nvPr/>
        </p:nvSpPr>
        <p:spPr>
          <a:xfrm>
            <a:off x="3249930" y="3471545"/>
            <a:ext cx="208280" cy="219075"/>
          </a:xfrm>
          <a:prstGeom prst="rect">
            <a:avLst/>
          </a:prstGeom>
          <a:solidFill>
            <a:srgbClr val="DBF3E3">
              <a:alpha val="80000"/>
            </a:srgbClr>
          </a:solidFill>
          <a:ln w="6350">
            <a:solidFill>
              <a:srgbClr val="8BA3B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88" name="Shape 155"/>
          <p:cNvSpPr/>
          <p:nvPr/>
        </p:nvSpPr>
        <p:spPr>
          <a:xfrm>
            <a:off x="3456940" y="3472815"/>
            <a:ext cx="208280" cy="219075"/>
          </a:xfrm>
          <a:prstGeom prst="rect">
            <a:avLst/>
          </a:prstGeom>
          <a:solidFill>
            <a:srgbClr val="DBF3E3">
              <a:alpha val="80000"/>
            </a:srgbClr>
          </a:solidFill>
          <a:ln w="6350">
            <a:solidFill>
              <a:srgbClr val="8BA3B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89" name="Shape 156"/>
          <p:cNvSpPr/>
          <p:nvPr/>
        </p:nvSpPr>
        <p:spPr>
          <a:xfrm>
            <a:off x="3249930" y="3692525"/>
            <a:ext cx="208915" cy="219075"/>
          </a:xfrm>
          <a:prstGeom prst="rect">
            <a:avLst/>
          </a:prstGeom>
          <a:solidFill>
            <a:srgbClr val="7AD99D"/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90" name="Shape 155"/>
          <p:cNvSpPr/>
          <p:nvPr/>
        </p:nvSpPr>
        <p:spPr>
          <a:xfrm>
            <a:off x="3458845" y="3692525"/>
            <a:ext cx="208280" cy="219075"/>
          </a:xfrm>
          <a:prstGeom prst="rect">
            <a:avLst/>
          </a:prstGeom>
          <a:solidFill>
            <a:srgbClr val="DBF3E3">
              <a:alpha val="80000"/>
            </a:srgbClr>
          </a:solidFill>
          <a:ln w="6350">
            <a:solidFill>
              <a:srgbClr val="8BA3B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91" name="Shape 155"/>
          <p:cNvSpPr/>
          <p:nvPr/>
        </p:nvSpPr>
        <p:spPr>
          <a:xfrm>
            <a:off x="3041015" y="3693795"/>
            <a:ext cx="208280" cy="219075"/>
          </a:xfrm>
          <a:prstGeom prst="rect">
            <a:avLst/>
          </a:prstGeom>
          <a:solidFill>
            <a:srgbClr val="DBF3E3">
              <a:alpha val="80000"/>
            </a:srgbClr>
          </a:solidFill>
          <a:ln w="6350">
            <a:solidFill>
              <a:srgbClr val="8BA3B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92" name="Shape 156"/>
          <p:cNvSpPr/>
          <p:nvPr/>
        </p:nvSpPr>
        <p:spPr>
          <a:xfrm>
            <a:off x="3458845" y="3911600"/>
            <a:ext cx="208915" cy="219075"/>
          </a:xfrm>
          <a:prstGeom prst="rect">
            <a:avLst/>
          </a:prstGeom>
          <a:solidFill>
            <a:srgbClr val="7AD99D"/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93" name="Shape 155"/>
          <p:cNvSpPr/>
          <p:nvPr/>
        </p:nvSpPr>
        <p:spPr>
          <a:xfrm>
            <a:off x="3041650" y="3911600"/>
            <a:ext cx="208280" cy="219075"/>
          </a:xfrm>
          <a:prstGeom prst="rect">
            <a:avLst/>
          </a:prstGeom>
          <a:solidFill>
            <a:srgbClr val="DBF3E3">
              <a:alpha val="80000"/>
            </a:srgbClr>
          </a:solidFill>
          <a:ln w="6350">
            <a:solidFill>
              <a:srgbClr val="8BA3B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94" name="Shape 155"/>
          <p:cNvSpPr/>
          <p:nvPr/>
        </p:nvSpPr>
        <p:spPr>
          <a:xfrm>
            <a:off x="3250565" y="3911600"/>
            <a:ext cx="208280" cy="219075"/>
          </a:xfrm>
          <a:prstGeom prst="rect">
            <a:avLst/>
          </a:prstGeom>
          <a:solidFill>
            <a:srgbClr val="DBF3E3">
              <a:alpha val="80000"/>
            </a:srgbClr>
          </a:solidFill>
          <a:ln w="6350">
            <a:solidFill>
              <a:srgbClr val="8BA3B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95" name="Shape 162"/>
          <p:cNvSpPr/>
          <p:nvPr/>
        </p:nvSpPr>
        <p:spPr>
          <a:xfrm>
            <a:off x="5231765" y="3465830"/>
            <a:ext cx="207010" cy="209550"/>
          </a:xfrm>
          <a:prstGeom prst="rect">
            <a:avLst/>
          </a:prstGeom>
          <a:solidFill>
            <a:srgbClr val="E9D9F6">
              <a:alpha val="80000"/>
            </a:srgbClr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96" name="Shape 161"/>
          <p:cNvSpPr/>
          <p:nvPr/>
        </p:nvSpPr>
        <p:spPr>
          <a:xfrm>
            <a:off x="5024755" y="3674110"/>
            <a:ext cx="207010" cy="210185"/>
          </a:xfrm>
          <a:prstGeom prst="rect">
            <a:avLst/>
          </a:prstGeom>
          <a:solidFill>
            <a:srgbClr val="B18CD9"/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97" name="Shape 161"/>
          <p:cNvSpPr/>
          <p:nvPr/>
        </p:nvSpPr>
        <p:spPr>
          <a:xfrm>
            <a:off x="5231765" y="3884295"/>
            <a:ext cx="207010" cy="210185"/>
          </a:xfrm>
          <a:prstGeom prst="rect">
            <a:avLst/>
          </a:prstGeom>
          <a:solidFill>
            <a:srgbClr val="B18CD9"/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102" name="Shape 162"/>
          <p:cNvSpPr/>
          <p:nvPr/>
        </p:nvSpPr>
        <p:spPr>
          <a:xfrm>
            <a:off x="5231765" y="3675380"/>
            <a:ext cx="207010" cy="209550"/>
          </a:xfrm>
          <a:prstGeom prst="rect">
            <a:avLst/>
          </a:prstGeom>
          <a:solidFill>
            <a:srgbClr val="E9D9F6">
              <a:alpha val="80000"/>
            </a:srgbClr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103" name="Shape 162"/>
          <p:cNvSpPr/>
          <p:nvPr/>
        </p:nvSpPr>
        <p:spPr>
          <a:xfrm>
            <a:off x="5028565" y="3884930"/>
            <a:ext cx="207010" cy="209550"/>
          </a:xfrm>
          <a:prstGeom prst="rect">
            <a:avLst/>
          </a:prstGeom>
          <a:solidFill>
            <a:srgbClr val="E9D9F6">
              <a:alpha val="80000"/>
            </a:srgbClr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104" name="Shape 162"/>
          <p:cNvSpPr/>
          <p:nvPr/>
        </p:nvSpPr>
        <p:spPr>
          <a:xfrm>
            <a:off x="4821555" y="3674110"/>
            <a:ext cx="207010" cy="209550"/>
          </a:xfrm>
          <a:prstGeom prst="rect">
            <a:avLst/>
          </a:prstGeom>
          <a:solidFill>
            <a:srgbClr val="E9D9F6">
              <a:alpha val="80000"/>
            </a:srgbClr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105" name="Shape 162"/>
          <p:cNvSpPr/>
          <p:nvPr/>
        </p:nvSpPr>
        <p:spPr>
          <a:xfrm>
            <a:off x="4821555" y="3883025"/>
            <a:ext cx="207010" cy="209550"/>
          </a:xfrm>
          <a:prstGeom prst="rect">
            <a:avLst/>
          </a:prstGeom>
          <a:solidFill>
            <a:srgbClr val="E9D9F6">
              <a:alpha val="80000"/>
            </a:srgbClr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106" name="Text 151"/>
          <p:cNvSpPr/>
          <p:nvPr/>
        </p:nvSpPr>
        <p:spPr>
          <a:xfrm>
            <a:off x="4213860" y="3082925"/>
            <a:ext cx="1979295" cy="32004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Autofit/>
          </a:bodyPr>
          <a:lstStyle/>
          <a:p>
            <a:pPr marL="0" algn="ctr">
              <a:buClrTx/>
              <a:buSzTx/>
              <a:buNone/>
            </a:pPr>
            <a:r>
              <a:rPr lang="en-US" sz="1400" b="1" dirty="0">
                <a:solidFill>
                  <a:srgbClr val="1C2C4A"/>
                </a:solidFill>
                <a:latin typeface="Chalkboard SE Regular" panose="03050602040202020205" charset="0"/>
                <a:ea typeface="Arial" panose="020B0604020202090204" pitchFamily="34" charset="-122"/>
                <a:cs typeface="Chalkboard SE Regular" panose="03050602040202020205" charset="0"/>
              </a:rPr>
              <a:t>Max-d Sim Matrix</a:t>
            </a:r>
            <a:endParaRPr lang="en-US" sz="1400" b="1" dirty="0">
              <a:solidFill>
                <a:srgbClr val="1C2C4A"/>
              </a:solidFill>
              <a:latin typeface="Chalkboard SE Regular" panose="03050602040202020205" charset="0"/>
              <a:ea typeface="Arial" panose="020B0604020202090204" pitchFamily="34" charset="-122"/>
              <a:cs typeface="Chalkboard SE Regular" panose="03050602040202020205" charset="0"/>
            </a:endParaRPr>
          </a:p>
        </p:txBody>
      </p:sp>
      <p:sp>
        <p:nvSpPr>
          <p:cNvPr id="107" name="Text 34"/>
          <p:cNvSpPr/>
          <p:nvPr/>
        </p:nvSpPr>
        <p:spPr>
          <a:xfrm>
            <a:off x="7002145" y="3388995"/>
            <a:ext cx="368935" cy="97155"/>
          </a:xfrm>
          <a:prstGeom prst="rect">
            <a:avLst/>
          </a:prstGeom>
          <a:noFill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easy</a:t>
            </a:r>
            <a:endParaRPr lang="en-US" sz="1000" dirty="0">
              <a:solidFill>
                <a:srgbClr val="1F293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108" name="Shape 33"/>
          <p:cNvSpPr/>
          <p:nvPr/>
        </p:nvSpPr>
        <p:spPr>
          <a:xfrm>
            <a:off x="7105015" y="3013075"/>
            <a:ext cx="155575" cy="146050"/>
          </a:xfrm>
          <a:prstGeom prst="ellipse">
            <a:avLst/>
          </a:prstGeom>
          <a:solidFill>
            <a:srgbClr val="CDEFD3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9" name="Shape 33"/>
          <p:cNvSpPr/>
          <p:nvPr/>
        </p:nvSpPr>
        <p:spPr>
          <a:xfrm>
            <a:off x="8041640" y="3013710"/>
            <a:ext cx="155575" cy="146050"/>
          </a:xfrm>
          <a:prstGeom prst="ellipse">
            <a:avLst/>
          </a:prstGeom>
          <a:solidFill>
            <a:srgbClr val="CDEFD3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0" name="Shape 42"/>
          <p:cNvSpPr/>
          <p:nvPr/>
        </p:nvSpPr>
        <p:spPr>
          <a:xfrm flipH="1">
            <a:off x="8411210" y="3013075"/>
            <a:ext cx="155575" cy="156845"/>
          </a:xfrm>
          <a:prstGeom prst="ellipse">
            <a:avLst/>
          </a:prstGeom>
          <a:solidFill>
            <a:srgbClr val="F7A3B4"/>
          </a:solidFill>
          <a:ln w="12700">
            <a:solidFill>
              <a:srgbClr val="1F2937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11" name="Text 32"/>
          <p:cNvSpPr/>
          <p:nvPr/>
        </p:nvSpPr>
        <p:spPr>
          <a:xfrm>
            <a:off x="7065645" y="3230880"/>
            <a:ext cx="245745" cy="86995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v</a:t>
            </a:r>
            <a:r>
              <a:rPr lang="en-US" sz="1000" baseline="-250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2</a:t>
            </a:r>
            <a:endParaRPr lang="en-US" sz="1000" baseline="-25000" dirty="0">
              <a:solidFill>
                <a:srgbClr val="1F293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112" name="Text 32"/>
          <p:cNvSpPr/>
          <p:nvPr/>
        </p:nvSpPr>
        <p:spPr>
          <a:xfrm>
            <a:off x="7397750" y="3230880"/>
            <a:ext cx="245745" cy="86995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v</a:t>
            </a:r>
            <a:r>
              <a:rPr lang="en-US" sz="1000" baseline="-250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3</a:t>
            </a:r>
            <a:endParaRPr lang="en-US" sz="1000" baseline="-25000" dirty="0">
              <a:solidFill>
                <a:srgbClr val="1F293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113" name="Shape 42"/>
          <p:cNvSpPr/>
          <p:nvPr/>
        </p:nvSpPr>
        <p:spPr>
          <a:xfrm flipH="1">
            <a:off x="6804660" y="4213225"/>
            <a:ext cx="155575" cy="156845"/>
          </a:xfrm>
          <a:prstGeom prst="ellipse">
            <a:avLst/>
          </a:prstGeom>
          <a:solidFill>
            <a:srgbClr val="F7A3B4"/>
          </a:solidFill>
          <a:ln w="12700">
            <a:solidFill>
              <a:srgbClr val="1F2937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14" name="Shape 42"/>
          <p:cNvSpPr/>
          <p:nvPr/>
        </p:nvSpPr>
        <p:spPr>
          <a:xfrm flipH="1">
            <a:off x="7595870" y="4213225"/>
            <a:ext cx="155575" cy="156845"/>
          </a:xfrm>
          <a:prstGeom prst="ellipse">
            <a:avLst/>
          </a:prstGeom>
          <a:solidFill>
            <a:srgbClr val="F7A3B4"/>
          </a:solidFill>
          <a:ln w="12700">
            <a:solidFill>
              <a:srgbClr val="1F2937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15" name="Shape 42"/>
          <p:cNvSpPr/>
          <p:nvPr/>
        </p:nvSpPr>
        <p:spPr>
          <a:xfrm flipH="1">
            <a:off x="8378825" y="4213225"/>
            <a:ext cx="155575" cy="156845"/>
          </a:xfrm>
          <a:prstGeom prst="ellipse">
            <a:avLst/>
          </a:prstGeom>
          <a:solidFill>
            <a:srgbClr val="F7A3B4"/>
          </a:solidFill>
          <a:ln w="12700">
            <a:solidFill>
              <a:srgbClr val="1F2937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16" name="Text 41"/>
          <p:cNvSpPr/>
          <p:nvPr/>
        </p:nvSpPr>
        <p:spPr>
          <a:xfrm>
            <a:off x="6774180" y="4461510"/>
            <a:ext cx="245745" cy="86995"/>
          </a:xfrm>
          <a:prstGeom prst="rect">
            <a:avLst/>
          </a:prstGeom>
          <a:noFill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v₄</a:t>
            </a:r>
            <a:endParaRPr lang="en-US" sz="1000" dirty="0">
              <a:solidFill>
                <a:srgbClr val="1F293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117" name="Text 41"/>
          <p:cNvSpPr/>
          <p:nvPr/>
        </p:nvSpPr>
        <p:spPr>
          <a:xfrm>
            <a:off x="7564755" y="4461510"/>
            <a:ext cx="245745" cy="86995"/>
          </a:xfrm>
          <a:prstGeom prst="rect">
            <a:avLst/>
          </a:prstGeom>
          <a:noFill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v</a:t>
            </a:r>
            <a:r>
              <a:rPr lang="en-US" sz="1000" baseline="-250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i</a:t>
            </a:r>
            <a:endParaRPr lang="en-US" sz="1000" baseline="-25000" dirty="0">
              <a:solidFill>
                <a:srgbClr val="1F293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151" name="Text 44"/>
          <p:cNvSpPr/>
          <p:nvPr/>
        </p:nvSpPr>
        <p:spPr>
          <a:xfrm>
            <a:off x="8341360" y="4432300"/>
            <a:ext cx="245745" cy="86995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v</a:t>
            </a:r>
            <a:r>
              <a:rPr lang="en-US" sz="1000" baseline="-250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n</a:t>
            </a:r>
            <a:endParaRPr lang="en-US" sz="1000" baseline="-25000" dirty="0">
              <a:solidFill>
                <a:srgbClr val="1F293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178" name="Text 44"/>
          <p:cNvSpPr/>
          <p:nvPr/>
        </p:nvSpPr>
        <p:spPr>
          <a:xfrm>
            <a:off x="7085965" y="4283075"/>
            <a:ext cx="245745" cy="86995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 fontScale="80000"/>
          </a:bodyPr>
          <a:lstStyle/>
          <a:p>
            <a:pPr marL="0" indent="0" algn="ctr">
              <a:buNone/>
            </a:pPr>
            <a:r>
              <a:rPr lang="en-US" sz="1000" baseline="-25000" dirty="0">
                <a:solidFill>
                  <a:srgbClr val="1F2937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···</a:t>
            </a:r>
            <a:endParaRPr lang="en-US" sz="1000" baseline="-25000" dirty="0">
              <a:solidFill>
                <a:srgbClr val="1F2937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198" name="Text 25"/>
          <p:cNvSpPr/>
          <p:nvPr/>
        </p:nvSpPr>
        <p:spPr>
          <a:xfrm>
            <a:off x="9040495" y="1499235"/>
            <a:ext cx="1710690" cy="18669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Representation Capacity</a:t>
            </a:r>
            <a:endParaRPr lang="en-US" sz="1200" dirty="0">
              <a:solidFill>
                <a:schemeClr val="tx1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201" name="Shape 33"/>
          <p:cNvSpPr/>
          <p:nvPr/>
        </p:nvSpPr>
        <p:spPr>
          <a:xfrm>
            <a:off x="9097010" y="3110865"/>
            <a:ext cx="155575" cy="146050"/>
          </a:xfrm>
          <a:prstGeom prst="ellipse">
            <a:avLst/>
          </a:prstGeom>
          <a:solidFill>
            <a:srgbClr val="CDEFD3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2" name="Shape 39"/>
          <p:cNvSpPr/>
          <p:nvPr/>
        </p:nvSpPr>
        <p:spPr>
          <a:xfrm>
            <a:off x="9752965" y="3115945"/>
            <a:ext cx="160020" cy="146685"/>
          </a:xfrm>
          <a:prstGeom prst="ellipse">
            <a:avLst/>
          </a:prstGeom>
          <a:solidFill>
            <a:srgbClr val="FFE48A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3" name="Shape 42"/>
          <p:cNvSpPr/>
          <p:nvPr/>
        </p:nvSpPr>
        <p:spPr>
          <a:xfrm flipH="1">
            <a:off x="10062210" y="3113405"/>
            <a:ext cx="155575" cy="156845"/>
          </a:xfrm>
          <a:prstGeom prst="ellipse">
            <a:avLst/>
          </a:prstGeom>
          <a:solidFill>
            <a:srgbClr val="F7A3B4"/>
          </a:solidFill>
          <a:ln w="12700">
            <a:solidFill>
              <a:srgbClr val="1F2937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04" name="Shape 33"/>
          <p:cNvSpPr/>
          <p:nvPr/>
        </p:nvSpPr>
        <p:spPr>
          <a:xfrm>
            <a:off x="9410700" y="3115945"/>
            <a:ext cx="155575" cy="146050"/>
          </a:xfrm>
          <a:prstGeom prst="ellipse">
            <a:avLst/>
          </a:prstGeom>
          <a:solidFill>
            <a:srgbClr val="CDEFD3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5" name="Shape 33"/>
          <p:cNvSpPr/>
          <p:nvPr/>
        </p:nvSpPr>
        <p:spPr>
          <a:xfrm>
            <a:off x="10347325" y="3116580"/>
            <a:ext cx="155575" cy="146050"/>
          </a:xfrm>
          <a:prstGeom prst="ellipse">
            <a:avLst/>
          </a:prstGeom>
          <a:solidFill>
            <a:srgbClr val="CDEFD3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6" name="Shape 42"/>
          <p:cNvSpPr/>
          <p:nvPr/>
        </p:nvSpPr>
        <p:spPr>
          <a:xfrm flipH="1">
            <a:off x="10716895" y="3115945"/>
            <a:ext cx="155575" cy="156845"/>
          </a:xfrm>
          <a:prstGeom prst="ellipse">
            <a:avLst/>
          </a:prstGeom>
          <a:solidFill>
            <a:srgbClr val="F7A3B4"/>
          </a:solidFill>
          <a:ln w="12700">
            <a:solidFill>
              <a:srgbClr val="1F2937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07" name="Text 32"/>
          <p:cNvSpPr/>
          <p:nvPr/>
        </p:nvSpPr>
        <p:spPr>
          <a:xfrm>
            <a:off x="9119235" y="3341370"/>
            <a:ext cx="245745" cy="86995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v₁</a:t>
            </a:r>
            <a:endParaRPr lang="en-US" sz="1000" dirty="0">
              <a:solidFill>
                <a:srgbClr val="1F293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208" name="Text 41"/>
          <p:cNvSpPr/>
          <p:nvPr/>
        </p:nvSpPr>
        <p:spPr>
          <a:xfrm>
            <a:off x="10080625" y="3340735"/>
            <a:ext cx="245745" cy="86995"/>
          </a:xfrm>
          <a:prstGeom prst="rect">
            <a:avLst/>
          </a:prstGeom>
          <a:noFill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v₄</a:t>
            </a:r>
            <a:endParaRPr lang="en-US" sz="1000" dirty="0">
              <a:solidFill>
                <a:srgbClr val="1F293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209" name="Text 44"/>
          <p:cNvSpPr/>
          <p:nvPr/>
        </p:nvSpPr>
        <p:spPr>
          <a:xfrm>
            <a:off x="10351135" y="3348355"/>
            <a:ext cx="245745" cy="86995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v₅</a:t>
            </a:r>
            <a:endParaRPr lang="en-US" sz="1000" dirty="0">
              <a:solidFill>
                <a:srgbClr val="1F293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210" name="Text 44"/>
          <p:cNvSpPr/>
          <p:nvPr/>
        </p:nvSpPr>
        <p:spPr>
          <a:xfrm>
            <a:off x="10698480" y="3359785"/>
            <a:ext cx="245745" cy="86995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v</a:t>
            </a:r>
            <a:r>
              <a:rPr lang="en-US" sz="1000" baseline="-250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n</a:t>
            </a:r>
            <a:endParaRPr lang="en-US" sz="1000" baseline="-25000" dirty="0">
              <a:solidFill>
                <a:srgbClr val="1F293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211" name="Text 32"/>
          <p:cNvSpPr/>
          <p:nvPr/>
        </p:nvSpPr>
        <p:spPr>
          <a:xfrm>
            <a:off x="9382760" y="3345180"/>
            <a:ext cx="245745" cy="86995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v</a:t>
            </a:r>
            <a:r>
              <a:rPr lang="en-US" sz="1000" baseline="-250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2</a:t>
            </a:r>
            <a:endParaRPr lang="en-US" sz="1000" baseline="-25000" dirty="0">
              <a:solidFill>
                <a:srgbClr val="1F293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212" name="Text 32"/>
          <p:cNvSpPr/>
          <p:nvPr/>
        </p:nvSpPr>
        <p:spPr>
          <a:xfrm>
            <a:off x="9714865" y="3345180"/>
            <a:ext cx="245745" cy="86995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v</a:t>
            </a:r>
            <a:r>
              <a:rPr lang="en-US" sz="1000" baseline="-25000" dirty="0">
                <a:solidFill>
                  <a:srgbClr val="1F2937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3</a:t>
            </a:r>
            <a:endParaRPr lang="en-US" sz="1000" baseline="-25000" dirty="0">
              <a:solidFill>
                <a:srgbClr val="1F2937"/>
              </a:solidFill>
              <a:latin typeface="Chalkboard" panose="03050602040202020205" charset="0"/>
              <a:ea typeface="Arial" panose="020B0604020202090204" pitchFamily="34" charset="-122"/>
              <a:cs typeface="Chalkboard" panose="03050602040202020205" charset="0"/>
            </a:endParaRPr>
          </a:p>
        </p:txBody>
      </p:sp>
      <p:sp>
        <p:nvSpPr>
          <p:cNvPr id="213" name="Text 114"/>
          <p:cNvSpPr/>
          <p:nvPr/>
        </p:nvSpPr>
        <p:spPr>
          <a:xfrm>
            <a:off x="9446260" y="3598545"/>
            <a:ext cx="125730" cy="12446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A3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✓</a:t>
            </a:r>
            <a:endParaRPr lang="en-US" sz="1500" b="1" dirty="0">
              <a:solidFill>
                <a:srgbClr val="16A34A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214" name="Text 114"/>
          <p:cNvSpPr/>
          <p:nvPr/>
        </p:nvSpPr>
        <p:spPr>
          <a:xfrm>
            <a:off x="9777730" y="3606165"/>
            <a:ext cx="125730" cy="12065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A3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✓</a:t>
            </a:r>
            <a:endParaRPr lang="en-US" sz="1500" b="1" dirty="0">
              <a:solidFill>
                <a:srgbClr val="16A34A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215" name="Text 114"/>
          <p:cNvSpPr/>
          <p:nvPr/>
        </p:nvSpPr>
        <p:spPr>
          <a:xfrm>
            <a:off x="10369550" y="3613785"/>
            <a:ext cx="125730" cy="12065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A3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✓</a:t>
            </a:r>
            <a:endParaRPr lang="en-US" sz="1500" b="1" dirty="0">
              <a:solidFill>
                <a:srgbClr val="16A34A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216" name="Text 44"/>
          <p:cNvSpPr/>
          <p:nvPr/>
        </p:nvSpPr>
        <p:spPr>
          <a:xfrm>
            <a:off x="10502900" y="3249295"/>
            <a:ext cx="245745" cy="26416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aseline="-25000" dirty="0">
                <a:solidFill>
                  <a:srgbClr val="1F2937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···</a:t>
            </a:r>
            <a:endParaRPr lang="en-US" sz="1000" baseline="-25000" dirty="0">
              <a:solidFill>
                <a:srgbClr val="1F2937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217" name="Shape 127"/>
          <p:cNvSpPr/>
          <p:nvPr/>
        </p:nvSpPr>
        <p:spPr>
          <a:xfrm>
            <a:off x="10431780" y="4012565"/>
            <a:ext cx="1270" cy="220345"/>
          </a:xfrm>
          <a:prstGeom prst="line">
            <a:avLst/>
          </a:prstGeom>
          <a:noFill/>
          <a:ln w="13970">
            <a:solidFill>
              <a:srgbClr val="6D3DB8"/>
            </a:solidFill>
            <a:prstDash val="solid"/>
            <a:headEnd type="none"/>
            <a:tailEnd type="none"/>
          </a:ln>
        </p:spPr>
      </p:sp>
      <p:sp>
        <p:nvSpPr>
          <p:cNvPr id="218" name="Shape 81"/>
          <p:cNvSpPr/>
          <p:nvPr/>
        </p:nvSpPr>
        <p:spPr>
          <a:xfrm>
            <a:off x="12371070" y="3840480"/>
            <a:ext cx="734695" cy="278130"/>
          </a:xfrm>
          <a:prstGeom prst="roundRect">
            <a:avLst>
              <a:gd name="adj" fmla="val 18182"/>
            </a:avLst>
          </a:prstGeom>
          <a:solidFill>
            <a:srgbClr val="EAF4FF"/>
          </a:solidFill>
          <a:ln w="13970">
            <a:solidFill>
              <a:srgbClr val="93C5FD"/>
            </a:solidFill>
            <a:prstDash val="solid"/>
          </a:ln>
        </p:spPr>
      </p:sp>
      <p:sp>
        <p:nvSpPr>
          <p:cNvPr id="219" name="Text 86"/>
          <p:cNvSpPr/>
          <p:nvPr/>
        </p:nvSpPr>
        <p:spPr>
          <a:xfrm>
            <a:off x="11858625" y="3883025"/>
            <a:ext cx="826770" cy="193675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 fontScale="6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827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+ </a:t>
            </a:r>
            <a:endParaRPr lang="en-US" sz="1800" dirty="0"/>
          </a:p>
        </p:txBody>
      </p:sp>
      <p:pic>
        <p:nvPicPr>
          <p:cNvPr id="220" name="334E55B0-647D-440b-865C-3EC943EB4CBC-1" descr="/Users/wwwsaidthat/Library/Containers/com.kingsoft.wpsoffice.mac/Data/tmp/wpsoffice.fKBkrpwpsoffic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08535" y="3902393"/>
            <a:ext cx="673100" cy="145415"/>
          </a:xfrm>
          <a:prstGeom prst="rect">
            <a:avLst/>
          </a:prstGeom>
        </p:spPr>
      </p:pic>
      <p:sp>
        <p:nvSpPr>
          <p:cNvPr id="227" name="Shape 314"/>
          <p:cNvSpPr/>
          <p:nvPr/>
        </p:nvSpPr>
        <p:spPr>
          <a:xfrm>
            <a:off x="2450592" y="4446905"/>
            <a:ext cx="76200" cy="76200"/>
          </a:xfrm>
          <a:prstGeom prst="rect">
            <a:avLst/>
          </a:prstGeom>
          <a:solidFill>
            <a:srgbClr val="B18CD9"/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229" name="Shape 315"/>
          <p:cNvSpPr/>
          <p:nvPr/>
        </p:nvSpPr>
        <p:spPr>
          <a:xfrm>
            <a:off x="2526792" y="4446905"/>
            <a:ext cx="76200" cy="76200"/>
          </a:xfrm>
          <a:prstGeom prst="rect">
            <a:avLst/>
          </a:prstGeom>
          <a:solidFill>
            <a:srgbClr val="E9D9F6">
              <a:alpha val="80000"/>
            </a:srgbClr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230" name="Shape 316"/>
          <p:cNvSpPr/>
          <p:nvPr/>
        </p:nvSpPr>
        <p:spPr>
          <a:xfrm>
            <a:off x="2602992" y="4446905"/>
            <a:ext cx="76200" cy="76200"/>
          </a:xfrm>
          <a:prstGeom prst="rect">
            <a:avLst/>
          </a:prstGeom>
          <a:solidFill>
            <a:srgbClr val="E9D9F6"/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231" name="Shape 317"/>
          <p:cNvSpPr/>
          <p:nvPr/>
        </p:nvSpPr>
        <p:spPr>
          <a:xfrm>
            <a:off x="2450592" y="4523105"/>
            <a:ext cx="76200" cy="76200"/>
          </a:xfrm>
          <a:prstGeom prst="rect">
            <a:avLst/>
          </a:prstGeom>
          <a:solidFill>
            <a:srgbClr val="E9D9F6">
              <a:alpha val="80000"/>
            </a:srgbClr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232" name="Shape 318"/>
          <p:cNvSpPr/>
          <p:nvPr/>
        </p:nvSpPr>
        <p:spPr>
          <a:xfrm>
            <a:off x="2526792" y="4523105"/>
            <a:ext cx="76200" cy="76200"/>
          </a:xfrm>
          <a:prstGeom prst="rect">
            <a:avLst/>
          </a:prstGeom>
          <a:solidFill>
            <a:srgbClr val="B18CD9"/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233" name="Shape 320"/>
          <p:cNvSpPr/>
          <p:nvPr/>
        </p:nvSpPr>
        <p:spPr>
          <a:xfrm>
            <a:off x="2450592" y="4599305"/>
            <a:ext cx="76200" cy="76200"/>
          </a:xfrm>
          <a:prstGeom prst="rect">
            <a:avLst/>
          </a:prstGeom>
          <a:solidFill>
            <a:srgbClr val="E9D9F6"/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234" name="Shape 321"/>
          <p:cNvSpPr/>
          <p:nvPr/>
        </p:nvSpPr>
        <p:spPr>
          <a:xfrm>
            <a:off x="2526792" y="4599305"/>
            <a:ext cx="76200" cy="76200"/>
          </a:xfrm>
          <a:prstGeom prst="rect">
            <a:avLst/>
          </a:prstGeom>
          <a:solidFill>
            <a:srgbClr val="E9D9F6">
              <a:alpha val="80000"/>
            </a:srgbClr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235" name="Shape 322"/>
          <p:cNvSpPr/>
          <p:nvPr/>
        </p:nvSpPr>
        <p:spPr>
          <a:xfrm>
            <a:off x="2602992" y="4599305"/>
            <a:ext cx="76200" cy="76200"/>
          </a:xfrm>
          <a:prstGeom prst="rect">
            <a:avLst/>
          </a:prstGeom>
          <a:solidFill>
            <a:srgbClr val="B18CD9"/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236" name="Text 323"/>
          <p:cNvSpPr/>
          <p:nvPr/>
        </p:nvSpPr>
        <p:spPr>
          <a:xfrm>
            <a:off x="2729865" y="4465447"/>
            <a:ext cx="1143000" cy="164592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C2C4A"/>
                </a:solidFill>
                <a:latin typeface="Chalkboard" panose="03050602040202020205" charset="0"/>
                <a:ea typeface="Arial" panose="020B0604020202090204" pitchFamily="34" charset="-122"/>
                <a:cs typeface="Chalkboard" panose="03050602040202020205" charset="0"/>
              </a:rPr>
              <a:t>: Similarity Matrix</a:t>
            </a:r>
            <a:endParaRPr lang="en-US" sz="1000" dirty="0">
              <a:latin typeface="Chalkboard" panose="03050602040202020205" charset="0"/>
              <a:cs typeface="Chalkboard" panose="03050602040202020205" charset="0"/>
            </a:endParaRPr>
          </a:p>
        </p:txBody>
      </p:sp>
      <p:sp>
        <p:nvSpPr>
          <p:cNvPr id="237" name="Shape 316"/>
          <p:cNvSpPr/>
          <p:nvPr/>
        </p:nvSpPr>
        <p:spPr>
          <a:xfrm>
            <a:off x="2602992" y="4523105"/>
            <a:ext cx="76200" cy="76200"/>
          </a:xfrm>
          <a:prstGeom prst="rect">
            <a:avLst/>
          </a:prstGeom>
          <a:solidFill>
            <a:srgbClr val="E9D9F6"/>
          </a:solidFill>
          <a:ln w="6350">
            <a:solidFill>
              <a:srgbClr val="8BA3B8"/>
            </a:solidFill>
            <a:prstDash val="solid"/>
          </a:ln>
        </p:spPr>
      </p:sp>
      <p:sp>
        <p:nvSpPr>
          <p:cNvPr id="238" name="Shape 1"/>
          <p:cNvSpPr/>
          <p:nvPr/>
        </p:nvSpPr>
        <p:spPr>
          <a:xfrm>
            <a:off x="12700" y="309880"/>
            <a:ext cx="2040255" cy="6481445"/>
          </a:xfrm>
          <a:prstGeom prst="roundRect">
            <a:avLst>
              <a:gd name="adj" fmla="val 5594"/>
            </a:avLst>
          </a:prstGeom>
          <a:solidFill>
            <a:srgbClr val="F8FBFF"/>
          </a:solidFill>
          <a:ln w="13970">
            <a:solidFill>
              <a:srgbClr val="2F66C8"/>
            </a:solidFill>
            <a:prstDash val="solid"/>
          </a:ln>
        </p:spPr>
      </p:sp>
      <p:sp>
        <p:nvSpPr>
          <p:cNvPr id="241" name="Text 3"/>
          <p:cNvSpPr/>
          <p:nvPr/>
        </p:nvSpPr>
        <p:spPr>
          <a:xfrm>
            <a:off x="603123" y="688594"/>
            <a:ext cx="667512" cy="256032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C4A"/>
                </a:solidFill>
                <a:latin typeface="Chalkboard SE Regular" panose="03050602040202020205" charset="0"/>
                <a:ea typeface="Arial" panose="020B0604020202090204" pitchFamily="34" charset="-122"/>
                <a:cs typeface="Chalkboard SE Regular" panose="03050602040202020205" charset="0"/>
              </a:rPr>
              <a:t>Input</a:t>
            </a:r>
            <a:endParaRPr lang="en-US" dirty="0">
              <a:solidFill>
                <a:srgbClr val="FFFFFF"/>
              </a:solidFill>
              <a:latin typeface="Chalkboard" panose="03050602040202020205" charset="0"/>
              <a:ea typeface="Aptos" pitchFamily="34" charset="-122"/>
              <a:cs typeface="Chalkboard" panose="03050602040202020205" charset="0"/>
            </a:endParaRPr>
          </a:p>
        </p:txBody>
      </p:sp>
      <p:sp>
        <p:nvSpPr>
          <p:cNvPr id="270" name="Text 4"/>
          <p:cNvSpPr/>
          <p:nvPr/>
        </p:nvSpPr>
        <p:spPr>
          <a:xfrm>
            <a:off x="-255270" y="1548130"/>
            <a:ext cx="2387600" cy="137795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  <a:latin typeface="Chalkboard" panose="03050602040202020205" charset="0"/>
                <a:ea typeface="Aptos" pitchFamily="34" charset="-122"/>
                <a:cs typeface="Chalkboard" panose="03050602040202020205" charset="0"/>
              </a:rPr>
              <a:t>Graph Structure</a:t>
            </a:r>
            <a:endParaRPr lang="en-US" sz="1400" b="1" dirty="0">
              <a:solidFill>
                <a:srgbClr val="000000"/>
              </a:solidFill>
              <a:latin typeface="Chalkboard" panose="03050602040202020205" charset="0"/>
              <a:ea typeface="Aptos" pitchFamily="34" charset="-122"/>
              <a:cs typeface="Chalkboard" panose="03050602040202020205" charset="0"/>
            </a:endParaRPr>
          </a:p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  <a:latin typeface="Chalkboard" panose="03050602040202020205" charset="0"/>
                <a:ea typeface="Aptos" pitchFamily="34" charset="-122"/>
                <a:cs typeface="Chalkboard" panose="03050602040202020205" charset="0"/>
              </a:rPr>
              <a:t>  𝒢 = (𝒱, ℰ)</a:t>
            </a:r>
            <a:endParaRPr lang="en-US" sz="1400" b="1" dirty="0">
              <a:solidFill>
                <a:srgbClr val="000000"/>
              </a:solidFill>
              <a:latin typeface="Chalkboard" panose="03050602040202020205" charset="0"/>
              <a:ea typeface="Aptos" pitchFamily="34" charset="-122"/>
              <a:cs typeface="Chalkboard" panose="03050602040202020205" charset="0"/>
            </a:endParaRPr>
          </a:p>
        </p:txBody>
      </p:sp>
      <p:sp>
        <p:nvSpPr>
          <p:cNvPr id="275" name="Shape 5"/>
          <p:cNvSpPr/>
          <p:nvPr/>
        </p:nvSpPr>
        <p:spPr>
          <a:xfrm rot="6960000">
            <a:off x="333375" y="1906321"/>
            <a:ext cx="342351" cy="210678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</a:ln>
        </p:spPr>
      </p:sp>
      <p:sp>
        <p:nvSpPr>
          <p:cNvPr id="286" name="Shape 6"/>
          <p:cNvSpPr/>
          <p:nvPr/>
        </p:nvSpPr>
        <p:spPr>
          <a:xfrm>
            <a:off x="661756" y="1910131"/>
            <a:ext cx="348935" cy="171176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</a:ln>
        </p:spPr>
      </p:sp>
      <p:sp>
        <p:nvSpPr>
          <p:cNvPr id="287" name="Shape 7"/>
          <p:cNvSpPr/>
          <p:nvPr/>
        </p:nvSpPr>
        <p:spPr>
          <a:xfrm rot="19200000">
            <a:off x="1011326" y="1934560"/>
            <a:ext cx="395021" cy="144841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</a:ln>
        </p:spPr>
      </p:sp>
      <p:sp>
        <p:nvSpPr>
          <p:cNvPr id="288" name="Shape 8"/>
          <p:cNvSpPr/>
          <p:nvPr/>
        </p:nvSpPr>
        <p:spPr>
          <a:xfrm>
            <a:off x="319405" y="2120809"/>
            <a:ext cx="381853" cy="237012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</a:ln>
        </p:spPr>
      </p:sp>
      <p:sp>
        <p:nvSpPr>
          <p:cNvPr id="289" name="Shape 9"/>
          <p:cNvSpPr/>
          <p:nvPr/>
        </p:nvSpPr>
        <p:spPr>
          <a:xfrm>
            <a:off x="661756" y="1910131"/>
            <a:ext cx="39502" cy="447690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</a:ln>
        </p:spPr>
      </p:sp>
      <p:sp>
        <p:nvSpPr>
          <p:cNvPr id="290" name="Shape 10"/>
          <p:cNvSpPr/>
          <p:nvPr/>
        </p:nvSpPr>
        <p:spPr>
          <a:xfrm rot="6780000">
            <a:off x="385241" y="2357821"/>
            <a:ext cx="316017" cy="210678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</a:ln>
        </p:spPr>
      </p:sp>
      <p:sp>
        <p:nvSpPr>
          <p:cNvPr id="291" name="Shape 11"/>
          <p:cNvSpPr/>
          <p:nvPr/>
        </p:nvSpPr>
        <p:spPr>
          <a:xfrm>
            <a:off x="701258" y="2357821"/>
            <a:ext cx="355519" cy="177759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</a:ln>
        </p:spPr>
      </p:sp>
      <p:sp>
        <p:nvSpPr>
          <p:cNvPr id="292" name="Shape 12"/>
          <p:cNvSpPr/>
          <p:nvPr/>
        </p:nvSpPr>
        <p:spPr>
          <a:xfrm rot="6960000">
            <a:off x="1056777" y="2357821"/>
            <a:ext cx="283098" cy="177759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</a:ln>
        </p:spPr>
      </p:sp>
      <p:sp>
        <p:nvSpPr>
          <p:cNvPr id="293" name="Shape 13"/>
          <p:cNvSpPr/>
          <p:nvPr/>
        </p:nvSpPr>
        <p:spPr>
          <a:xfrm rot="1140000">
            <a:off x="1339875" y="1936465"/>
            <a:ext cx="65837" cy="421356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</a:ln>
        </p:spPr>
      </p:sp>
      <p:sp>
        <p:nvSpPr>
          <p:cNvPr id="294" name="Shape 14"/>
          <p:cNvSpPr/>
          <p:nvPr/>
        </p:nvSpPr>
        <p:spPr>
          <a:xfrm>
            <a:off x="1010691" y="2081306"/>
            <a:ext cx="329184" cy="276515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</a:ln>
        </p:spPr>
      </p:sp>
      <p:sp>
        <p:nvSpPr>
          <p:cNvPr id="295" name="Shape 15"/>
          <p:cNvSpPr/>
          <p:nvPr/>
        </p:nvSpPr>
        <p:spPr>
          <a:xfrm>
            <a:off x="1339875" y="2357821"/>
            <a:ext cx="296266" cy="230429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</a:ln>
        </p:spPr>
      </p:sp>
      <p:sp>
        <p:nvSpPr>
          <p:cNvPr id="296" name="Shape 16"/>
          <p:cNvSpPr/>
          <p:nvPr/>
        </p:nvSpPr>
        <p:spPr>
          <a:xfrm>
            <a:off x="269113" y="2070517"/>
            <a:ext cx="100584" cy="100584"/>
          </a:xfrm>
          <a:prstGeom prst="ellipse">
            <a:avLst/>
          </a:prstGeom>
          <a:solidFill>
            <a:srgbClr val="6EA8FE"/>
          </a:solidFill>
          <a:ln w="10160">
            <a:solidFill>
              <a:srgbClr val="305080"/>
            </a:solidFill>
            <a:prstDash val="solid"/>
          </a:ln>
        </p:spPr>
      </p:sp>
      <p:sp>
        <p:nvSpPr>
          <p:cNvPr id="297" name="Shape 17"/>
          <p:cNvSpPr/>
          <p:nvPr/>
        </p:nvSpPr>
        <p:spPr>
          <a:xfrm>
            <a:off x="611464" y="1859839"/>
            <a:ext cx="100584" cy="100584"/>
          </a:xfrm>
          <a:prstGeom prst="ellipse">
            <a:avLst/>
          </a:prstGeom>
          <a:solidFill>
            <a:srgbClr val="55C878"/>
          </a:solidFill>
          <a:ln w="10160">
            <a:solidFill>
              <a:srgbClr val="305080"/>
            </a:solidFill>
            <a:prstDash val="solid"/>
          </a:ln>
        </p:spPr>
      </p:sp>
      <p:sp>
        <p:nvSpPr>
          <p:cNvPr id="299" name="Shape 19"/>
          <p:cNvSpPr/>
          <p:nvPr/>
        </p:nvSpPr>
        <p:spPr>
          <a:xfrm>
            <a:off x="1355420" y="1886174"/>
            <a:ext cx="100584" cy="100584"/>
          </a:xfrm>
          <a:prstGeom prst="ellipse">
            <a:avLst/>
          </a:prstGeom>
          <a:solidFill>
            <a:srgbClr val="4D8DFF"/>
          </a:solidFill>
          <a:ln w="10160">
            <a:solidFill>
              <a:srgbClr val="305080"/>
            </a:solidFill>
            <a:prstDash val="solid"/>
          </a:ln>
        </p:spPr>
      </p:sp>
      <p:sp>
        <p:nvSpPr>
          <p:cNvPr id="300" name="Shape 20"/>
          <p:cNvSpPr/>
          <p:nvPr/>
        </p:nvSpPr>
        <p:spPr>
          <a:xfrm>
            <a:off x="650966" y="2307529"/>
            <a:ext cx="100584" cy="100584"/>
          </a:xfrm>
          <a:prstGeom prst="ellipse">
            <a:avLst/>
          </a:prstGeom>
          <a:solidFill>
            <a:srgbClr val="D0D5DD"/>
          </a:solidFill>
          <a:ln w="10160">
            <a:solidFill>
              <a:srgbClr val="305080"/>
            </a:solidFill>
            <a:prstDash val="solid"/>
          </a:ln>
        </p:spPr>
      </p:sp>
      <p:sp>
        <p:nvSpPr>
          <p:cNvPr id="338" name="Shape 23"/>
          <p:cNvSpPr/>
          <p:nvPr/>
        </p:nvSpPr>
        <p:spPr>
          <a:xfrm>
            <a:off x="1289583" y="2307529"/>
            <a:ext cx="100584" cy="100584"/>
          </a:xfrm>
          <a:prstGeom prst="ellipse">
            <a:avLst/>
          </a:prstGeom>
          <a:solidFill>
            <a:srgbClr val="72C39A"/>
          </a:solidFill>
          <a:ln w="10160">
            <a:solidFill>
              <a:srgbClr val="305080"/>
            </a:solidFill>
            <a:prstDash val="solid"/>
          </a:ln>
        </p:spPr>
      </p:sp>
      <p:sp>
        <p:nvSpPr>
          <p:cNvPr id="339" name="Shape 24"/>
          <p:cNvSpPr/>
          <p:nvPr/>
        </p:nvSpPr>
        <p:spPr>
          <a:xfrm>
            <a:off x="1585849" y="2537958"/>
            <a:ext cx="100584" cy="100584"/>
          </a:xfrm>
          <a:prstGeom prst="ellipse">
            <a:avLst/>
          </a:prstGeom>
          <a:solidFill>
            <a:srgbClr val="D9DEE7"/>
          </a:solidFill>
          <a:ln w="10160">
            <a:solidFill>
              <a:srgbClr val="305080"/>
            </a:solidFill>
            <a:prstDash val="solid"/>
          </a:ln>
        </p:spPr>
      </p:sp>
      <p:sp>
        <p:nvSpPr>
          <p:cNvPr id="340" name="Text 25"/>
          <p:cNvSpPr/>
          <p:nvPr/>
        </p:nvSpPr>
        <p:spPr>
          <a:xfrm>
            <a:off x="944855" y="1877212"/>
            <a:ext cx="164592" cy="79004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 fontScale="50000"/>
          </a:bodyPr>
          <a:lstStyle/>
          <a:p>
            <a:pPr marL="0" indent="0" algn="ctr">
              <a:buNone/>
            </a:pPr>
            <a:r>
              <a:rPr lang="en-US" sz="865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⋯</a:t>
            </a:r>
            <a:endParaRPr lang="en-US" sz="865" dirty="0"/>
          </a:p>
        </p:txBody>
      </p:sp>
      <p:sp>
        <p:nvSpPr>
          <p:cNvPr id="341" name="Text 26"/>
          <p:cNvSpPr/>
          <p:nvPr/>
        </p:nvSpPr>
        <p:spPr>
          <a:xfrm>
            <a:off x="839516" y="2173478"/>
            <a:ext cx="164592" cy="79004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 fontScale="50000"/>
          </a:bodyPr>
          <a:lstStyle/>
          <a:p>
            <a:pPr marL="0" indent="0" algn="ctr">
              <a:buNone/>
            </a:pPr>
            <a:r>
              <a:rPr lang="en-US" sz="865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⋯</a:t>
            </a:r>
            <a:endParaRPr lang="en-US" sz="865" dirty="0"/>
          </a:p>
        </p:txBody>
      </p:sp>
      <p:sp>
        <p:nvSpPr>
          <p:cNvPr id="342" name="Text 27"/>
          <p:cNvSpPr/>
          <p:nvPr/>
        </p:nvSpPr>
        <p:spPr>
          <a:xfrm>
            <a:off x="1570304" y="2140560"/>
            <a:ext cx="164592" cy="79004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 fontScale="50000"/>
          </a:bodyPr>
          <a:lstStyle/>
          <a:p>
            <a:pPr marL="0" indent="0" algn="ctr">
              <a:buNone/>
            </a:pPr>
            <a:r>
              <a:rPr lang="en-US" sz="865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⋯</a:t>
            </a:r>
            <a:endParaRPr lang="en-US" sz="865" dirty="0"/>
          </a:p>
        </p:txBody>
      </p:sp>
      <p:sp>
        <p:nvSpPr>
          <p:cNvPr id="345" name="Text 30"/>
          <p:cNvSpPr/>
          <p:nvPr/>
        </p:nvSpPr>
        <p:spPr>
          <a:xfrm>
            <a:off x="-255270" y="2907030"/>
            <a:ext cx="2519680" cy="17526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  <a:latin typeface="Chalkboard" panose="03050602040202020205" charset="0"/>
                <a:ea typeface="Aptos" pitchFamily="34" charset="-122"/>
                <a:cs typeface="Chalkboard" panose="03050602040202020205" charset="0"/>
              </a:rPr>
              <a:t>Node Features  </a:t>
            </a:r>
            <a:br>
              <a:rPr lang="en-US" sz="1400" b="1" dirty="0">
                <a:solidFill>
                  <a:srgbClr val="000000"/>
                </a:solidFill>
                <a:latin typeface="Chalkboard" panose="03050602040202020205" charset="0"/>
                <a:ea typeface="Aptos" pitchFamily="34" charset="-122"/>
                <a:cs typeface="Chalkboard" panose="03050602040202020205" charset="0"/>
              </a:rPr>
            </a:br>
            <a:r>
              <a:rPr lang="en-US" sz="1400" b="1" dirty="0">
                <a:solidFill>
                  <a:srgbClr val="000000"/>
                </a:solidFill>
                <a:latin typeface="Chalkboard" panose="03050602040202020205" charset="0"/>
                <a:ea typeface="Aptos" pitchFamily="34" charset="-122"/>
                <a:cs typeface="Chalkboard" panose="03050602040202020205" charset="0"/>
              </a:rPr>
              <a:t>X ∈ ℝ</a:t>
            </a:r>
            <a:r>
              <a:rPr lang="en-US" sz="1400" b="1" baseline="30000" dirty="0">
                <a:solidFill>
                  <a:srgbClr val="000000"/>
                </a:solidFill>
                <a:latin typeface="Chalkboard" panose="03050602040202020205" charset="0"/>
                <a:ea typeface="Aptos" pitchFamily="34" charset="-122"/>
                <a:cs typeface="Chalkboard" panose="03050602040202020205" charset="0"/>
              </a:rPr>
              <a:t>|𝒱|×F</a:t>
            </a:r>
            <a:endParaRPr lang="en-US" sz="1400" b="1" baseline="30000" dirty="0">
              <a:solidFill>
                <a:srgbClr val="000000"/>
              </a:solidFill>
              <a:latin typeface="Chalkboard" panose="03050602040202020205" charset="0"/>
              <a:ea typeface="Aptos" pitchFamily="34" charset="-122"/>
              <a:cs typeface="Chalkboard" panose="03050602040202020205" charset="0"/>
            </a:endParaRPr>
          </a:p>
        </p:txBody>
      </p:sp>
      <p:sp>
        <p:nvSpPr>
          <p:cNvPr id="346" name="Text 31"/>
          <p:cNvSpPr/>
          <p:nvPr/>
        </p:nvSpPr>
        <p:spPr>
          <a:xfrm>
            <a:off x="86868" y="3337179"/>
            <a:ext cx="228600" cy="128016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 fontScale="9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591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v₁</a:t>
            </a:r>
            <a:endParaRPr lang="en-US" sz="900" dirty="0"/>
          </a:p>
        </p:txBody>
      </p:sp>
      <p:sp>
        <p:nvSpPr>
          <p:cNvPr id="347" name="Text 32"/>
          <p:cNvSpPr/>
          <p:nvPr/>
        </p:nvSpPr>
        <p:spPr>
          <a:xfrm>
            <a:off x="86868" y="3529203"/>
            <a:ext cx="228600" cy="128016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 fontScale="9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868C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v₂</a:t>
            </a:r>
            <a:endParaRPr lang="en-US" sz="900" dirty="0"/>
          </a:p>
        </p:txBody>
      </p:sp>
      <p:sp>
        <p:nvSpPr>
          <p:cNvPr id="348" name="Text 33"/>
          <p:cNvSpPr/>
          <p:nvPr/>
        </p:nvSpPr>
        <p:spPr>
          <a:xfrm>
            <a:off x="86868" y="3721227"/>
            <a:ext cx="228600" cy="128016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2A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⋮</a:t>
            </a:r>
            <a:endParaRPr lang="en-US" sz="900" dirty="0"/>
          </a:p>
        </p:txBody>
      </p:sp>
      <p:sp>
        <p:nvSpPr>
          <p:cNvPr id="349" name="Text 34"/>
          <p:cNvSpPr/>
          <p:nvPr/>
        </p:nvSpPr>
        <p:spPr>
          <a:xfrm>
            <a:off x="86868" y="3913251"/>
            <a:ext cx="228600" cy="128016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 fontScale="90000"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2A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v|𝒱|</a:t>
            </a:r>
            <a:endParaRPr lang="en-US" sz="900" dirty="0"/>
          </a:p>
        </p:txBody>
      </p:sp>
      <p:sp>
        <p:nvSpPr>
          <p:cNvPr id="350" name="Shape 35"/>
          <p:cNvSpPr/>
          <p:nvPr/>
        </p:nvSpPr>
        <p:spPr>
          <a:xfrm>
            <a:off x="434340" y="3291459"/>
            <a:ext cx="189411" cy="243840"/>
          </a:xfrm>
          <a:prstGeom prst="rect">
            <a:avLst/>
          </a:prstGeom>
          <a:solidFill>
            <a:srgbClr val="DDF5E7"/>
          </a:solidFill>
          <a:ln w="5715">
            <a:solidFill>
              <a:srgbClr val="2CA366"/>
            </a:solidFill>
            <a:prstDash val="solid"/>
          </a:ln>
        </p:spPr>
      </p:sp>
      <p:sp>
        <p:nvSpPr>
          <p:cNvPr id="351" name="Shape 36"/>
          <p:cNvSpPr/>
          <p:nvPr/>
        </p:nvSpPr>
        <p:spPr>
          <a:xfrm>
            <a:off x="623751" y="3291459"/>
            <a:ext cx="189411" cy="243840"/>
          </a:xfrm>
          <a:prstGeom prst="rect">
            <a:avLst/>
          </a:prstGeom>
          <a:solidFill>
            <a:srgbClr val="DDF5E7"/>
          </a:solidFill>
          <a:ln w="5715">
            <a:solidFill>
              <a:srgbClr val="2CA366"/>
            </a:solidFill>
            <a:prstDash val="solid"/>
          </a:ln>
        </p:spPr>
      </p:sp>
      <p:sp>
        <p:nvSpPr>
          <p:cNvPr id="359" name="Shape 37"/>
          <p:cNvSpPr/>
          <p:nvPr/>
        </p:nvSpPr>
        <p:spPr>
          <a:xfrm>
            <a:off x="813163" y="3291459"/>
            <a:ext cx="189411" cy="243840"/>
          </a:xfrm>
          <a:prstGeom prst="rect">
            <a:avLst/>
          </a:prstGeom>
          <a:solidFill>
            <a:srgbClr val="DDF5E7"/>
          </a:solidFill>
          <a:ln w="5715">
            <a:solidFill>
              <a:srgbClr val="2CA366"/>
            </a:solidFill>
            <a:prstDash val="solid"/>
          </a:ln>
        </p:spPr>
      </p:sp>
      <p:sp>
        <p:nvSpPr>
          <p:cNvPr id="360" name="Shape 38"/>
          <p:cNvSpPr/>
          <p:nvPr/>
        </p:nvSpPr>
        <p:spPr>
          <a:xfrm>
            <a:off x="1002574" y="3291459"/>
            <a:ext cx="189411" cy="243840"/>
          </a:xfrm>
          <a:prstGeom prst="rect">
            <a:avLst/>
          </a:prstGeom>
          <a:solidFill>
            <a:srgbClr val="DDF5E7"/>
          </a:solidFill>
          <a:ln w="5715">
            <a:solidFill>
              <a:srgbClr val="2CA366"/>
            </a:solidFill>
            <a:prstDash val="solid"/>
          </a:ln>
        </p:spPr>
      </p:sp>
      <p:sp>
        <p:nvSpPr>
          <p:cNvPr id="361" name="Shape 39"/>
          <p:cNvSpPr/>
          <p:nvPr/>
        </p:nvSpPr>
        <p:spPr>
          <a:xfrm>
            <a:off x="1191895" y="3291205"/>
            <a:ext cx="381635" cy="243840"/>
          </a:xfrm>
          <a:prstGeom prst="rect">
            <a:avLst/>
          </a:prstGeom>
          <a:solidFill>
            <a:srgbClr val="FFFFFF"/>
          </a:solidFill>
          <a:ln w="5715">
            <a:solidFill>
              <a:srgbClr val="2CA366"/>
            </a:solidFill>
            <a:prstDash val="solid"/>
          </a:ln>
        </p:spPr>
        <p:txBody>
          <a:bodyPr/>
          <a:p>
            <a:endParaRPr lang="en-US" altLang="zh-CN"/>
          </a:p>
        </p:txBody>
      </p:sp>
      <p:sp>
        <p:nvSpPr>
          <p:cNvPr id="363" name="Shape 41"/>
          <p:cNvSpPr/>
          <p:nvPr/>
        </p:nvSpPr>
        <p:spPr>
          <a:xfrm>
            <a:off x="1570809" y="3291459"/>
            <a:ext cx="189411" cy="243840"/>
          </a:xfrm>
          <a:prstGeom prst="rect">
            <a:avLst/>
          </a:prstGeom>
          <a:solidFill>
            <a:srgbClr val="FFFFFF">
              <a:alpha val="75000"/>
            </a:srgbClr>
          </a:solidFill>
          <a:ln w="5715">
            <a:solidFill>
              <a:srgbClr val="2CA366"/>
            </a:solidFill>
            <a:prstDash val="solid"/>
          </a:ln>
        </p:spPr>
      </p:sp>
      <p:sp>
        <p:nvSpPr>
          <p:cNvPr id="364" name="Shape 42"/>
          <p:cNvSpPr/>
          <p:nvPr/>
        </p:nvSpPr>
        <p:spPr>
          <a:xfrm>
            <a:off x="434340" y="3535299"/>
            <a:ext cx="189411" cy="243840"/>
          </a:xfrm>
          <a:prstGeom prst="rect">
            <a:avLst/>
          </a:prstGeom>
          <a:solidFill>
            <a:srgbClr val="C3E0FF"/>
          </a:solidFill>
          <a:ln w="5715">
            <a:solidFill>
              <a:srgbClr val="3074D8"/>
            </a:solidFill>
            <a:prstDash val="solid"/>
          </a:ln>
        </p:spPr>
      </p:sp>
      <p:sp>
        <p:nvSpPr>
          <p:cNvPr id="365" name="Shape 43"/>
          <p:cNvSpPr/>
          <p:nvPr/>
        </p:nvSpPr>
        <p:spPr>
          <a:xfrm>
            <a:off x="623751" y="3535299"/>
            <a:ext cx="189411" cy="243840"/>
          </a:xfrm>
          <a:prstGeom prst="rect">
            <a:avLst/>
          </a:prstGeom>
          <a:solidFill>
            <a:srgbClr val="C3E0FF"/>
          </a:solidFill>
          <a:ln w="5715">
            <a:solidFill>
              <a:srgbClr val="3074D8"/>
            </a:solidFill>
            <a:prstDash val="solid"/>
          </a:ln>
        </p:spPr>
      </p:sp>
      <p:sp>
        <p:nvSpPr>
          <p:cNvPr id="366" name="Shape 44"/>
          <p:cNvSpPr/>
          <p:nvPr/>
        </p:nvSpPr>
        <p:spPr>
          <a:xfrm>
            <a:off x="813163" y="3535299"/>
            <a:ext cx="189411" cy="243840"/>
          </a:xfrm>
          <a:prstGeom prst="rect">
            <a:avLst/>
          </a:prstGeom>
          <a:solidFill>
            <a:srgbClr val="C3E0FF"/>
          </a:solidFill>
          <a:ln w="5715">
            <a:solidFill>
              <a:srgbClr val="3074D8"/>
            </a:solidFill>
            <a:prstDash val="solid"/>
          </a:ln>
        </p:spPr>
      </p:sp>
      <p:sp>
        <p:nvSpPr>
          <p:cNvPr id="367" name="Shape 45"/>
          <p:cNvSpPr/>
          <p:nvPr/>
        </p:nvSpPr>
        <p:spPr>
          <a:xfrm>
            <a:off x="1002574" y="3535299"/>
            <a:ext cx="189411" cy="243840"/>
          </a:xfrm>
          <a:prstGeom prst="rect">
            <a:avLst/>
          </a:prstGeom>
          <a:solidFill>
            <a:srgbClr val="C3E0FF"/>
          </a:solidFill>
          <a:ln w="5715">
            <a:solidFill>
              <a:srgbClr val="3074D8"/>
            </a:solidFill>
            <a:prstDash val="solid"/>
          </a:ln>
        </p:spPr>
      </p:sp>
      <p:sp>
        <p:nvSpPr>
          <p:cNvPr id="368" name="Shape 46"/>
          <p:cNvSpPr/>
          <p:nvPr/>
        </p:nvSpPr>
        <p:spPr>
          <a:xfrm>
            <a:off x="1191895" y="3535045"/>
            <a:ext cx="381000" cy="243840"/>
          </a:xfrm>
          <a:prstGeom prst="rect">
            <a:avLst/>
          </a:prstGeom>
          <a:solidFill>
            <a:srgbClr val="FFFFFF"/>
          </a:solidFill>
          <a:ln w="5715">
            <a:solidFill>
              <a:srgbClr val="3074D8"/>
            </a:solidFill>
            <a:prstDash val="solid"/>
          </a:ln>
        </p:spPr>
      </p:sp>
      <p:sp>
        <p:nvSpPr>
          <p:cNvPr id="370" name="Shape 48"/>
          <p:cNvSpPr/>
          <p:nvPr/>
        </p:nvSpPr>
        <p:spPr>
          <a:xfrm>
            <a:off x="1570809" y="3535299"/>
            <a:ext cx="189411" cy="243840"/>
          </a:xfrm>
          <a:prstGeom prst="rect">
            <a:avLst/>
          </a:prstGeom>
          <a:solidFill>
            <a:srgbClr val="FFFFFF">
              <a:alpha val="75000"/>
            </a:srgbClr>
          </a:solidFill>
          <a:ln w="5715">
            <a:solidFill>
              <a:srgbClr val="3074D8"/>
            </a:solidFill>
            <a:prstDash val="solid"/>
          </a:ln>
        </p:spPr>
      </p:sp>
      <p:sp>
        <p:nvSpPr>
          <p:cNvPr id="371" name="Shape 49"/>
          <p:cNvSpPr/>
          <p:nvPr/>
        </p:nvSpPr>
        <p:spPr>
          <a:xfrm>
            <a:off x="434340" y="3779139"/>
            <a:ext cx="189411" cy="243840"/>
          </a:xfrm>
          <a:prstGeom prst="rect">
            <a:avLst/>
          </a:prstGeom>
          <a:solidFill>
            <a:srgbClr val="E8D7FF"/>
          </a:solidFill>
          <a:ln w="5715">
            <a:solidFill>
              <a:srgbClr val="8D4BD6"/>
            </a:solidFill>
            <a:prstDash val="solid"/>
          </a:ln>
        </p:spPr>
      </p:sp>
      <p:sp>
        <p:nvSpPr>
          <p:cNvPr id="372" name="Shape 50"/>
          <p:cNvSpPr/>
          <p:nvPr/>
        </p:nvSpPr>
        <p:spPr>
          <a:xfrm>
            <a:off x="623751" y="3779139"/>
            <a:ext cx="189411" cy="243840"/>
          </a:xfrm>
          <a:prstGeom prst="rect">
            <a:avLst/>
          </a:prstGeom>
          <a:solidFill>
            <a:srgbClr val="E8D7FF"/>
          </a:solidFill>
          <a:ln w="5715">
            <a:solidFill>
              <a:srgbClr val="8D4BD6"/>
            </a:solidFill>
            <a:prstDash val="solid"/>
          </a:ln>
        </p:spPr>
      </p:sp>
      <p:sp>
        <p:nvSpPr>
          <p:cNvPr id="373" name="Shape 51"/>
          <p:cNvSpPr/>
          <p:nvPr/>
        </p:nvSpPr>
        <p:spPr>
          <a:xfrm>
            <a:off x="813163" y="3779139"/>
            <a:ext cx="189411" cy="243840"/>
          </a:xfrm>
          <a:prstGeom prst="rect">
            <a:avLst/>
          </a:prstGeom>
          <a:solidFill>
            <a:srgbClr val="E8D7FF"/>
          </a:solidFill>
          <a:ln w="5715">
            <a:solidFill>
              <a:srgbClr val="8D4BD6"/>
            </a:solidFill>
            <a:prstDash val="solid"/>
          </a:ln>
        </p:spPr>
      </p:sp>
      <p:sp>
        <p:nvSpPr>
          <p:cNvPr id="374" name="Shape 52"/>
          <p:cNvSpPr/>
          <p:nvPr/>
        </p:nvSpPr>
        <p:spPr>
          <a:xfrm>
            <a:off x="1002574" y="3779139"/>
            <a:ext cx="189411" cy="243840"/>
          </a:xfrm>
          <a:prstGeom prst="rect">
            <a:avLst/>
          </a:prstGeom>
          <a:solidFill>
            <a:srgbClr val="E8D7FF"/>
          </a:solidFill>
          <a:ln w="5715">
            <a:solidFill>
              <a:srgbClr val="8D4BD6"/>
            </a:solidFill>
            <a:prstDash val="solid"/>
          </a:ln>
        </p:spPr>
      </p:sp>
      <p:sp>
        <p:nvSpPr>
          <p:cNvPr id="375" name="Shape 53"/>
          <p:cNvSpPr/>
          <p:nvPr/>
        </p:nvSpPr>
        <p:spPr>
          <a:xfrm>
            <a:off x="1191895" y="3778885"/>
            <a:ext cx="381000" cy="243840"/>
          </a:xfrm>
          <a:prstGeom prst="rect">
            <a:avLst/>
          </a:prstGeom>
          <a:solidFill>
            <a:srgbClr val="FFFFFF"/>
          </a:solidFill>
          <a:ln w="5715">
            <a:solidFill>
              <a:srgbClr val="8D4BD6"/>
            </a:solidFill>
            <a:prstDash val="solid"/>
          </a:ln>
        </p:spPr>
      </p:sp>
      <p:sp>
        <p:nvSpPr>
          <p:cNvPr id="377" name="Shape 55"/>
          <p:cNvSpPr/>
          <p:nvPr/>
        </p:nvSpPr>
        <p:spPr>
          <a:xfrm>
            <a:off x="1570809" y="3779139"/>
            <a:ext cx="189411" cy="243840"/>
          </a:xfrm>
          <a:prstGeom prst="rect">
            <a:avLst/>
          </a:prstGeom>
          <a:solidFill>
            <a:srgbClr val="FFFFFF">
              <a:alpha val="75000"/>
            </a:srgbClr>
          </a:solidFill>
          <a:ln w="5715">
            <a:solidFill>
              <a:srgbClr val="8D4BD6"/>
            </a:solidFill>
            <a:prstDash val="solid"/>
          </a:ln>
        </p:spPr>
      </p:sp>
      <p:sp>
        <p:nvSpPr>
          <p:cNvPr id="379" name="Text 57"/>
          <p:cNvSpPr/>
          <p:nvPr/>
        </p:nvSpPr>
        <p:spPr>
          <a:xfrm>
            <a:off x="203200" y="4201160"/>
            <a:ext cx="1795145" cy="18288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  <a:latin typeface="Chalkboard" panose="03050602040202020205" charset="0"/>
                <a:ea typeface="Aptos" pitchFamily="34" charset="-122"/>
                <a:cs typeface="Chalkboard" panose="03050602040202020205" charset="0"/>
              </a:rPr>
              <a:t>Data Augmentation</a:t>
            </a:r>
            <a:endParaRPr lang="en-US" sz="1400" b="1" dirty="0">
              <a:solidFill>
                <a:srgbClr val="000000"/>
              </a:solidFill>
              <a:latin typeface="Chalkboard" panose="03050602040202020205" charset="0"/>
              <a:ea typeface="Aptos" pitchFamily="34" charset="-122"/>
              <a:cs typeface="Chalkboard" panose="03050602040202020205" charset="0"/>
            </a:endParaRPr>
          </a:p>
        </p:txBody>
      </p:sp>
      <p:sp>
        <p:nvSpPr>
          <p:cNvPr id="380" name="Shape 58"/>
          <p:cNvSpPr/>
          <p:nvPr/>
        </p:nvSpPr>
        <p:spPr>
          <a:xfrm>
            <a:off x="22225" y="4598670"/>
            <a:ext cx="949325" cy="810895"/>
          </a:xfrm>
          <a:prstGeom prst="roundRect">
            <a:avLst>
              <a:gd name="adj" fmla="val 10256"/>
            </a:avLst>
          </a:prstGeom>
          <a:solidFill>
            <a:srgbClr val="F1F7FF"/>
          </a:solidFill>
          <a:ln w="13970">
            <a:solidFill>
              <a:srgbClr val="2F66C8"/>
            </a:solidFill>
            <a:prstDash val="solid"/>
          </a:ln>
        </p:spPr>
      </p:sp>
      <p:sp>
        <p:nvSpPr>
          <p:cNvPr id="381" name="Text 59"/>
          <p:cNvSpPr/>
          <p:nvPr/>
        </p:nvSpPr>
        <p:spPr>
          <a:xfrm>
            <a:off x="215265" y="4693539"/>
            <a:ext cx="676656" cy="118872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2F66C8"/>
                </a:solidFill>
                <a:latin typeface="Chalkboard" panose="03050602040202020205" charset="0"/>
                <a:ea typeface="Aptos" pitchFamily="34" charset="-122"/>
                <a:cs typeface="Chalkboard" panose="03050602040202020205" charset="0"/>
              </a:rPr>
              <a:t>View 1</a:t>
            </a:r>
            <a:endParaRPr lang="en-US" sz="1400" dirty="0">
              <a:solidFill>
                <a:srgbClr val="2F66C8"/>
              </a:solidFill>
              <a:latin typeface="Chalkboard" panose="03050602040202020205" charset="0"/>
              <a:ea typeface="Aptos" pitchFamily="34" charset="-122"/>
              <a:cs typeface="Chalkboard" panose="03050602040202020205" charset="0"/>
            </a:endParaRPr>
          </a:p>
        </p:txBody>
      </p:sp>
      <p:sp>
        <p:nvSpPr>
          <p:cNvPr id="382" name="Shape 60"/>
          <p:cNvSpPr/>
          <p:nvPr/>
        </p:nvSpPr>
        <p:spPr>
          <a:xfrm rot="6600000">
            <a:off x="228473" y="4955794"/>
            <a:ext cx="142646" cy="87782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</a:ln>
        </p:spPr>
      </p:sp>
      <p:sp>
        <p:nvSpPr>
          <p:cNvPr id="385" name="Shape 63"/>
          <p:cNvSpPr/>
          <p:nvPr/>
        </p:nvSpPr>
        <p:spPr>
          <a:xfrm>
            <a:off x="228473" y="5043576"/>
            <a:ext cx="159106" cy="98755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</a:ln>
        </p:spPr>
      </p:sp>
      <p:sp>
        <p:nvSpPr>
          <p:cNvPr id="386" name="Shape 64"/>
          <p:cNvSpPr/>
          <p:nvPr/>
        </p:nvSpPr>
        <p:spPr>
          <a:xfrm>
            <a:off x="371119" y="4955794"/>
            <a:ext cx="16459" cy="186538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</a:ln>
        </p:spPr>
      </p:sp>
      <p:sp>
        <p:nvSpPr>
          <p:cNvPr id="387" name="Shape 65"/>
          <p:cNvSpPr/>
          <p:nvPr/>
        </p:nvSpPr>
        <p:spPr>
          <a:xfrm rot="6600000">
            <a:off x="255905" y="5142332"/>
            <a:ext cx="131674" cy="87782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</a:ln>
        </p:spPr>
      </p:sp>
      <p:sp>
        <p:nvSpPr>
          <p:cNvPr id="390" name="Shape 68"/>
          <p:cNvSpPr/>
          <p:nvPr/>
        </p:nvSpPr>
        <p:spPr>
          <a:xfrm rot="2820000">
            <a:off x="670560" y="4956175"/>
            <a:ext cx="56515" cy="175260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</a:ln>
        </p:spPr>
      </p:sp>
      <p:sp>
        <p:nvSpPr>
          <p:cNvPr id="391" name="Shape 69"/>
          <p:cNvSpPr/>
          <p:nvPr/>
        </p:nvSpPr>
        <p:spPr>
          <a:xfrm rot="19320000">
            <a:off x="445389" y="5093157"/>
            <a:ext cx="137160" cy="115214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</a:ln>
        </p:spPr>
      </p:sp>
      <p:sp>
        <p:nvSpPr>
          <p:cNvPr id="392" name="Shape 70"/>
          <p:cNvSpPr/>
          <p:nvPr/>
        </p:nvSpPr>
        <p:spPr>
          <a:xfrm>
            <a:off x="653669" y="5142332"/>
            <a:ext cx="123444" cy="96012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</a:ln>
        </p:spPr>
      </p:sp>
      <p:sp>
        <p:nvSpPr>
          <p:cNvPr id="393" name="Shape 71"/>
          <p:cNvSpPr/>
          <p:nvPr/>
        </p:nvSpPr>
        <p:spPr>
          <a:xfrm>
            <a:off x="178181" y="4993284"/>
            <a:ext cx="100584" cy="100584"/>
          </a:xfrm>
          <a:prstGeom prst="ellipse">
            <a:avLst/>
          </a:prstGeom>
          <a:solidFill>
            <a:srgbClr val="6EA8FE"/>
          </a:solidFill>
          <a:ln w="10160">
            <a:solidFill>
              <a:srgbClr val="305080"/>
            </a:solidFill>
            <a:prstDash val="solid"/>
          </a:ln>
        </p:spPr>
      </p:sp>
      <p:sp>
        <p:nvSpPr>
          <p:cNvPr id="394" name="Shape 72"/>
          <p:cNvSpPr/>
          <p:nvPr/>
        </p:nvSpPr>
        <p:spPr>
          <a:xfrm>
            <a:off x="320827" y="4905502"/>
            <a:ext cx="100584" cy="100584"/>
          </a:xfrm>
          <a:prstGeom prst="ellipse">
            <a:avLst/>
          </a:prstGeom>
          <a:solidFill>
            <a:srgbClr val="55C878"/>
          </a:solidFill>
          <a:ln w="10160">
            <a:solidFill>
              <a:srgbClr val="305080"/>
            </a:solidFill>
            <a:prstDash val="solid"/>
          </a:ln>
        </p:spPr>
      </p:sp>
      <p:sp>
        <p:nvSpPr>
          <p:cNvPr id="396" name="Shape 74"/>
          <p:cNvSpPr/>
          <p:nvPr/>
        </p:nvSpPr>
        <p:spPr>
          <a:xfrm>
            <a:off x="689864" y="4924095"/>
            <a:ext cx="100584" cy="100584"/>
          </a:xfrm>
          <a:prstGeom prst="ellipse">
            <a:avLst/>
          </a:prstGeom>
          <a:solidFill>
            <a:srgbClr val="4D8DFF"/>
          </a:solidFill>
          <a:ln w="10160">
            <a:solidFill>
              <a:srgbClr val="305080"/>
            </a:solidFill>
            <a:prstDash val="solid"/>
          </a:ln>
        </p:spPr>
      </p:sp>
      <p:sp>
        <p:nvSpPr>
          <p:cNvPr id="397" name="Shape 75"/>
          <p:cNvSpPr/>
          <p:nvPr/>
        </p:nvSpPr>
        <p:spPr>
          <a:xfrm>
            <a:off x="337287" y="5092040"/>
            <a:ext cx="100584" cy="100584"/>
          </a:xfrm>
          <a:prstGeom prst="ellipse">
            <a:avLst/>
          </a:prstGeom>
          <a:solidFill>
            <a:srgbClr val="D0D5DD"/>
          </a:solidFill>
          <a:ln w="10160">
            <a:solidFill>
              <a:srgbClr val="305080"/>
            </a:solidFill>
            <a:prstDash val="solid"/>
          </a:ln>
        </p:spPr>
      </p:sp>
      <p:sp>
        <p:nvSpPr>
          <p:cNvPr id="398" name="Shape 76"/>
          <p:cNvSpPr/>
          <p:nvPr/>
        </p:nvSpPr>
        <p:spPr>
          <a:xfrm>
            <a:off x="205613" y="5179822"/>
            <a:ext cx="100584" cy="100584"/>
          </a:xfrm>
          <a:prstGeom prst="ellipse">
            <a:avLst/>
          </a:prstGeom>
          <a:solidFill>
            <a:srgbClr val="77A7FF"/>
          </a:solidFill>
          <a:ln w="10160">
            <a:solidFill>
              <a:srgbClr val="305080"/>
            </a:solidFill>
            <a:prstDash val="solid"/>
          </a:ln>
        </p:spPr>
      </p:sp>
      <p:sp>
        <p:nvSpPr>
          <p:cNvPr id="400" name="Shape 78"/>
          <p:cNvSpPr/>
          <p:nvPr/>
        </p:nvSpPr>
        <p:spPr>
          <a:xfrm>
            <a:off x="603377" y="5092040"/>
            <a:ext cx="100584" cy="100584"/>
          </a:xfrm>
          <a:prstGeom prst="ellipse">
            <a:avLst/>
          </a:prstGeom>
          <a:solidFill>
            <a:srgbClr val="72C39A"/>
          </a:solidFill>
          <a:ln w="10160">
            <a:solidFill>
              <a:srgbClr val="305080"/>
            </a:solidFill>
            <a:prstDash val="solid"/>
          </a:ln>
        </p:spPr>
      </p:sp>
      <p:sp>
        <p:nvSpPr>
          <p:cNvPr id="401" name="Shape 79"/>
          <p:cNvSpPr/>
          <p:nvPr/>
        </p:nvSpPr>
        <p:spPr>
          <a:xfrm>
            <a:off x="726821" y="5188052"/>
            <a:ext cx="100584" cy="100584"/>
          </a:xfrm>
          <a:prstGeom prst="ellipse">
            <a:avLst/>
          </a:prstGeom>
          <a:solidFill>
            <a:srgbClr val="D9DEE7"/>
          </a:solidFill>
          <a:ln w="10160">
            <a:solidFill>
              <a:srgbClr val="305080"/>
            </a:solidFill>
            <a:prstDash val="solid"/>
          </a:ln>
        </p:spPr>
      </p:sp>
      <p:sp>
        <p:nvSpPr>
          <p:cNvPr id="403" name="Text 81"/>
          <p:cNvSpPr/>
          <p:nvPr/>
        </p:nvSpPr>
        <p:spPr>
          <a:xfrm>
            <a:off x="445186" y="5065522"/>
            <a:ext cx="68580" cy="32918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 fontScale="40000"/>
          </a:bodyPr>
          <a:lstStyle/>
          <a:p>
            <a:pPr marL="0" indent="0" algn="ctr">
              <a:buNone/>
            </a:pPr>
            <a:r>
              <a:rPr lang="en-US" sz="36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⋯</a:t>
            </a:r>
            <a:endParaRPr lang="en-US" sz="360" dirty="0"/>
          </a:p>
        </p:txBody>
      </p:sp>
      <p:sp>
        <p:nvSpPr>
          <p:cNvPr id="404" name="Text 82"/>
          <p:cNvSpPr/>
          <p:nvPr/>
        </p:nvSpPr>
        <p:spPr>
          <a:xfrm>
            <a:off x="749681" y="5051806"/>
            <a:ext cx="68580" cy="32918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 fontScale="40000"/>
          </a:bodyPr>
          <a:lstStyle/>
          <a:p>
            <a:pPr marL="0" indent="0" algn="ctr">
              <a:buNone/>
            </a:pPr>
            <a:r>
              <a:rPr lang="en-US" sz="36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⋯</a:t>
            </a:r>
            <a:endParaRPr lang="en-US" sz="360" dirty="0"/>
          </a:p>
        </p:txBody>
      </p:sp>
      <p:sp>
        <p:nvSpPr>
          <p:cNvPr id="405" name="Text 83"/>
          <p:cNvSpPr/>
          <p:nvPr/>
        </p:nvSpPr>
        <p:spPr>
          <a:xfrm>
            <a:off x="214757" y="5202682"/>
            <a:ext cx="68580" cy="32918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 fontScale="40000"/>
          </a:bodyPr>
          <a:lstStyle/>
          <a:p>
            <a:pPr marL="0" indent="0" algn="ctr">
              <a:buNone/>
            </a:pPr>
            <a:r>
              <a:rPr lang="en-US" sz="36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⋯</a:t>
            </a:r>
            <a:endParaRPr lang="en-US" sz="360" dirty="0"/>
          </a:p>
        </p:txBody>
      </p:sp>
      <p:sp>
        <p:nvSpPr>
          <p:cNvPr id="406" name="Shape 84"/>
          <p:cNvSpPr/>
          <p:nvPr/>
        </p:nvSpPr>
        <p:spPr>
          <a:xfrm>
            <a:off x="1056640" y="4603115"/>
            <a:ext cx="958850" cy="811530"/>
          </a:xfrm>
          <a:prstGeom prst="roundRect">
            <a:avLst>
              <a:gd name="adj" fmla="val 10256"/>
            </a:avLst>
          </a:prstGeom>
          <a:solidFill>
            <a:srgbClr val="F2FFF7"/>
          </a:solidFill>
          <a:ln w="13970">
            <a:solidFill>
              <a:srgbClr val="177245"/>
            </a:solidFill>
            <a:prstDash val="solid"/>
          </a:ln>
        </p:spPr>
      </p:sp>
      <p:sp>
        <p:nvSpPr>
          <p:cNvPr id="407" name="Text 85"/>
          <p:cNvSpPr/>
          <p:nvPr/>
        </p:nvSpPr>
        <p:spPr>
          <a:xfrm>
            <a:off x="1186180" y="4692650"/>
            <a:ext cx="767715" cy="118745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77245"/>
                </a:solidFill>
                <a:latin typeface="Chalkboard" panose="03050602040202020205" charset="0"/>
                <a:ea typeface="Aptos" pitchFamily="34" charset="-122"/>
                <a:cs typeface="Chalkboard" panose="03050602040202020205" charset="0"/>
              </a:rPr>
              <a:t>View 2</a:t>
            </a:r>
            <a:endParaRPr lang="en-US" sz="1400" dirty="0">
              <a:solidFill>
                <a:srgbClr val="177245"/>
              </a:solidFill>
              <a:latin typeface="Chalkboard" panose="03050602040202020205" charset="0"/>
              <a:ea typeface="Aptos" pitchFamily="34" charset="-122"/>
              <a:cs typeface="Chalkboard" panose="03050602040202020205" charset="0"/>
            </a:endParaRPr>
          </a:p>
        </p:txBody>
      </p:sp>
      <p:sp>
        <p:nvSpPr>
          <p:cNvPr id="409" name="Shape 87"/>
          <p:cNvSpPr/>
          <p:nvPr/>
        </p:nvSpPr>
        <p:spPr>
          <a:xfrm>
            <a:off x="1382873" y="5043526"/>
            <a:ext cx="140543" cy="68946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</a:ln>
        </p:spPr>
      </p:sp>
      <p:sp>
        <p:nvSpPr>
          <p:cNvPr id="410" name="Shape 88"/>
          <p:cNvSpPr/>
          <p:nvPr/>
        </p:nvSpPr>
        <p:spPr>
          <a:xfrm rot="8040000">
            <a:off x="1523416" y="5054132"/>
            <a:ext cx="159106" cy="58339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</a:ln>
        </p:spPr>
      </p:sp>
      <p:sp>
        <p:nvSpPr>
          <p:cNvPr id="412" name="Shape 90"/>
          <p:cNvSpPr/>
          <p:nvPr/>
        </p:nvSpPr>
        <p:spPr>
          <a:xfrm>
            <a:off x="1382873" y="5043526"/>
            <a:ext cx="15911" cy="180320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</a:ln>
        </p:spPr>
      </p:sp>
      <p:sp>
        <p:nvSpPr>
          <p:cNvPr id="414" name="Shape 92"/>
          <p:cNvSpPr/>
          <p:nvPr/>
        </p:nvSpPr>
        <p:spPr>
          <a:xfrm rot="6360000">
            <a:off x="1394973" y="5143835"/>
            <a:ext cx="143195" cy="71598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</a:ln>
        </p:spPr>
      </p:sp>
      <p:sp>
        <p:nvSpPr>
          <p:cNvPr id="417" name="Shape 95"/>
          <p:cNvSpPr/>
          <p:nvPr/>
        </p:nvSpPr>
        <p:spPr>
          <a:xfrm>
            <a:off x="1523416" y="5112471"/>
            <a:ext cx="132588" cy="111374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</a:ln>
        </p:spPr>
      </p:sp>
      <p:sp>
        <p:nvSpPr>
          <p:cNvPr id="420" name="Shape 98"/>
          <p:cNvSpPr/>
          <p:nvPr/>
        </p:nvSpPr>
        <p:spPr>
          <a:xfrm>
            <a:off x="1332581" y="4993234"/>
            <a:ext cx="100584" cy="100584"/>
          </a:xfrm>
          <a:prstGeom prst="ellipse">
            <a:avLst/>
          </a:prstGeom>
          <a:solidFill>
            <a:srgbClr val="55C878"/>
          </a:solidFill>
          <a:ln w="10160">
            <a:solidFill>
              <a:srgbClr val="305080"/>
            </a:solidFill>
            <a:prstDash val="solid"/>
          </a:ln>
        </p:spPr>
      </p:sp>
      <p:sp>
        <p:nvSpPr>
          <p:cNvPr id="421" name="Shape 99"/>
          <p:cNvSpPr/>
          <p:nvPr/>
        </p:nvSpPr>
        <p:spPr>
          <a:xfrm>
            <a:off x="1473124" y="5062179"/>
            <a:ext cx="100584" cy="100584"/>
          </a:xfrm>
          <a:prstGeom prst="ellipse">
            <a:avLst/>
          </a:prstGeom>
          <a:solidFill>
            <a:srgbClr val="FFC72C"/>
          </a:solidFill>
          <a:ln w="10160">
            <a:solidFill>
              <a:srgbClr val="305080"/>
            </a:solidFill>
            <a:prstDash val="solid"/>
          </a:ln>
        </p:spPr>
      </p:sp>
      <p:sp>
        <p:nvSpPr>
          <p:cNvPr id="422" name="Shape 100"/>
          <p:cNvSpPr/>
          <p:nvPr/>
        </p:nvSpPr>
        <p:spPr>
          <a:xfrm>
            <a:off x="1632229" y="5003841"/>
            <a:ext cx="100584" cy="100584"/>
          </a:xfrm>
          <a:prstGeom prst="ellipse">
            <a:avLst/>
          </a:prstGeom>
          <a:solidFill>
            <a:srgbClr val="4D8DFF"/>
          </a:solidFill>
          <a:ln w="10160">
            <a:solidFill>
              <a:srgbClr val="305080"/>
            </a:solidFill>
            <a:prstDash val="solid"/>
          </a:ln>
        </p:spPr>
      </p:sp>
      <p:sp>
        <p:nvSpPr>
          <p:cNvPr id="423" name="Shape 101"/>
          <p:cNvSpPr/>
          <p:nvPr/>
        </p:nvSpPr>
        <p:spPr>
          <a:xfrm>
            <a:off x="1348491" y="5173553"/>
            <a:ext cx="100584" cy="100584"/>
          </a:xfrm>
          <a:prstGeom prst="ellipse">
            <a:avLst/>
          </a:prstGeom>
          <a:solidFill>
            <a:srgbClr val="D0D5DD"/>
          </a:solidFill>
          <a:ln w="10160">
            <a:solidFill>
              <a:srgbClr val="305080"/>
            </a:solidFill>
            <a:prstDash val="solid"/>
          </a:ln>
        </p:spPr>
      </p:sp>
      <p:sp>
        <p:nvSpPr>
          <p:cNvPr id="426" name="Shape 104"/>
          <p:cNvSpPr/>
          <p:nvPr/>
        </p:nvSpPr>
        <p:spPr>
          <a:xfrm>
            <a:off x="1605712" y="5173553"/>
            <a:ext cx="100584" cy="100584"/>
          </a:xfrm>
          <a:prstGeom prst="ellipse">
            <a:avLst/>
          </a:prstGeom>
          <a:solidFill>
            <a:srgbClr val="72C39A"/>
          </a:solidFill>
          <a:ln w="10160">
            <a:solidFill>
              <a:srgbClr val="305080"/>
            </a:solidFill>
            <a:prstDash val="solid"/>
          </a:ln>
        </p:spPr>
      </p:sp>
      <p:sp>
        <p:nvSpPr>
          <p:cNvPr id="428" name="Text 106"/>
          <p:cNvSpPr/>
          <p:nvPr/>
        </p:nvSpPr>
        <p:spPr>
          <a:xfrm>
            <a:off x="1496898" y="5030267"/>
            <a:ext cx="66294" cy="31821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 fontScale="40000"/>
          </a:bodyPr>
          <a:lstStyle/>
          <a:p>
            <a:pPr marL="0" indent="0" algn="ctr">
              <a:buNone/>
            </a:pPr>
            <a:r>
              <a:rPr lang="en-US" sz="35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⋯</a:t>
            </a:r>
            <a:endParaRPr lang="en-US" sz="350" dirty="0"/>
          </a:p>
        </p:txBody>
      </p:sp>
      <p:sp>
        <p:nvSpPr>
          <p:cNvPr id="429" name="Text 107"/>
          <p:cNvSpPr/>
          <p:nvPr/>
        </p:nvSpPr>
        <p:spPr>
          <a:xfrm>
            <a:off x="1454470" y="5149596"/>
            <a:ext cx="66294" cy="31821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 fontScale="40000"/>
          </a:bodyPr>
          <a:lstStyle/>
          <a:p>
            <a:pPr marL="0" indent="0" algn="ctr">
              <a:buNone/>
            </a:pPr>
            <a:r>
              <a:rPr lang="en-US" sz="35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⋯</a:t>
            </a:r>
            <a:endParaRPr lang="en-US" sz="350" dirty="0"/>
          </a:p>
        </p:txBody>
      </p:sp>
      <p:sp>
        <p:nvSpPr>
          <p:cNvPr id="430" name="Text 108"/>
          <p:cNvSpPr/>
          <p:nvPr/>
        </p:nvSpPr>
        <p:spPr>
          <a:xfrm>
            <a:off x="1748815" y="5136337"/>
            <a:ext cx="66294" cy="31821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 fontScale="40000"/>
          </a:bodyPr>
          <a:lstStyle/>
          <a:p>
            <a:pPr marL="0" indent="0" algn="ctr">
              <a:buNone/>
            </a:pPr>
            <a:r>
              <a:rPr lang="en-US" sz="35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⋯</a:t>
            </a:r>
            <a:endParaRPr lang="en-US" sz="350" dirty="0"/>
          </a:p>
        </p:txBody>
      </p:sp>
      <p:sp>
        <p:nvSpPr>
          <p:cNvPr id="480" name="Shape 8"/>
          <p:cNvSpPr/>
          <p:nvPr/>
        </p:nvSpPr>
        <p:spPr>
          <a:xfrm rot="19680000">
            <a:off x="396240" y="1950720"/>
            <a:ext cx="568325" cy="320675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</a:ln>
        </p:spPr>
      </p:sp>
      <p:sp>
        <p:nvSpPr>
          <p:cNvPr id="301" name="Shape 21"/>
          <p:cNvSpPr/>
          <p:nvPr/>
        </p:nvSpPr>
        <p:spPr>
          <a:xfrm>
            <a:off x="334950" y="2518207"/>
            <a:ext cx="100584" cy="100584"/>
          </a:xfrm>
          <a:prstGeom prst="ellipse">
            <a:avLst/>
          </a:prstGeom>
          <a:solidFill>
            <a:srgbClr val="77A7FF"/>
          </a:solidFill>
          <a:ln w="10160">
            <a:solidFill>
              <a:srgbClr val="305080"/>
            </a:solidFill>
            <a:prstDash val="solid"/>
          </a:ln>
        </p:spPr>
      </p:sp>
      <p:sp>
        <p:nvSpPr>
          <p:cNvPr id="337" name="Shape 22"/>
          <p:cNvSpPr/>
          <p:nvPr/>
        </p:nvSpPr>
        <p:spPr>
          <a:xfrm>
            <a:off x="1006485" y="2485288"/>
            <a:ext cx="100584" cy="100584"/>
          </a:xfrm>
          <a:prstGeom prst="ellipse">
            <a:avLst/>
          </a:prstGeom>
          <a:solidFill>
            <a:srgbClr val="7E6BD6"/>
          </a:solidFill>
          <a:ln w="10160">
            <a:solidFill>
              <a:srgbClr val="305080"/>
            </a:solidFill>
            <a:prstDash val="solid"/>
          </a:ln>
        </p:spPr>
      </p:sp>
      <p:sp>
        <p:nvSpPr>
          <p:cNvPr id="481" name="文本框 480"/>
          <p:cNvSpPr txBox="1"/>
          <p:nvPr/>
        </p:nvSpPr>
        <p:spPr>
          <a:xfrm>
            <a:off x="1191895" y="3241675"/>
            <a:ext cx="413385" cy="3829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···</a:t>
            </a:r>
            <a:endParaRPr lang="en-US" altLang="zh-CN"/>
          </a:p>
        </p:txBody>
      </p:sp>
      <p:sp>
        <p:nvSpPr>
          <p:cNvPr id="482" name="文本框 481"/>
          <p:cNvSpPr txBox="1"/>
          <p:nvPr/>
        </p:nvSpPr>
        <p:spPr>
          <a:xfrm>
            <a:off x="1185545" y="3473450"/>
            <a:ext cx="413385" cy="3829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···</a:t>
            </a:r>
            <a:endParaRPr lang="en-US" altLang="zh-CN"/>
          </a:p>
        </p:txBody>
      </p:sp>
      <p:sp>
        <p:nvSpPr>
          <p:cNvPr id="483" name="文本框 482"/>
          <p:cNvSpPr txBox="1"/>
          <p:nvPr/>
        </p:nvSpPr>
        <p:spPr>
          <a:xfrm>
            <a:off x="1185545" y="3726180"/>
            <a:ext cx="413385" cy="3829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···</a:t>
            </a:r>
            <a:endParaRPr lang="en-US" altLang="zh-CN"/>
          </a:p>
        </p:txBody>
      </p:sp>
      <p:sp>
        <p:nvSpPr>
          <p:cNvPr id="298" name="Shape 18"/>
          <p:cNvSpPr/>
          <p:nvPr/>
        </p:nvSpPr>
        <p:spPr>
          <a:xfrm>
            <a:off x="960399" y="2031014"/>
            <a:ext cx="100584" cy="100584"/>
          </a:xfrm>
          <a:prstGeom prst="ellipse">
            <a:avLst/>
          </a:prstGeom>
          <a:solidFill>
            <a:srgbClr val="FFC72C"/>
          </a:solidFill>
          <a:ln w="10160">
            <a:solidFill>
              <a:srgbClr val="305080"/>
            </a:solidFill>
            <a:prstDash val="solid"/>
          </a:ln>
        </p:spPr>
      </p:sp>
      <p:sp>
        <p:nvSpPr>
          <p:cNvPr id="225" name="Shape 221"/>
          <p:cNvSpPr/>
          <p:nvPr/>
        </p:nvSpPr>
        <p:spPr>
          <a:xfrm>
            <a:off x="10982960" y="3507740"/>
            <a:ext cx="287655" cy="1270"/>
          </a:xfrm>
          <a:prstGeom prst="line">
            <a:avLst/>
          </a:prstGeom>
          <a:noFill/>
          <a:ln w="12700">
            <a:solidFill>
              <a:srgbClr val="806000"/>
            </a:solidFill>
            <a:prstDash val="solid"/>
            <a:headEnd type="none"/>
            <a:tailEnd type="triangle"/>
          </a:ln>
        </p:spPr>
      </p:sp>
      <p:sp>
        <p:nvSpPr>
          <p:cNvPr id="923" name="Shape 193"/>
          <p:cNvSpPr/>
          <p:nvPr/>
        </p:nvSpPr>
        <p:spPr>
          <a:xfrm>
            <a:off x="2065020" y="3162300"/>
            <a:ext cx="330200" cy="635"/>
          </a:xfrm>
          <a:prstGeom prst="line">
            <a:avLst/>
          </a:prstGeom>
          <a:noFill/>
          <a:ln w="12700">
            <a:solidFill>
              <a:srgbClr val="806000"/>
            </a:solidFill>
            <a:prstDash val="solid"/>
            <a:headEnd type="none"/>
            <a:tailEnd type="triangle"/>
          </a:ln>
        </p:spPr>
      </p:sp>
      <p:sp>
        <p:nvSpPr>
          <p:cNvPr id="924" name="文本框 923"/>
          <p:cNvSpPr txBox="1"/>
          <p:nvPr/>
        </p:nvSpPr>
        <p:spPr>
          <a:xfrm>
            <a:off x="11270615" y="4934585"/>
            <a:ext cx="3360420" cy="11322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 sz="1400" b="1">
                <a:latin typeface="Chalkboard" panose="03050602040202020205" charset="0"/>
                <a:cs typeface="Chalkboard" panose="03050602040202020205" charset="0"/>
                <a:sym typeface="+mn-ea"/>
              </a:rPr>
              <a:t>Effect: Higher-dimensional prefixes receive larger weights, devoting more optimization resources to learning difficult node pairs.</a:t>
            </a:r>
            <a:endParaRPr lang="en-US" altLang="zh-CN" sz="1400" b="1">
              <a:latin typeface="Chalkboard" panose="03050602040202020205" charset="0"/>
              <a:cs typeface="Chalkboard" panose="03050602040202020205" charset="0"/>
              <a:sym typeface="+mn-ea"/>
            </a:endParaRPr>
          </a:p>
        </p:txBody>
      </p:sp>
      <p:sp>
        <p:nvSpPr>
          <p:cNvPr id="925" name="文本框 924"/>
          <p:cNvSpPr txBox="1"/>
          <p:nvPr/>
        </p:nvSpPr>
        <p:spPr>
          <a:xfrm>
            <a:off x="18415" y="5742305"/>
            <a:ext cx="2225040" cy="82994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sz="1600" b="1" dirty="0">
                <a:solidFill>
                  <a:srgbClr val="1C2C4A"/>
                </a:solidFill>
                <a:latin typeface="Chalkboard SE Regular" panose="03050602040202020205" charset="0"/>
                <a:ea typeface="Arial" panose="020B0604020202090204" pitchFamily="34" charset="-122"/>
                <a:cs typeface="Chalkboard SE Regular" panose="03050602040202020205" charset="0"/>
              </a:rPr>
              <a:t>Generate two augmented graph views as the input </a:t>
            </a:r>
            <a:endParaRPr lang="en-US" sz="1600" b="1" dirty="0">
              <a:solidFill>
                <a:srgbClr val="1C2C4A"/>
              </a:solidFill>
              <a:latin typeface="Chalkboard SE Regular" panose="03050602040202020205" charset="0"/>
              <a:ea typeface="Arial" panose="020B0604020202090204" pitchFamily="34" charset="-122"/>
              <a:cs typeface="Chalkboard SE Regular" panose="03050602040202020205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item1.xml><?xml version="1.0" encoding="utf-8"?>
<s:customData xmlns="http://www.wps.cn/officeDocument/2013/wpsCustomData" xmlns:s="http://www.wps.cn/officeDocument/2013/wpsCustomData">
  <extobjs>
    <extobj name="334E55B0-647D-440b-865C-3EC943EB4CBC-1">
      <extobjdata type="334E55B0-647D-440b-865C-3EC943EB4CBC" data="ewoJIkltZ1NldHRpbmdKc29uIiA6ICJ7XCJkcGlcIjpcIjYwMFwiLFwiZm9ybWF0XCI6XCJQTkdcIixcInRyYW5zcGFyZW50XCI6dHJ1ZSxcImF1dG9cIjp0cnVlfSIsCgkiTGF0ZXgiIDogIlhGc2dJRnhoYkhCb1lWOHlJRnhqWkc5MElGeHRZWFJvWTJGc2UweDlYM3RJVUVWTmZWNHlYRjA9IiwKCSJMYXRleEltZ0Jhc2U2NCIgOiAiaVZCT1J3MEtHZ29BQUFBTlNVaEVVZ0FBQWJJQUFBQmVCQU1BQUFDMHJJeGlBQUFBTUZCTVZFWC8vLzhBQUFBQUFBQUFBQUFBQUFBQUFBQUFBQUFBQUFBQUFBQUFBQUFBQUFBQUFBQUFBQUFBQUFBQUFBQUFBQUF2M2FCN0FBQUFEM1JTVGxNQUVIYXIzZTltVkxzaXpabUpNa1JscVhZUkFBQUFDWEJJV1hNQUFBN0VBQUFPeEFHVkt3NGJBQUFNT2tsRVFWUjRBZDFiVDJ5alJ4WC9uTjBrbXpaL3ZKVVFMSWpHVWprQUtqZ1hrRGlBZzlnZ0VZR2NoVVpRWUhHQUExeUtJdzVGd01GQndJRUxkcVZxVlNvdFhrcUZVRUJ5QktJcVBkVHBBU0VLSXVsS1ZOMExUdFVEUWtKS1NwMTJON3ZkeCsvTm56Y3ozK2M0VHRiNUdqT0hlT2JObS9mbXpieC9NOThraXRJcms4K1Uyci9kU285ZmFweEdTb1N5KzF4cUROTmlORlpzZi9Cbi95a1NMYVhGTVMwK3JmWW1XQTBSdlpZV3g1VDRqSlYrb0RpMWlHWlNZcGtTbTd2Mk5LTkpvdGRUWXBrU204cXJobEdCS0pzU3ozVFlWTmNNbnpwUkxoMlc2WERKME82NjVuUVgwV3c2UE5QaE1rSDBYODFwbk1ncVpqcXNqNWtMSElkeElTTkVONDZaV2Fya3g0aXVhNGFqUkxkVFpYM2N6SXIwaG1hQlBYdnp1Sm1sU3YreDlwTG1oeXprLzBvYjNTcWVJVnB3clVHdFhmMVI2WE5ic2NsUEVkblFGdXNabk9ia2gzQnFzWTVEcHAwbnFrbGpNQ3VqT0xGd1dRbW5YNktiSVdEZ1dtTlZMWmoxaVVZQXVNWkJOek5vblM0bVFodko2clE3NE1yNFR0cDc2SjkvVXJJRjZ0WVk5R2cyVVZJZXNNR2krWHQwTjlGV0lPbkFOYmIxcGNBd1MrYUxrcWVMQXlkTE1HRWtoN01NZ0w4SUpCdWhkalpBSExqR3R0SEJERXUyNmFaZmpzY0ExelVZdGJHU1BZMFZJWm1iOHdqZGNvMkJySjJXY3pOY2lIY0xWdzVzYmhCRjJ5QmExdk9HWkI4WENVYm9VMUlmekFxT21XMHo4eUNYeWw5WDdtUGtqNE1wRm1hTlN4eDdwMGpYYXlMR2tMbERQVDI0NTdPS3l3My9ySFpKQzVjMzdtTnFSNFFkdEFvY1lpNDU1eUg3cmFKMUpkazVHQkNFNlU3WHdIbDdzYk14TXhoeUpHY0pNK3R3QkJ1eU9mNjluVFkwU2VVa1FyWTczazdsYVpGTENSdTZkUkpuM2N1Y0NzNkJPSFJjRFV0eDd0TDFIMTh0YzkvYzdpZSsyZy82bkN1dUp3Z2hlRXRKZEI0bllMUktORWYwa1Q3d3dJV2lud1JyaXJqWGwyS2plQjk0SFV4aXRFU2ZyVVgzOU9Vak1wTEczUVJIOXBlMmVJbGtBcS9mQU56R2ZKNXBQdTZucjBkbFVxY1RsTkdYU1dkMEdYM0dSMzUwQnlFSEZuVmlMdTdodDR3a0ZYT0hkaWRwUXJHVGF6eXFBdHpodUtZb0lXd2t5OFEyMW85TUVvbStYYWNqMCtqWHdGTkVWd3d0K0xVY1Y0dGIvUGRJaFYzajhwRkc5bjhRREtObXFHTEJGMUNkU0RxM250bGkyenRsalQyUDd5Tmk4RUtqcEF4dHZFUGUxeXRIdU1aVUExYVhlV0VxdkUrNlZGVXlPMnpUY2dzK3hHLys1RGo5aGgrZk4xU1UzYmFpVGg3KzRWNzF4SHlIaGpKNlZvVVZoODFWYzNxVHVqM2NHMms4MFhFbllXWTdIVHRTQjhMaXpVc05abDNoTThhWWNRRmRIKzRWRWwvRzFOUTVRVnhSdGJmOFR6bjRJcjdOTHZ0dTQwQzZQZHpqUk5CZTQvZ3k4R2tsNXdQZXVucFJiajE1RHBCc0thcnJ5Nld1RC9md0laMnVkNWcxRHRUSlRMOEQzdkdET0dWWWQyeGF2T0tGTlFYbytuQ1B3MVluN3o0ZG1LMGpuSDR0ZHBxQ1pPc1RKbkIzZmJpSHhLWGpubFU2WG9La0wxY1VZZTA5MXhpeFpHZk12V0RYaDN0d3FkUXA2aFU2ZzVWb28vVEE2dXJxK1VYMTBiQzhPNys2K3VSY3lUQ0xvbitBb2kzelQyVzl4WGdGbzRJaVh2bFJIckNiODNDakNHZE5sQXZSZExqMGRVaFdubFdZQnp6Y3l3ZGFMTFJMZnR3WHFLNndmcWpDMnI1aDZpSlp4UUQwejJ1YmJuQXo2RUZEekFCdUFXWFdvYUpXVjdBTHZFbWUwMmZ3WDh6ZDBnRVA5eWFlZmpZZ3FCdnM5TFdWZHVpTU1wZWJZSGRONzhlNVY3RGNEejNpOE01ZHhTcS9jUGJzMlhQL2VrK2cwL2MrL0g1STg0M3ZjUG5hWDZ2eTdBNUR6NzBJaGp1T0JtcFBZdXkvUWJZU2FrK2Q2SGx6bWovU3d6M2VsbHJBS0d4Z2taY3RCSUVqUEtMQ20ybXZIRVV2RWYzQzR1RVhxRTcxODNMb1lnd3FoRlRHWHplbnFId284alJSYVpZSFJJalgxa1VFZEhYbmZuL2g5THRlYzRDZERNWFgrQVZwY0FWOEJGQ3c3eUVWQmhac1IxQW4vSXZhTVdxRmNiVjF2MW04WnFpbWtFekMwVkVlN3JYaSt5RHowWldxWFMwMDRieG1nbTZJS2dCTUpPYzZFVDFYWEt2cDJjL0kzcFF2YUJUTkF6Zkx1QnZ1Mk1sTkVCU1RQc3JEdldaSWpra0d4YmRxOEZvS09pR3FBQkJWWmwzblZDRG50bmtxeWYybmJwNzJGaXVLeG05TUdRY0Q5WkIxQWlKSXpQS0FvR0FWRmdMQXZnMitSZDJNOTE3OWlVRGdZSnhwVmVJbUNWRnJGaFZabXNOa1ArZVJuZlo2aHQ4NEZZYXRYTXZzWVRuMFpaQnN6UktYMzQ1QTZmVXJzSWVFbVQzbXZZZ083S1VaVEFsa0toNEFrbms3ay9mTUU4dHYvUXpHMUY4RnpheWJ3M3lVTndQcm9TZ1FZdDJobVJyb3lsb21PZ01BWHJiRUgzYUQ4WXJnQlBaU2pLK0N1Mm1DbGdXUytlWUp5WGFFWUZTZWhRL2ZrdmI0amFocXBvQzVyQWhjYWVPNjE5VFZVbWlqaVg0SGdJTGxYRXZWcXI0aVllR2tINW9iT3l3VVBRQnN6dE01M3p6aERCWWNqOElhZkxqUWpGcTVpR2hXZGNNZjZZcHFaUnJoRmlyZ0lSN3VGWWwrdi9yRHAxNVE0OVFmYkprNUUzSFR0eGY0ZUUrcjBBbFJIV0E2OVBOV3pHZVpTbjJXLytwU1dvWW9hN1lWelVjd1pkMkV4TjdlY3U0MkkyaW1VdS81NFI3RTBPWFRMMXNpMElrTHRoN0JCbm9NWjdBNWI3Nmd1NkNJaktwVmFya3A4aUc1SVplSzhJejhmMkRMbW1HVmJndm5JZnFiOXRvZkZoQXF2VC9jcXh2QjhHUC83UkZlb2VhSStmWUNmWE16WkJRL25JR3BaOXRpbm1lVVZ4blpGSW9qU0NHYmJtK2dqRGFjUmRIYlhEaVlhSHdGR2pHTGgyRCttUklNdDRSUzl3cW00OG9UaW4rUkh2VEcrUFl5N1VVdmhRSlJseXl1UzFvWk1tVjc2bkgvZEFxYldIWktQTSs0TmwrR3VpOXJlbU1GZU93cW93MTdEaGNhZE5IeU8rQVhheENVMzN6cjJrdWsvbFhRRE93OW5JVWIyckliMkZ5SVRZRm51aTN4QWNvSVV4YTdyaGgxbkt6dWJmRVpBQTZyc09JSUhPTGhYb1gySHI3L3g0RndvY2JCQm5hRWN0ZHdWZ2dpUXQ0RXV0R1kvbkk0NDd6SlpsdFFSZ2xuNEROWm9vOGkvLzBtc1dCNGtkak9QcjZiUmMyVTNoL3VJYkJjd2FDM3E4ZnNWajUvOTlrR1ZneFpmRHNJSmcrd0Y4N2VRYlF1aUt4SUhQOHpseHBPWFUwdm55V0hoUkNVVWNJWkl5RGN0K2VJdnJUSkRXaHQyejlBSE9MaG51akJKU2ZiVFcrTmVBNUIyVGVjM1ZPaXo2akptRDl1Vk0wSG8xNVlpN0JleHJMdWhqSktPRk9Jazg4VTI3OThueG1UZVg3eFY2YktQNGQ0dUZkU202N0dYakk2K2VWd0ppMDNSYTd4UkZ5eDRTeno4L2NTZmRMQjhRRkZodmtYR3dvRDRZeDNSbU96TWtvNDh3bDBxaC9pNGQ3a0Y3WThDaTgrUFVmemYvY0FYQzBUNGNpc3k3dHNqTEk0Y0dWU1BtYUI2aGZtZVFHRExuOWYxTTUycXp0ZlpCSjZBVmtaZ1F0aGV5ajlmYmhYY0JHR0g5VE5CQk9BWjIyZjUvTHIzMjBHSFd5ZUduVWpwcjhSaHpQZUppV01Va1lYemtJYThWYWZIKzZWeEl0NU1jcnlEQjI5aGZJdndsbE90VnVoL3ZMcGpPSEczV3d2b1Q3c25SZTRiNy9TMzRkN3lPVGVGRTdiVm9jc1pOcUdZd3VRMzVaTnF1VWJrZTNTZ2Jlb1BTNHJJOEpaNGhobGtmM2ZQai9jZzBIc0NIbjlQVXVhNnE2cDVqVzlhdDY2aUx4U3lySG5wRS9uSkFXVlZTcGxSRGlMYTZ3Zys1VStQOXpEbWV1S2tHL0VGemNocXFCS3R0bGNZdGdadC9INmFuUkRMWmhTeHFnUTg3aENKS2owKytFZXd0bTZNRWljemhLaUNxcVk1eCt5REdzdFNBK0hNOTV0bHZXTENscFMrNmVxWGY3MCsrRmUzY3V0a2JDRTdnRGhiQjg5Q3JKTlROZCt0MFNWdzVuSkNMVXl3cFJuR05TOUlBSktxWFZIN2EwWDRVd1FRWHhCR2x4SmlDcTlRYmJKaUZuYlpUNWhxbnM1cll3dzVTWGJ1Ly92aHNqbHpXaC85SU43L052UlJEaExpQ3IwWUo0cjBzRExLZVhwRlVDRk0zNXJ2bWVWRWJnSGI0TExhYnhQQkI2SHcxZExkRXNHVGNVWE55R3FvTUk4YzlMQW9jVnBzUTVuRWQvTGFXWHNMWno1MlU1UE1jTGozckVLRzdndEhkczJSbGxJUWxUYmdZT1ZmOWtZTlZha3g1d2pvYTVacll6QTdjdFVoVU52bGU3aERLTHVvMGZsd0JpR3ZCTytPV0xEUkYvV25oR1o2VDV1cUxjcEhoRUxObkJGaGphOEZGSUI5dzludm5sQ0dlMWxBRWJKbHo2Nno2aG9iK0ZNWnRHblNpeWMyWU93b2Q0dG5EbnpoR2YweGxWbjlPQVNGWmRzYmNIUVMvTUg5ckpsK1VHQlhDYkJ3SzdoekprbjFNMWQ4a3pZd0M4SzBGczRzNVBvMjIvZXU0REhrV1VuSUF3akRFV1ZYb1FESjh6My9HdklSNjEyTjIzVWh5L0p5Y0MwS3Z5dGxqN3dpR0tYdWJ5QmpPTmFWbmhuTGtQc1d4N0E2d0hxRFgxWXZmenRBbWpVVE4rN3Y0NVBsOTlWamJJT3o0cktUelVMSVhEc2xRYm14SVVWQ3ljeFhUWU5XL2dXWFpiaTgwQ1VpeFY3RllydDRhSmNZVXNCTFc3S2ZyK3grOEE4UDVLNHFDUmJQTSt2SitUMitBd3RucDlmUFQvbjdOQkthR2VyeGVDL0Q1cXVjVnFjQnoxbGdxZlZOKzNUekFKdk1yUy8rUitQSTh4anZrUDBIQUFBQUFCSlJVNUVya0pnZ2c9PSIKfQo="/>
    </extobj>
    <extobj name="334E55B0-647D-440b-865C-3EC943EB4CBC-2">
      <extobjdata type="334E55B0-647D-440b-865C-3EC943EB4CBC" data="ewoJIkltZ1NldHRpbmdKc29uIiA6ICJ7XCJkcGlcIjpcIjYwMFwiLFwiZm9ybWF0XCI6XCJQTkdcIixcInRyYW5zcGFyZW50XCI6dHJ1ZSxcImF1dG9cIjp0cnVlfSIsCgkiTGF0ZXgiIDogIlhGc2dJRnhoYkhCb1lWOXJJRnhqWkc5MElGeHRZWFJvWTJGc2UweDlYM3RJVUVWTmZWNXJYRjA9IiwKCSJMYXRleEltZ0Jhc2U2NCIgOiAiaVZCT1J3MEtHZ29BQUFBTlNVaEVVZ0FBQWJVQUFBQmdCQU1BQUFCb0FQSEdBQUFBTUZCTVZFWC8vLzhBQUFBQUFBQUFBQUFBQUFBQUFBQUFBQUFBQUFBQUFBQUFBQUFBQUFBQUFBQUFBQUFBQUFBQUFBQUFBQUF2M2FCN0FBQUFEM1JTVGxNQUVIYXIzZTltVkxzaXpabUpNa1JscVhZUkFBQUFDWEJJV1hNQUFBN0VBQUFPeEFHVkt3NGJBQUFNbWtsRVFWUjRBZDFiWFd4alJ4VyszazAyeVdidFpJc3FtdktRU09VQnBLSUVDWkJBQWh0MXcwTlVjRmgyQmFpVUcvcFVWVnFjRndwdkRvSUtBUkwyU2xVRkZVdk1qeEFLU0xaQXFpb2VjRjVRUlVIWVhVSGJGWWdZOFZEeDVIVFhhVU4ydDRmdnpQL2M2MWh4MXI2dGR4NTg1ODZjbVRObjVzejV6c3c5RG9JRTA5UmpmLzdldVdhQ0RCTmt0VWxJZDZsczl5MUR0Z1RuTWxsVzgzU1FMTU1FdWMzVHJRUzVKY3VxVFc4bHl6QkJiZzNhVFpCYnNxeXFWRW1XWVlMY2lMWVQ1SllvcXd4UksxR0dDVEk3UXpTYklMdEVXVTFTSjFGK1NUS2JvWnRKc2t1VTF3NjltU2kvSkprdDB1dEpza3VVVjRseXpDL3pvWU50ZnQ1VmlhZ0dlZExWemxOM2c4dDg5ZHZoNTFwNmZkSkU2OGd2bmcrbWFFRVhqdW96ODJFK2plN3I0WjhROERaNVl6Wm9qTHp2TlpGbjBZZzJsSEFuYVM4SVV0V0ZZSUxreHROQ2o5NXpxaVJGTTRaL25HNEV3ZE00NVp5MDhvNmVXR0xFaTBvMGM5YmVwRGVDZE5nS2d1bFJ2emE1bnc0dS9ldVBRajYxT0FYNlg5QitGQytwMG1kVTBXZyswcUV3K0ZVV3JpeEZ5TkxxcVk3S2o2WlFhdFJ0M2x4Qk1NNnl0V1JaU0IvTWZsTm1SL3BYbThKVFZyWXBvdnhkY1JYVVZwcVlZdG1hWXBsWXpJY3ZqZlNLaWNGUGhYUmRTcEdIUkRJSDY0ajBpQlIwaEVVY00rZ01ZeUkyWGhDTTBmN1VOMmowajNBTjZUcGlkU0RiSitVaXpmTlN2bXZrWVJ0bVE5OGVoR2FoaW5RYlF0YU5tektpYW5tYTRJTElSUHNhMGVyaTRuVkdxK2lJaWhZVWlWYlYyRitZMVVMa2hkTjhXcmhnZjJ2cDBwRjd3amd1UkFjTk5PQ3kwK0xNazIxRnEwZmxIY0FkdjRoRUladi9jYkgvd2xFUkpUWk9iTGY0WlIwdVhwbHdocTFsUnNGQ3JPVTd2NkJOd2lUNkE1WEtDTmx3anpmSkZuTTBVOWFhRWl1QVdEQkdjTWkxazdQbHc4K2xIbGplZStncmcrSERQdVIyckN2MVhmRU1yMXUrRmFzZVhzRkVpUWhmMmo4NkVBNjQ4K2tTanFDK0s2YkNnMkF5eWVQQVJFam55OEU5Ukd1REVBN09KQzU5b3FtdTF2SnBlaWlzUlN1SDk0NWJtODl6Nzg4T3htZllwRzZmN08vWHR2SHhpejhZbmlpeG5ndTBMN3lIbEx3SEFNQXV4V2o2S0doME01Tjl0QjhrS1pCSHlWSlVqdXhPNVU3NmgxZXllaWZ0QjltMmJsUVJPMFVzWUdQN0R2ckhJVURQMVIzME1waW11QW10cUo1ZzRSWTRlMGMybXMza3V1cnc3WDVnZTVUVkdERGxyRTNwTG1idTZLUEU0c2U5eWFNM0h5UWxnZ2YwV1NzSVFySGh6aWh2OEhoQmdUQ1QrbUE2eUhFZXB5OE1oZGRLcHBKd2NzZHhaODhKVmQxUVdGWWUrcnZZRlFJT0pSOW1SZFZGN0laQTNiWVM5bmhCZ1NWNnAwUnRRU1dkM1lVNXg5NHJMZWpKN0JVVStNU0JJZFBrNG9tMTN2VUszcllYN0h4MWs4aERLUElGOTVRMUJUMkNBbUZlOTd1TkdsOUh4ZVZCdDdxRXl3cUVyeXNtdGRsOFQ5dURaWStnUUV4RFYvY1Rua0Q4UXNFd1NEU1RON2VrekJheXJRV2JWdGdlUVlHbFE5WUhoKzR1cDRCRVpWTE0ySW5ZdG94M2VNNnpOVlBRSXlnUWswSTVRMmd6ODk0R3R1WEo1eUpuTGNpMm5UWlFIZ1NlNFA3b3NwQnR3eThTYjhWdWx5VmQ2SVpmQkZQaW1NbUFaWE5PanIyQ0FxRysrc09hTjh4c0R3aVlvQXRiVzF2bkxvclBqb1c5bGEydFh5eUg1cUQ2ZC9TbzA4cHpzN2JYek1mUXlrc0xxbktLdFlmT1cxTE9mWTNMOW1hRGVkL2FiVUsyUXM2UXdpNDRMRXl4eUdERnphamNtdEQxQmR3SzVGbExSR0t0YjZpODZhV29DdVRqUnRNMGxsK0EzTnFjcXNQa0kvbHVFRzh6SWR1T0J3SHNpZnpKV1kyZVFZSC8rSDdMY0xjWmhnQWVlZmVVdWxJSHcydHl3dWIrZ3lGY3Vtd3A1NjVpcGw4NmUvYnMzR3Z2ZFRVNzlkcGpWYUpQZlozVGt3OCtEdzRWM1NoMXBZQlgvU2FlcDdHV2YvZ1JXQlI5RGRva2VsR2ZqMEY0aktCQVhwcXl4OHQvYVR1SEJGekgrcGQ1bUhKdG8xOGwrcW5URXVOczZWZXdXTko1alBGR3hDNDNDdXJNdHVnN0VmTkVZYzYyTzBaUUlDREFtUnpibGM2Qm9jNXlMTWFxZWVFTWhEVUZXZkhoUUZlN3pXQVZhcm9jVHU5dEgyZlQxeHZxaEYzM0RUbGtjOEhwR0VHQk85RzFzS01RdVpManpjQ1FPUXVBYWdockNqQ1VCZHZXYlFZeXA2WlE4VGZCV0tXa1Foa2JqdTZpSjNSb3RqWmVqeEVVV1BjN3RLTlRPWGQvZzl1YVJ3QmhUUUY4dXB5dGRKc0ZHZmZzbTYzSkQwU2F0bEhXRGJIV1pxWlFPNlBMSmFXY2tYNkNBdm5ldGFuWjZPZlY3K3BjQUZOanQxZ3h1alVoYkZtVHdrWmJTcTlaa0hKWmhPdFpxOGc0VjE4SGJVMTBVdEFaMlNWa2srWGlGVlRyeVBRVEZJaDlIdHR1UDNUQ1hWRy9LMW5odCs1aEt3cUtUZ0Zrc3hIQVhqTzRGR1hUQnh4N2IrZU1WVURMb3hiSHo1cWhFK3UyYlY5Qk5Zc1BFLzBFQlNKV0pocTNpMTQyVEorVDdrcytPZy8yVmtvRXRGblp2R2FRemZRWG5PckFDWDdMdmpmS29NV29rVENXRFpHUlAxaTNiZnQ2aktCQXFObUM3VURrU3E2V2dvR3BoLzdhMnd4Qm1uY0tzUGVzVHJyTkVBL211RkluYndLVTdTa3RmUjM3U21FNUxGTk9kQ3QrVWxWUEo0OFJGSmduK3QzV3Q1NTd5ZmFKWmJObkpuYnFtcm9PRmwram1TeUNzTFlBZTI5WFU5cG0weTJVVFRtT3lQaWJIZ3FQVlVDcitBRXRiUThCZTNSTHBrTk1TTDlCZ1JCRXBvZi9yYnVCWm54VzU3RjNqd3B2Mkh2TzFsL1VHN0ZZUTE5cFowdHZ2bzdQekFlR1FhTU1GbHFYUzQ2eW5xQy9TQXYrRVVuYmYxRGdwaElOajkrMFpDZXdEMlhER3FoaUQrdlFPbWNpUWVQQ0d3ZW0ySGFtV1dtZCszSWlwK0Q5b3BsbUFKVUVDNzNqNzdYTTB0VXZReXR5UVhCSzhZZHg3VE1vRUFPeTZXZE5acG1uTDJyT2VMbzROZStnbVNDQnNHdWFGamJhN2lJMGt6dlR1ZTVRaE5sYWdFQXhQUXRRU2REbVZCMlVYa3dGdERpTHBTNnh4a09IUmVvN0tCQXo2S1ZmZi9YYXE5UVJJc29lUFp3cTJqSEoybm1ud0Z0VU5KTWJjZHF4SW1xTTY0QnlMVUlBbFFSdFRWWXhwa2dMbWlrZHRCZ1RNRUhaRFZHSnZkaG5VR0NSRHA1ODhDbFBQRi92c0I5M05lT2dKN3hsWFh4QXMxWFJyT2pzTkRYR1dVQzV0cjJza3FCZDF5d3lJWDBjaS9ZNHNXaFkzODdzc3pqWGNlbzdLQkFUV0VHN2Q0dlFlUzJoM3RqY1krRGhWQzk0dTQ5b1c3UVFQMmkyaE16Y0V3NUd5RnJBRzkrR2N5MFNxNlNCTnk2QUE5QlpOc0YvQmVyb3c0WFVzRWVhVEhTa1pLenZNMWE2bTNLZVZIc1lUVGNkQ20vM2hQUnBoK1dNYVNSVjAxWUIzb3piQzBlbnpPNkhneEJCNXZmNXpzL2ZyK2hUTDE3OHBjcjJIUlFZaXFVWHJaOVJtdmtsY0hQU2pobWt5UGdqaFc2Smd0UlAzb2VUcU5NS2tLWFRxbHVNdkRBTitqYU9WUkswRHB4R3FPM3JQRnVxUG9JQ00xOW8yY2JCeTg4djA4cGZuUUxPRm9od3JKYnBQWG9UYVJxWU5aTStvUXZGRS9DR05uT3YxTFh5bVZyQUcvY3FKNGxWMG9FM1E5UWxVNlRiS0swYktPeEMwbTlSMWlJT0lEY3lVdXlCempsT3YvcHQwKys0cEF6TEdZc1Jpa0JjN3Vnak5LdWtBMjkrSC81YlhkaTBHZGRnK1FUOXY0VU9hR0VUclhrOWVHYmZxOUZZNTE0dlNnTEFHMit4Vy95V0VkczNkRTg4a3FqTDcrQ0RBb0VxckFveXRSMDBFeVh6VVdFMXBVSEZURGQ0RTlIQ1RDcFVFclJMdXQzaFR3VWJnd3dLQktyc0dvYnllNWg1RmZkU3JGVHhCTWlTelU1SWVQdnhyS2FSZm9vNHIwZ3J5ZkMycG1zUGYySnJOMUU3eUtCQTNCTlVETU5xVk5sandtcFNnNHJURWpSS1BDNlJCTHd4aXVGTnFpUllsRlZsajRkc0FXV0d0UnhRVUNEZ2JkdHcxRDZpS1lnSnEydlFiRUhrcDhXSnd2a2NMK0NOcjhjZzdYaUZhY2IxaVlGZkRrMURDQXJjSkh2TENDY21CbThSTE5kRDIzRU9mU2liWkJpVFNYcSsyTVpyU2lYaE5FYmRNazNyUG9jUUZBaDRNeHlnRnF2bWhUTXhZVTN0b3RNTWhXMTlob0g3SzdQc0hrdVZCTllkTWtHbU44NE1JU2pRdlUrTndWdE1XRE1hRnhWUldLMlpHZ0Z2L0NlRVNqQmVFYVhaaURhSXd0alBFSUlDUXdsRWdsVU0zbUxDbWhHNXFNanJhNDJGZ0RjY1hLQUNBcmpaYi9hMXdYVGlaZXBxM3c4dUtCRDdRcDZubUEvZ3Jlbnhpd21yYXoxVVJDQ2RQYmtINGJvZ3dpMmVVa25RTHVsMlBaNkREd3JzRFc4UXR0eDFPRjR6T0l4MmZ2UXhITnZuM29wb0M5cTFycDBNdXpBQ2I4NzhNK2RENGMxckJwWE1tWEZLZU9Pci91dFpPUzlIZ3pmVHdlQXlFWGl6cGx5dzZBVnYyM1lRYllWMVhES3A3UDA0ZFpSMVBCcTgyZDRHbG92QW0zVXRtUU5jdkVPc04rQ3RaY1lBcFpzMUx6dkNSK1kvaTlDR0xEd2F2SmtPQnBkWmRNYUZBODJ1MXpNRzdRdHJhaHRPczRtcWMvU2N5cXVMU1hRbVZSS250NGcybUY2R211RXZ2dlNCeTRKSDZnb0cvTVkxdXdLcEt4RDhsbE5naGpMM1R6UzdMSTZ6YzY4OGdMejJabEl2WjRtK0kyUTZwWlpjZkZUK3IrM1ZkRExrVEJYRDRzUldEaWMxbVpxS0tVeUFUR3ZSVWVobW1zQm9IMTlSYytJV2FhbVNtbllwMnNtdzM2dDdGMVk0NU9KUk1CcWppK2M0RnNQY09FK2lZR1hyM0xLenNkUjQ5SGlsSVBnMWJScDdGemljbzhXRUsyS3Q4dWdWSEJRdS94OUMrZE9RUStjTnNBQUFBQUJKUlU1RXJrSmdnZz09Igp9Cg=="/>
    </extobj>
    <extobj name="334E55B0-647D-440b-865C-3EC943EB4CBC-3">
      <extobjdata type="334E55B0-647D-440b-865C-3EC943EB4CBC" data="ewoJIkltZ1NldHRpbmdKc29uIiA6ICJ7XCJkcGlcIjpcIjYwMFwiLFwiZm9ybWF0XCI6XCJQTkdcIixcInRyYW5zcGFyZW50XCI6dHJ1ZSxcImF1dG9cIjp0cnVlfSIsCgkiTGF0ZXgiIDogIlhGc2dJRnhoYkhCb1lWOHhJRnhqWkc5MElGeHRZWFJvWTJGc2UweDlYM3RJVUVWTmZWNHhYRjA9IiwKCSJMYXRleEltZ0Jhc2U2NCIgOiAiaVZCT1J3MEtHZ29BQUFBTlNVaEVVZ0FBQWJJQUFBQmVCQU1BQUFDMHJJeGlBQUFBTUZCTVZFWC8vLzhBQUFBQUFBQUFBQUFBQUFBQUFBQUFBQUFBQUFBQUFBQUFBQUFBQUFBQUFBQUFBQUFBQUFBQUFBQUFBQUF2M2FCN0FBQUFEM1JTVGxNQUVIYXIzZTltVkxzaXpabUpNa1JscVhZUkFBQUFDWEJJV1hNQUFBN0VBQUFPeEFHVkt3NGJBQUFMVzBsRVFWUjRBZTFhVFd3a1J4WHV5YTdYNit6YWEwZENzRUZnUytFQUtNZ1dVa0FjWUl5d09WaWc4Y0phRVA3R3dBRWtGTWJpRUFRY3hoSnc0TUk0VXJSQ2taeFpRb1NRUVpvVmlDamlrREVIaEFnSU95c1JaUytNb3h3UUV0STR4RTUydlQrUDcxVjF2WHJWTSszTVRIcG44V2pyMEYzMTZ0V3IrcXJlVDFWMVIxRmYwLzIzK3RwZC96b2JLL3kzZjUzMXM2ZmhDZzBpc3R5VDN5clNRQ0xMRSszbEJ4TFpRK2MvdU4wWVNHUnMwSGVSOWRPdFpkUFgzVFhMWmg3N0tlWHVtdlZ6dHJQcDYrNmFaVE9QL1pReU9HdDIrVWZGeis2b3FSc1VaR01QRWRMVndVTTJYR0JnUktzZTJtQ3MyVWpGQXFNM0JnM1pkQXlNRGdZTTJmMTA4TWcvLzJUUURSYXkwU0pkQXFJYVExc1RhSU5nWjAxNmpmRU1NYktkUVVJMlREVExlRTRNSExKbXJJTTVSclk5UUdzMlVuUVhIZ1VnRTJBRGNGdHdQRlpHNDBLTXdWbDBSOStEYkJHdFdDeHdqaDhmb0RVYndkVmlES2RJMXoyd282K045eEs5SHVPaHF6NmFEY0N0WEpsb01VYjI1M0cxWkVkL3plQVFwelFneVI5MUQ0SXdUY0ZTRFF3eW1KbDJHNExyNk50WmsraW1ncU95VFJmQUZlMG9aZlBlZ1NTR1BXMzN5UW5xYlM3bUhwamYvOFJYcytpRTk0cWJyWUp5RSt2L1FjMkhyMHkwdDhIV0Z0bFE4S0dWNW9rK2tvRzBlekQrN1ZZNTBORTQ5ZldMN25DUlByTVczVWUwM0Rxa2JpbllOTzYzYWRPa3BmTnpHM1B6UzMyMU5kekdmSTRIODBRV2RsQWx1dEVHMlowaGxlaXFVZjZjUGVOSDBiMHp2UTlrSzlVMTlpNnoxNWFuaVdJazVmZ09yWEd4VjFsUlZFaDFqYjNMN0xWbFhaUVFObUlXYjJ1elYxa1JOdnB1bm5xV2tWWERZMFFYWTFud2ExT2NMZXp3czZmRXJuR2xwNWJaTjRKaHJNVlNNZUdMeUk2MmMyNGRkb3hsVDlrMWRpZ2dPN1l4ZjVxS29xSXh0Tk1wKzc1T09vVnJkTWZPVHRodkp3K0d3dXRrVThWc1pvZmV3aTl0MC84L1RyK200L09XaWJKTkR6WHE5c2U5Q3RGYm1CYzN3MW04b1l6S3FqRGpzTG5LbEVoTy9YSHZSTzBwWWRJWm1ObXVMdCs1UEN4ZWJlVEtmRms5NGwxQStvOTcrZURMbUl4L0ZNaFdwWFJITXlXaWEzNEFUWGJacDJJSGN0aVBlM3h3ZHRjNHZua1VJZXFuWEJWb3JyN2tDM0xyeWQwQjJYSlVqYUZpV1ZKLzNEc0pCUHBEclJzckR0VHRkdnF1dW85djNqSnMrdjRhUE9QNVM1WncySTk3SExiYWVmZkp3R3k5NFA3bkVxY3BJTnNjbGNDTjRhUmROMkhqMG5iTnlxbVhJUDNHaHJsWHJoRkFhUE9rUG9Ta0lZTkxiZXZkOCszSkJ0WXduZC9ZMkpoYk1oOE5TL3NMR3h0UHp4ZWxzMzlBb2tzTHo0eXJpWGdGcllJa1h2bHhickEvcFhpakNHZE5wSFBSWkRqMVZTQXJ6U3JPTkdUUmRLREYwcUtvNDc1UWJZYjF3eVRXOXEwNEw4aktNY0crWHR2MmpldEJEUXBpQm5BTFNMT2VGYm1xb1ozalJWSk9uOGwvVVI4cDA3VXhHbjMydVVDZ0xiRFRqNjIwVFcxdXZZN3VydGoxT1BzS3B2dVJ4enpiMmN1WTVSY21KaWJPL3VzOWdVNi8rOUgzQTgwM3ZzdnBhMyt0a1Bxb2YvWkZkTGpyWlNEM05OcitHMkxMb2ZaVWlaNVhuNFVPUVJaSWt3SXZ5NXFVV2pPWTVCVkhSZUFJYisvZ3pWd0Flb25vNTQ0UGI3RDZqVTE0QTBiNVVNcnAxK05UMUhRSWVaS29PS3RFcG5vUXphUHljUHJCeEtncWswVjNRanFWVkZ5TWY5SFY1dFhDUkJFbXpDL01xTDZvSGFGR0dGY2JEOGFUVncvVkZNakNjSlJxWjI0STRidVJYSWV3T3Fvb2h3cm5OUk5VQTZvUU1KQXBYNG5vdWVwTGRXVS9KdzdPYUtCUnRBRGVjZWJkOHNkT0xrS2dtRFNYdTEyemVpak9pTkFQYmRYb2ExblhSWUFxQkVTVldWOTVKc0RaVkw4RkhidCtYRTBXOWtEWHpzUU9CdW9oOHdSSkVLRUVndERkbXVVb3NlUTh1TXMvNGFkSmNERGV0TXBKa3dUVU5jZUpYWnJueENpMEprMnFtcUUzam9WaGE2b1JyMkVwOUdWQWRza0pOKy91a01FZVdzenNaL1NxU0F6c3BSNE1DVHhsUlFBeXRUS1lmNUdCNlhkK0JyVHFxNUJwdE04eUxDQWMyWWJWRUFxUWJTb1ozYTRaL216eE1Ld2NkTHdxRWdON0tTUm53ZDgwUlJHMFVTSFQ1Z2xrdXlJd0tzMWl6N0FqNWRQWFlNcDJDQmpMcXRDTk5tNnFZcmZJb0dCVFFYT2M5YlFpWWVLa0hwcWJPQ3dVRkFFMnAzUk9teWVjd2FMdkkzOEpzVUprUm8ycGlHaldWTU1mMll3cDVXcmhFbmFMckVEMHU0MGZQdk9DRVdZZVdMTDRUTVJGYlMvdzhVcXJVQW1vbmpBWitua0g4em1XVXAzbHAwM0ZGVUR4QnJRUXdaUnRFWWpWMnZMZWJjWTFNdSt1N0F3d2JQclV5MDRJZE9LY3kwZThKWlBDb2VFTU5xZkdDN21McHQyd21hV0dIeUlma210eXFRalB5S0Z2eGZaUm9WdlMyVDMwTit1MVB5U2tycEJWWTJCNC9XYkhpb0JYV0JOaG5ZY3ovc3ZPdHhQelBHbHM3OFMyU0R5QkxXVGRydzJVMFlXektIcWJEd2VqdGE5QUkyYnhJNWcvVTNhRkRNUHg2U25UZjRFZWxtRkVVQndmWkNkVjlESXNPcHhCcHp3bng2Smx3MUpOK3FkaldNU1NWK0lGOWhSdXZ3eDFYN0Y5aitUaHNTdk1OdVRkVWpmSW9GOUIrdlczcjd4RWUzNkMyUVp1MnI3d0xPdFZZZXFrSWdEbGpIQ3llYTZaVW4zUkUwMk9SOW9VTHdwbEJLL1lkVGxXeDdIS3dRNmZBZUN3OHFzaW9CdGtaVHA0OU1FZkIrQ0NBWWJidjBQRFdUNklDTk54b0J2V2NNMFFlUkVuWlhtaGpCTE9VRDFXcEk5RzBjZzNpWUhoajhTOThTZjJ4NUd6cVF0a0NDd1gwZWp0NW1kMmg4K3ZQcXJFWGxqMlllSHNIVVNiekJPbmlzR1p1MUR6dTYrNGhzK1NReklMVUVZb25kZFloUHU5ZWFJdmJodnVFdTNwQTBRWHlFUVBMbmhzMS8wY1FUb2NwVTZwNGV5K0luM2FEQ1orK0Vacm1veDgvaExQVjJ4WnA2Q01FczRNNDlnZkNudS9lRi9jSnZmODBpL2pMTCs2UUZZMGkyN2FYb2gxOGt2aFNCcCtpSnpqZ2ZnRTUyVUl1U2ZmUy9SSlQ4Y0hGR21tTHpZTUI4SVpYd1JhYmxaR0NXZGFRTnQ4NThqR1ByK2pKTHo0N0R3dC9GMFJPRnNpd3BIWnBuZTZHT1Y0NE1va2Zjd1J6UnNoNmh3YXJmOUExTTVWbXp0Zi9OSnJKNUNWMFljeng1UDI3aHhabWdSRnovc0lFK0dNT3FPcW9naWVkVytPMDY5K3V4MVVzSGxhMXEyRS9rWWN6bmlaVnJpQlVVWWZ6a0lacmFWTWtSWEZpNWtkNm5MUVhlam9kUlhDMlpRcE4wTDl4YjdaZVBqWTNUU1h3VFNremd1bVRlb2pTMlRZeWQyVWpwcE9oeHhsMG9WalI1QjN3MjJxOVRjaVUyc0RiNEZXdWNUS0NML1Fjb3hpY3B1VUpUSVl4SzUwWWI5blNiRk41SmE2YWVjaXBvMVNqdnhSYXV5ZUpHOTJsVVlaRWM2U0dpdk1pVXlXeUhEbXVpamlhOG5KYllFcXJISTZxeTh6N2FSZmVIczF1bVVtekNoamxFOTRYQkhTa3NrU0djTFpwblRRY2pwcmdTcXNSV2Vldng5bldtTlJhamljOFdvejFpOFlhdEdzbjhtK3lTUExIL2VxNnZTTERVdm9EaERPVXZRbzJHMWl1T3E3SlllemVFZG9sUkdtUFBNbWlGejFkRkpwWEVVUGI0UXphWVh3NnFlZXFTMVFoUlVoYWxjS3pEanVTdkVuVEhNdlo1VVJwcnpzYWc5NVovM2pucjRkYlFsbkxWQmxZRERQVlNuZ3p5bmo2UTNCaEROUTZNQXBJM2pYRkc5YUZvNDVUdXFzbE1iY0FiMUlONFRyVEhKeVc2QUtLOHh6U2dvNHRIZ3R0dUVNdDBIN05reDNITTR5L25FUE5uQkxSb2haMjVZQ1oxcWdTaTNNVTdQV1ZxVW1Qa2RDWGNldE11SVExbWs0RXlFWlpBNFBaNENhb2tjbFpaNjhNZHlSc2NSSGJKam95OVl6WW1lYTRvYWt6ZTNJSk1LWnY1RXduYVdITTIyZVVFWjNHWUJXOFpjK3VOVUhZaFh0UEp4bGlUQVJ6aEsyZTFnNDgrWUp6NmphVldicytJcFVXSGE1eFN5SDNLRXMyTXVPWTRVQytaMEVFdzhOWjk0OG9XNyt5RHpxQW4vTm5TRzZDR2R1SkZtOHA5VUZQSTRzdTRGTUdHRUlWV29SRGp5WTcrdHJ5TWZkWnEzdW9qNTh5WlEwN0ZlR3Y5WFNCeDR6M2VYV3Q3RGp1REl1ZmVmV0FmdUdJcWdhc0Y2emg5WDE3K1FoWXkydWU5Zlg4ZkgzZTZaUXN1SFpTUG1wN1VJRTNQWk1EV1BpeElxRms1aE4yM0czOEMwMkxTZkhnU2lYU003eFlIazRHVmZZTUVUSDIyZS9YOXMvdjhBL1NYelpJRnVhNDc4bjVQYjRKQzNOTGVDUGQyK0hEcUVicllYQno0ZmpxdE8wdEFCNXhnU1BtMi9heDdrTC9KTmgvYzMvQU9ONmNxWHdKVEppQUFBQUFFbEZUa1N1UW1DQyIKfQo="/>
    </extobj>
    <extobj name="334E55B0-647D-440b-865C-3EC943EB4CBC-4">
      <extobjdata type="334E55B0-647D-440b-865C-3EC943EB4CBC" data="ewoJIkltZ1NldHRpbmdKc29uIiA6ICJ7XCJkcGlcIjpcIjYwMFwiLFwiZm9ybWF0XCI6XCJQTkdcIixcInRyYW5zcGFyZW50XCI6dHJ1ZSxcImF1dG9cIjp0cnVlfSIsCgkiTGF0ZXgiIDogIlhGc2dYR0ZzY0doaFgya0tQUXBjWlhod0NseHNaV1owS0FwY2JHRnRZbVJoQ2x4bWNtRmplMlJmYVgxN1pGOUxmUXBjY21sbmFIUXBJRnhkIiwKCSJMYXRleEltZ0Jhc2U2NCIgOiAiaVZCT1J3MEtHZ29BQUFBTlNVaEVVZ0FBQW1JQUFBREhCQU1BQUFCSU5pS2hBQUFBTUZCTVZFWC8vLzhBQUFBQUFBQUFBQUFBQUFBQUFBQUFBQUFBQUFBQUFBQUFBQUFBQUFBQUFBQUFBQUFBQUFBQUFBQUFBQUF2M2FCN0FBQUFEM1JTVGxNQUVIYXIzZTltVkxzaXpabUpNa1JscVhZUkFBQUFDWEJJV1hNQUFBN0VBQUFPeEFHVkt3NGJBQUFZekVsRVFWUjRBZDFkVFl3a3lWWE9tcC91NmVucEh3R0xCb2xWRmJJNElDM1VJQVFhZzlocXZEc1MrT0FhV3p2MkdvU3pmVURpMW9PTWtCQ0hLZ3NoZ1F5cXRyU1cwVXFtMnQ1ZEpBWlFEVCtuQlNsTHNuendBcW9XNEFPK1ZFazJzc0dTYTd6VFBUdk1laDE4THpQako3TXlJeUlqTTd1ckpnK2RrZkh6NHNYTEZ5Kys5eUlxMi9OVysxcno5K29id0tYVHUvVVJQeS9LRTlhdnIrc3I3TzM2aUo4VDVXdnNTWjA5ajlpNFR2TG5RWHZDanVyczlrZll1M1dTUHdmYW0rekpicDNkTm54MnYwNzZaMDg3WUw5U2I2ZWZZdy9yN2VDTXFXK3kwMFBuTHAvOTFuTTMzekJOdWkzMmRDbFptNzNuTExCTlJwZFJnK2JzKzg1ZExGL0RkY2JjOGRMbFVHS1BUS05DSC91bU9xdFRQaThEbDdhZis3TFAyUDhaUnp0aDd4anJyRXFGRGNadWxPSVZhbmJiU09BS1krNjIwa2o5YkNzOHcwN0tkUWlKbVVVT2dGSHplbHh1RUVWYUQwclkvYkNmcHBXTm1yTEhSYmhhNHJyWHJNYXJHMERQYXNLdHNhZkZWWnFib1lGT1hDZ0wyS21oUmxnOFlEK3dxYmIwZFdCZjlrb3kyYldUK1pDZDdwYnNhU21hWDJWc1ZvNlJCbU5HT0VZOVlGcjJ5L1cwSEszYmRncWlZUmJnMUF6SHFQM0FUckthcnBhaENHRHN3eVg1Z0o5a2htUFV4ek5XSzBSSmJtcHZqa201WDdLVFN6WndqUHJBdER3cTJkY1NORytYRDc3YXdURWFhL2NwbUphWWxIWTJTUE55N2VBWUVaZ3p0dktySlNibFdDTU1xeUpMT0FaYThDM043cFJWbitkWHFXY0hQclVNV3NJeDBJQkdyenlJOWN0YkZzQXg2NzIxb0t6VHIzMTFaMUVJbjlJT0dHaVlBUnl6anVBQ1greHJTSzFBa2YweWx6OFl3TEVIK2FYSmtnc1Z2S0VreGJOKzZwUXlZNSs2OWVSNXp3TWM2MXZ6N2JQVkR2ZGpoOGZLSTh3VVNPTW4yV21YZmRxRG5yWXlLMlJsdGxjY1gyQzFkemRqYmZidW9mZk5rMTNBc2VNczRXVG1XWVZyTTFzdVIrYTBpSHFrV0w3T1RraFFnNk9Bc1ZTUjVoRkxUV25FckNGZmU5SEEzWXh0KzVHUGVPbFJ0MGcwR2xERXRCbGMrNmhMZEFBelpvMmswdDNNWTM5MG14VWpBbzNjVGROYW5lZUxCWEJCYWxRUWRyd3oxQzBBeDBCa3VOTEhDVXB3UHhXUlc2eCtEMUxpMUQxaXNmbWVybnk1eXpCRDdGZTU1RkNrTHduWjlaTmwyaWZNWW1kTG9DVjhKb1hNMmNzRHp1ZVIyMmJCOWJicnZ0cWNpVkIwblNBazZ2cTZFZWdheDZTUlZCVDE2NDlOZGgyeitLNk9xMlV1ZzN2amFsSjhHYkdmcUhETTRnZ0hkUEpvbWFXaTR3M2EwZGVWNTVmQm9SWW5Ba1l5NlhtWXJTYVNNUDNXb1k1OERzNm5aQ0RXdTZMOXc5Y1JSNXNTVXh2aTJEY1FneTFZVlF3TCtHMjErWjhoZ1FPSktMRDJLU3F6YlNFTjkyNHpPRG5UTEx4czE4aExWOW9pT0lvUEZMWS9mNmc4WkNjN0sydjZzU21pYUVmMjZMSnpBZmhGZ0FkVSt0bTE4bkxkeldjZXhiUEtIenFIZW1ENHhYbkRIWWt6TEJtSEVYUmRvaTE3cUt2YXhObkRnMTRKQ3dpTm1SWGpFT3VwZXhpeldGY1YxKzQ2MjVPbWNob2RjaS9JRjNaU25oUnNzaHpWQVRhTGpwVXpEcjBTV2pJcVBueDBiSElNZUU5TGRWZFJhRUhHRHVTYUFZaFNlTUVkbVVGYlFZYk9wanFNa1ZDVWdqMjJKYUlBSEN1OHk0M20vWUk5TGtWMUdDUFhpSHVRQThlK2ZlZExOa09iU29IYlZGK2FPcGhhZTQ3TWRPUXFDMDA5QXBWdmtHRzZ6dTZ4WDdNZ3FmcFlGdFdYcHNxZ01KQVNyRVBIV3ZGRE02SXlPdmE4UnZlR043SlpCUkVzWDBuUGtoVUdVa0ppRTJtNmV5R1ZCcTI2VjdBRUJEYXhMN2huSlgra0lqZzV5d1I1T3E1clBFejNMT1kxQ0NIS09zVitEdmJvYlBBNEx0RGNzTDQ2ZDYwaFczY1J3SVh6aTU3S3NLc2Z3ckdMRk12dEhucWViL1c3MDY0emRxNWJLanI2TU5uR1g1SG10ZDhSSTRiSFF5YnBNbGJkTmVnWlVQRitYaU1sdnlOWERpVjMyWk1ZdFNzYzgyQzY5NlB4SFVUeHhQbHRIUEZCakJHaEh5aWE4V3E3TDlORzJ2VlZtRXZjWHJnVDJNQWJZU080aUtIY08yUFBhMEpxbHhrWk5PT0ZXYjJDMFl0SkdSZzVpcU9JODBjQmhhOGJwRm12dE9nc3RRaG02OFMyb3dTOWRmV1dxMndnY1h0eHhvYVJaTlpZYTBvNmRvMXJWaWNSajgybGkwMnNGUVJrdmp1QTliejE2RmRzblVjNGI0NzFZeHE3VzRBTjBXek5sVlZVQUR2b3ZFNGJTTmRYVExHZXV6bmt2M2I2MTdPY0lwN2RZeC95TnI1eU1nUFFaN04xdnhYbEE1ck9lQTNkSGZWV0Q1Q1J6WWJ4eWJ4ZVJkazRzMFJrYm96WVNlUXFYV2VuUHQ5WnZ5cERzNkptVm9MUTh5eXJZSm56Z0FQeTQ0ay9qaWpwcnA3N3JUZjlsejhaVnZuTzZJWGp1TzZRV2NiSzBIbExUMy81U2dGZ05hWUVDK21SQTg4VEZoczBVOXZ1Q2tMWUhTM2tSenpHVWxzU3N2RnRJNFVEdHplUzZPeXNINXBhbWREMlduR09FSS9GWXZLN2VlWlJJUWdkZnFBOHJrUnlyZ1dSRkYzWUx6eU9pNkhoSjRmY2RCMnNJT2dIejdvTjhZN0x0R2tTTHQzU21FY2hTTHl2d3JzRG92RTVKUUw5dk1DUWludCtQWG9KRjIzOCsySGlRTkE1aWFCZ3R5UDlFUUtZZmc2eTdBbFA2QWNvNUpBYnI1MFZkSk44L2JRRFhMT1pYVW5SdEFtU0RQYVRtWmxQY0N4dE5nUXkyNTVYSnRPN2dJVEtMU3g0a3ZzcHdNVUZLMG5nWUo0NHVKR2tzYlJQNUZhT2RkeDFEZVZaYmE5Z1ZnWldYOHhDNkhiVkhFdlNvVmJXcUhsZVcyL25lTFhFdmRGOU1qQjVWMUVEd252SGliWkwvMENPK0YwZGwwT1g5Zi9DSDcyc0pTbzZOSFl2YWk1Tnd2aVM0WGZXR1BTRGQrQ0FrTTlWZWhTNjBGcDJDbUhWeDZIUmpOYlh0U3RsUkVIMUFpRS95VzZHdWJCQTFPKzdORHkvTnBoMGh1VjlvSWNmSlZtSHhQb2xTWnh4YzBCSUEwTHR1ZmhKMXFPQXhJNnNLeTlGUmJncEJxaUpHalllb3VOb3VpcDRhYnp2MXVrTFVVRFhrWnltMlkvK292L3JmM3FzcWVBMXZ2Qjd6OTE4bmVJU2YvREc2YS8rVzA3VnB2TERvdXdxc0hSOFR5MjdRcW5ja1JJSVdCOHdkb3V4OTVjaW1OZjQyNHk5NUxPVFZsZ2UzSG54M3IzWGIva2tuUXVuTDMyUTBqUGE0Y2Yxbm9ldlVkRDFnV3hTUTIwSWx0b1FBTmpOYmx4QkxvVEVZeVByUHZ2SW9mZEQ5Y0NOUDJmc3ExN2p0NkxQSm5nQnhrUlhLTEVvaVIwYUxyRWUrOUx2L3dXazlySE04YzNOY01zM2VBV1pkRzB6TytKSTZjWWdZdkZWOTRNeitaMENJLzBzbFlZNzk1aDFQOWNONWZRbnlOb09rNmV2SFhyci8vS1B5SDF2ay8weVZUM0lXWk42MnFBMXRhUVhzaGNtNnZnRDRuRkk4WUE5RGxXNTRjZDQ0K3FONmpwc3g5c1Y4R1B2aGxRYkhjYllGOE1rcWRZSERxTytYZ0U3ZytnQXhCYk9kNFVNcGJpQUpFM3hyNmxRZzFUYktoN2JQR2dPS0IxTHFCZWYyWmdlVmRGQlNBT0Npb21QK0M3WEJjaHBQeXdFaXY0bzd3bTVwNmZIMFJQR25SVk5nTVJNS3lHQ2lpNzdTWndKL1YxSUxCQ1RFWUFuZkxlVHNiYnBzOS9OdS81bm9WMVBRS2lwZ0FZQng4NGI3Q1RzajFxUm4wdkdqUzZrczJDRTREaXFsZlVYYjk4QWNyTmFXZWJ4TjRhcGNSUTN3WHR1VWJJN283OTVGeVp2N3RWS05ZSVc4YU5HOHBleVNFV1phL0hzcEVZVXl0bm5yVHVaZ1M1SXpMUTFRYjVmcktpY1ZuVjNMckdKZEcvUjMyMTBzS1YvVGJTRTUxMzlGSDl3YlBiaUxDaE9uQ1NSSDFMdUphbGlKREVKcFlhWnNnR25Kb25oVTZUMStYNlFHTmxSakY4YUJ6OTgrZGNNSVpPZno1TVh3N21aNU5XTHRaWnk1YXlieHNMcktQdjNrSmcwNjdCK0dkTVNFdVB6TnRtTDh0UldjYm1TWDBVU2d5RVdoMm9YZ3pDK2RObjRKcTM3SHltVEpDSk9UWUU0NktXc0FZbUpLeUV4bXFKS1dWd3BzSkFZNmxUSHZXQXVTdlNpWlFWajJoY2xrOUJ1MHBIYStESi9PNFBYekx4RGdlVU1uMGk5NllTZFRxVlNoWFpNZWV4SzR5b0pXMGlNWXZIT3A3RmxUOW1wZVNpeHhKaThkbWhnQmkzZUFvYnRCays3M0RFQWFaendpamdOTE1wd2lmejcvQm4zaEk1NUUrbVF5RHFRczJsV0JxY1FtV3hSYlFvU3c5UUE3OHFyeGFCbU9OKyt5M3ZDaVBzODdYSUhQSkkyRVIwZXgwVHdKazY4cXdsVGxaUVlHT0Zyck93WEVsTU1uOHlYcVUzMlJVanNyc3lvTkJWSjdDREJCZkx1ZXB0eWtCSVJ1SFU5Vk4vSFZMRk42UFpHOEhHVmFGSmlhTGc0dVFZSlh0WEdQQjJjN0tKU256OTYzZzRFV1B4NklBbW9xV25JVkRkZXRxS1NPZG1Yb1h5Uk50L09VR21tMHdlcXFqU1Z0dzhRK0RocDI1TVN3MGdYZzRjRGs4UTJvWU85eEh3R0hZZExKekZDZkdNNXppbUJnYzU5bVdIeDdReFplVEhWeHNEL21GOGpkWTNwcXRwSERaTVNnN0ZZTkVjZ0lGL21ZbWZraDg5SXF4UXpneWVISzE5aWp6M3k4WTVsNTFQSWIwdS9YeU1yVzZRbVNYYTUzNGlXUXlVNkZ4SktTZ3pJZDFGaUE0UEVOZ2xaUW5zVisxaTF4QjZTNFpmTFA4NjRRMkwwaThPcXJrN3U2Z1lQSUdtb2toS0RBVjE4Y1NhSkJRVDN5U001cklyL0pCMUk1NkhYVkpmLzhNMlA2UmVIVlYyZFhJbDVJM1dPb2o4TGlXbW9FY09iRVpMeEUzYW1xcEVRblNtdC9QaWp6SHFhSzE5Tkd1UnlQVTV5SlVhYnNRbHdsWlJZNXF6c3BKcWtlQXNpdnhWOTdxVktLbnFjazhSNlNhY0NFbnNyT1ZuS2RkWk9rbGVJVFIvNnlYL2RsSlJZcHVVUHRCTGovekoxcXEybHNGQTRDWWw5bjBDK3VqQTBHZlAzakpTMjhzSmozMDNIeDNxcW02L1NiZmg5akt5dlpDVWx0cE9GTG9KYytST2RJTlpaQ0ZzQ1NxV0Q4c2xRWW1CaVR5SFZaSW1sVXlsUmtnMGZ0WEt1bGxJUHlXRnkwc3ZDS3llN1dLWlZnNUNVR0JvdURudWlreGpjazdzaGZkQlZGelBaWitsVWp6Z0dFMGNLcFdZaTZKdno3UXhhamZLdXZrSU1TYnp2N0VrK0FiQWFLRDVBMnZMM1ZPakxhWUxaUmRlSkZ3YVlNZUhWQUc4em5sdnBIVXc5b2xsNVE2RzZvNnBjN3JjejdPTmplU2RUMTBrZjhNOG9QaXo3VHVwWWtMUVdVVFdkeEtCaWZDQWptWlRrcTBnZGtNVHc1NzVDYkVkNXRQNTJodEkrblNTWFlsZG0vZ2RQRDJrK1FrWUsxa3hLek04YWRWdWpZNEdraFRFOWtIMVdtQUxoZDhqUXBDUTI1bDFZZnp1RE44aTZkeEtvYXpTTDYrQkRKcmdnQWRrNUpDYWhjellNUlgwWkxvNHB4VGVvbU5EWHBrYXd5VllGbjlEL08vaFZlV0xCMmxIUW4vVzNNM1Q5NG8zc2lmSXQ3dmhjakV5ejJDR2hHcENZdFBVb2tRK2kvVUcreEFKbHhZS2Y5RmkwcVRJeG9aVUg3MlpQRW0yTWxMZHUvKzBNU1dBaEJmb3lpSHlGcndMdEtJOFczVVBlSkRGSHA0a0FCSy9TVTlXUVo0WjNkQ1BYQkRoZ3FpbElWQ3oxRU5CZ1lHZ2VTQ3BmUTEvaGZFRldnVzluU0FLTHFhNjBMK0tYMld0Y3I2ZksrNExFWkNnUWIrN3VJaTFVejlBOHFoZFF6RVZjZnNJVWlPelNpVTRZQ1ZEL3pld0Y5cThSMlBnRkVDL3c3UXdkSzUrVDg3emhqNk9hRXo0OHFBWlhPNXFWd2hRQlVrbWJKcWtQbGVveUZ5blFVVVVaUktOSVZLbmlZUkJxL2pOeXptK05QZ0Vzc3hlcFY1RnZaK2k0Z1Ezbjg0VkhxYjh1RklLa05JNWIwNnprUzJkUHFycEtleWZQUUtWRU5EVkVoVlNhUmRMUWZFeElUUHBZL3pjNmVOOERCbWg1bWNiNFNzdjYyeG5hWGpIVHgyR0ZSamM2Uy9HL0VGTjhxb0ppT2c4UG8rYVEyTnVkZnBnR1Qxa3FSc0hDeGNBc1doRHEyNDJvaEgvaHhtZTJWNm80SmJ1UkVlbkZwbmw3OEdSR2JnM1c3NWh4SkZRajU5UUpQbDJDejVRZlU5dDJPS3Avd0l1Q0d6T21uQi8yS1gzeW1iK25CNUxZbGZCZjg1QlZpdDhpRmNnTEhrU20vek5QNlJRa25sbFBVbkpMZ2QwanROejI2ZERXeG04ekVoZzJYVTkyWCtYL0RocHo5QWJ5U2w1clBudnlNNS85ZkJCaEw1SVJyajRSSFliSkdNZVN4THpnTWJheWNPTHU3ekw3ekF3Qm9lWWs3UmI1WEs4enlUaG5ndDFRSHFUVHR4ajdqVkFSNEFTY2lPTWppR0hObk1uTGhoZWd6YmorTE14aE9OWDU0aTIvVHcvRFV6eTgvdUtkMEh5RkVzTVp2SmVnSU84UHF5NzhBZERpaUM1UmRwQUd0bW1sazdXZi9kWnpOOTk0Vno0WFNaSERPZzRiYkwvWlBYbnRwK0syamJmdS9DVW5ZL3Z0REY0Lzc3N3h2amRPWC91SnZOSTRQNVNZdC8yVy85Sm5aamxWc1NSbUFxMXJkL2FUTGJadXZ2aTN5Wno0aVNqa0xiaVpEZFJNY01nWGVUVmJUUS9yTWFCcUZ6SWRTVXcrWjZRQU90UnRuSXdhcGl5NE9ManlYQzFEYTBMR21mWlZ0clArZG9aczRwNnlrQmhGdW1mdVBhRGw5bk5mOWxQTGhEMDk2ajR5WGJsdC9NaEE1NVpYV21BaE1mTFA5OHQyQ2pXNzdVWURCbDg2ZFpra3dDQ1UwT2JiR1puTkMyWmFTQ3kxSFYyd2c3ZzZKSGJEcldYZXdpT3AyWDg3UTdaeFQxbElER2YyeW10OTAxbFBDVy9yeDlja1o4M3EyeGw2T25hbE5oSWJLWjY3SGRYRldqM1QxRnBzRXVjQVFITTNMcWRPajcxbitlMk1IQUtGc20wazFrbEVXZ3FSRjVVRFozOWd4NGhMN0wrZElkZ3BrYkNSV0RzemJGYXNVL25mOG9xMTAyeU1DVUwyMzg0UVRVb2tJREdqK3d3c0Q3VXZkUUc0TzhJeEQvT1poMkZ5V0pqQ3pOcDlPeU9IUUtGc3JNd3dtL3ByYU9SWjN4NmxnS0dJempoZDBIQkRVL3R2WnpneGtHb0VmQ2lpaTZraThRaExZdFJEVVRrN0FUL0pFWTU1Wml0cS8rMk1iT2FLNVZKZzR0RFFCS3VWVWFwbUVvNXdqRTRqN1Jtb1czODd3MERIWEx6MlQyOUNZT3prbC81Wld4Y1kwckMrYTV0VFlkTVpqaEVhdkcra2YxWVZDRTVIbDdaSGNzVzFGY3lGUGJNbTV4Q2hZTTkrVHRuWloxOUUyT3lERkRmVEM0UWN5K055M0xuRHNRbzZMOGU2UytzS1hyTTdIS3RBd1YzR1hMSk50NndwZ2N6VkkxaEYyS25BaUJicHJxSzZRZG1kU01BeFZ3eU1vSWNSTUZZMHpBckp3RzQvS0VVT2NNeVZRTlBkV3lqRmNybkc0TnBWUlQ1MTY4bno0UkhBdmlNTGVGdmZjMng2anMwQVlkMjhRbng2NUxUTFBrMXdyT1hJLzhRTVlCMHAxOWtNazhyTmxyVFp1NGZlTjA5Mm9TaXU4QVNRLzM2ZFk2dUhOZ3gzNWprQ1UyL1hveSs2REk0Q2R3ak1qRHRKSmk3T281d0EyVzd4anJmOWNQdmZ1L1NvS3cvbUZDU0RhSlJMMXdWN3FiNDZBTmwrY2FyejJCMGwyTzRLeHhCYmNWTHY0dHhXMnlKdzJRbUNlc1NIaVNCdzE3VVdBTFpzcEtsYVVWaFM2N21FdDZaaVk3anREc2QyMVBPcGx0d3VRelh3WFZ4SnBDOEoyZlVkaHpGM2VWZU9mVlhaREh1R2hRMFJJQWsvdWQ1MGgyT0JpejJvY3VpT3RHQi9DOGNVb1IzanVEc2tKUnhiWnkvZHUzZnZ4VHNjWm5YeHliM1hiK1ZocnU1S2dndjZaMjNGQVpVdmc0Z1R0VFdGYjhJckVoS1J4cFVqc2RTdlh4eGYrSGswR3drcmJ0czdCQ04rRUlFVHBrcXp4aGNDeGo3eVg3dHhGbUdQdi9rZHBWeE5xbFRVL09WUEgrUnFRUjd2aU5LSWJjYTBGWnlyVXcxS0ZwMmp6S0tFalJ0QkphdDhlZk9haFpjc3lQaEJQQjVvVVhLbGJhdXo5Q3JMUHRnWU5rYS9uTXJ5Q2llVE13REpndSs2SzZPUU9BR1dIUFpBbWFVYlhWMVlwTGVpUzJXNHAxMXN5NUw4d1ZZc2ZFeXRmdUk5cUxQMDRERTNhSWtxOGNPZ3NQM01vbkl1ZVg1Qmg1aFd4TU9ZMHgySk04SWNTUE1IZkJEWHRRNHJiRnd0UHhIZ3ZkZDVEd3I2NHRBck1kWjVTbEVnVFQ1THQvMi8wbkdObWl2cFZkS1lodElzNllZb3lwckt5WU9KYXVoUkF4N0VVVnd4MEFzRXdkOFZERmxIWThNb0RTZHNZaG5FTitpVnNPaWpsTU1nWitrcjBlOTdrazJWcCtuS0d2N1E5QmZ5TEE4a29vQXhTbW9TNURBTHhiSm1PazBjOEpxS0ZGY202UmVMN0xVVlc2VVkrbkM0S0F2dmpjSEhETU5mMFhCaU5Db01jMllZbjFvTTdUaUtuelBnV09UVy83Y1dXS0ExQWdCaWFxdkVWeVBkVElNcVBkc2Q2VlpoMlR4QzVXOEkzT1ZIczNSVEFMWThVbWg1TzY5cytmT2hLVWxYUjg4eWRLd1YxNENzeDBpT2p1UG5HSTV0ZFFVb2l3c1dia05KWktGcytUTmd2NHVnL2drVDBMUVh6dWVHT0hFVnc3RzIrUTEwSktaYmZnRXRjZ2l0RWZOcXNUU2RvNWc5TkVUcHVnajRSSERzdWpsSWllQlljcEZOZDdMa3owMXBtU3c0bmNxd3F4L0NzWXNDbkNBT05QYldmV1pjU3VEK3J5eCtKUkVoYmwrQS94MFJBb3VQSUZ3V0FIaElvZ3JlbnN2Vk5PY05vT0k0cDJnbHNtSEloSnFZR1laKzdFZTFEcUoyOHF2ZHlQRCs4K1FRazlOZytvTkNkc0RNMDVuWGFCZXh3MWdRYjRRYzRzeEdDS282WTg1d2h6MjVnTGcrYWtTd2pPZW43OFZlVWJyMU1qeUg5c2Vha1ZFY241Zy9DaWdZMlJDeEg4OW5EMGVmQUoyQndaQmhPdTlaZDdlVUZZSEFDeGl5WVJTMFhXT3RLZW5ZTmJGVTB2WlFDUGFuQmtQV05FaDBLWVdVWkVwdWNpZnpNNS9XbzIrQ2RoNGh1QU1nTnhXR0g0S1BUSnpKa0FWTVNEbXpoeFhJaEZKdzNHN0JiWTk5eU52NHlzbk1hM1RaYk4xdjhTWllFejRlcGcyR0RMb29wTXpicnRvZGh1WEludWVORWI1NndscG9jSjJkK25LWmxlYXdJeEJJRmxXbzRQMnMvRlhLYS9pRk5wUzIzdlJmL21RNHZ1K01YcERLT1JUbUNhbTkvUEgzaW9XWDhnbWRaMGtsZ3dBYzI0MEdnZm1adjZXSDEyT0FhK2NwQ2R1K01WRmF0blZ6NjNXRTdzQlM1WjgvaEFsWStVa0pVT1ZYWUl4OWVXNWJaOGltR21ubXZvM2xLK2daWUxvRngxQXNNUlYxaHF6N05FekswQnR2V1VoRlYwWEZ3Wmg1UW5xcE5naWlqVk5acS9uWUxUMHRZZTczK05qaE9lWVpzbWw1YmVhOW5PKzl2SFVCSEpNV1BSQVJqdlN3dXVKSWFMcGt4WjR4cDhibFdJYnR1aXNvTkJXRkU1bVVnQ2JPRWhtcit4Q1VOY2h0QWNjZ0JKd1N5STVMSHhTSnhTMjNOTEVoZGxpQ3d4LzdkOGJZVDM4MnB2RHNCRS9QWjlDRHk5a3YwY3RTTlFVazIzTm5hQVFKMFJXaGVRRGk4RHBlSUhqcGFiSDdOTEpwb1UyNGxDem9KRHI5OC9mZkRQT3ZobDhRdlpQNERHL1VZTUIvbjVOcXY1S1BPTlRhcXB0eC92OXg2dTduak9qM2NsRm5aUXhZYlA1VzF0Y1pFQUxBbU5YYkRUWlRhdTZoWHY0WHFOZXVBZlA2dFhoaFVMVm1yTEhUREVCUVhaZUFGclBxcUMwRnBZTTRVRjhUTTlPeUlMa212a3FReFRaUmpVcTI1VDkxS2tiL2NtR3ZoTUFOVFMrekNLMFpxcTFXOGRiTisvVXh2UG1IR1FyOC83anFNK0JRTVdodUFBQUFBRWxGVGtTdVFtQ0MiCn0K"/>
    </extobj>
    <extobj name="334E55B0-647D-440b-865C-3EC943EB4CBC-5">
      <extobjdata type="334E55B0-647D-440b-865C-3EC943EB4CBC" data="ewoJIkltZ1NldHRpbmdKc29uIiA6ICJ7XCJkcGlcIjpcIjYwMFwiLFwiZm9ybWF0XCI6XCJQTkdcIixcInRyYW5zcGFyZW50XCI6dHJ1ZSxcImF1dG9cIjpmYWxzZX0iLAoJIkxhdGV4IiA6ICJYRnNnWkY5cElGeGQiLAoJIkxhdGV4SW1nQmFzZTY0IiA6ICJpVkJPUncwS0dnb0FBQUFOU1VoRVVnQUFBRDBBQUFCSUJBTUFBQUMzbytDb0FBQUFNRkJNVkVYLy8vOEFBQUFBQUFBQUFBQUFBQUFBQUFBQUFBQUFBQUFBQUFBQUFBQUFBQUFBQUFBQUFBQUFBQUFBQUFBQUFBQXYzYUI3QUFBQUQzUlNUbE1BRURKRVZIYUpxN3ZONzVsbUl0M3Q5b3BQQUFBQUNYQklXWE1BQUE3RUFBQU94QUdWS3c0YkFBQUMxMGxFUVZSSURjMVZQVzhUUVJBZHgwN3NoSHhZVk9uc2xzb3VrRUJDd3Vub3NLc1VOSGFIUkJOTE5IUTJMVTNTVUVCajAwVTBSMHRsOHd2aWdwcUFLSkNRMENFK1k4ZDRlTE83ZDd0N1dZZVdMWHd6YjJidjlzMjhXUk41NityMS9VZlB6ejNJZGE2d3JOOHU1TmtiS2o3M01OZko3OStQbVArNFVOYkdLNFpaelBVUjc3cCsxcTR3ajdPWTZ6ZVpKNjZmdFVjOHkwS2VIMTlDSDRrNTV1WDBFUy84Z3o0cVBQUytsM0cyLzN2NlB6TW45bHpRLytZQkdRZjB2MllnNDk3NVBIMUlCUHI5VUR4M2oyY3hQeVowdnhXS3QvbDhRcmNYWlhTL0dvanY4a0xndzZNUmN5Q2NqL2hJNE8xNXpHZUJlSU9uQ3MxRC9nSDZLOHdmOUs0NFNML0dYTmZ4ZHBDK2xSd3krenJUK1VYTlhoZzNTTC9CM0RGeG1GVmoya2RrSitMQW8zL3RySXlzVmJhY0I5WWsydEpTeEVEK1NGN20wY2U1K2dpY1dFNm9qOVA5a3A3VW1IVnhrYnBtVStIbFdTNGlGQzl0NmJwUC8rMEVjUnd2SGVnZHl4UVJ2YkFuSFdqUU40Vk9vaVNLU2U4em43N093WjUwb0FlbXozYTNvcGR3d3V6L2NrUEtibHRPb1AvOVFueTBqTDdKN0RHL01pYW9ITUc4VVJiLzVzdW5Dc2IrbGpJVWxRN01RUlUvdS95TXYrQko0RFNXSjFaVDBjK0p3bk54bHdaS3REaGZYVVdKOENwWUJWRjRDVVJHdkFlclppVVRLZnBGVWZqSmUweUxrdFVPcXpSZzZMYzBiRU91OTNoQ0ZLbURGOVB2bjJoMU5JWkVtL2dHNUROR0p2cmJ4VVBkaktyU3ZRNEdEWXFDR1BBUzBERTNRbU0rRXFIbEJLME04UjJqeFZNdHYwMXUxV1QvbWh6L1hZdW9ZV1JaNEZrWlVHOU9KZWwwTGZuMzZTVTNUWk0vMHRhRFJSMUY0WG9od2xaWmFHWlhXMXNEWHVnaTcvSXNTdVo3MDladDVYVjAvRWJsM2hwOHF1cE50RzVsWnhEL2NSclFpcHR4Y1BuZkpLcmJkOU96TnJTMlIzUjNrc1VUdjZpT0oyMEtyNHIwY21VUkRnSnR5aVFYMDhtNGtIY2dmMlBTcGlXckxWSStIQytKaXV6NnRLcHYxV0JPQ2U4Zm1WczFsSkNMcDRmVGNpaGlzTlVueDNzdy93SXF4STY1ZXdjTC9RQUFBQUJKUlU1RXJrSmdnZz09Igp9Cg=="/>
    </extobj>
    <extobj name="334E55B0-647D-440b-865C-3EC943EB4CBC-6">
      <extobjdata type="334E55B0-647D-440b-865C-3EC943EB4CBC" data="ewoJIkltZ1NldHRpbmdKc29uIiA6ICJ7XCJkcGlcIjpcIjYwMFwiLFwiZm9ybWF0XCI6XCJQTkdcIixcInRyYW5zcGFyZW50XCI6dHJ1ZSxcImF1dG9cIjpmYWxzZX0iLAoJIkxhdGV4IiA6ICJYRnNnWkY5N2FTMHhmU0JjWFE9PSIsCgkiTGF0ZXhJbWdCYXNlNjQiIDogImlWQk9SdzBLR2dvQUFBQU5TVWhFVWdBQUFJOEFBQUJJQkFNQUFBQTlvTHVzQUFBQU1GQk1WRVgvLy84QUFBQUFBQUFBQUFBQUFBQUFBQUFBQUFBQUFBQUFBQUFBQUFBQUFBQUFBQUFBQUFBQUFBQUFBQUFBQUFBdjNhQjdBQUFBRDNSU1RsTUFFREpFVkhhSnE3dk43NWxtSXQzdDlvcFBBQUFBQ1hCSVdYTUFBQTdFQUFBT3hBR1ZLdzRiQUFBRDFFbEVRVlJZQ2UxWU8yOFRRUkJleDA3c2hEd2NxalNSTFZGUk9RVVNTS0E0b29FS1d4UXBhSndPaWNhV2FPZ2NXZ3FTaGdJS3puU1JtNk9GeHVZWHhFalVCRVJoZ1VRTzhZd2Q0K0hiZSt6ZXJYMVorK3lTS1h3N3N6UGY3ZVBiMlRrekZwRHpsN1lmUERzTm1DSXA1NGpMbjBpeGdhQUZHNmdYc0VWUzR0dDNUYUsva1dMVklBeXFwdG9pNlFDcVJBcFVnekpFVGRVV1NTOFF0U0lGcWtFTjZxcW1hTG8xRFJyaDFUR2lLZEFJUUlscDBRaUhwQlp0VFpTbzVmODBVbFprVUowaWpYNE5va2V3Z0ViZkk0UU5ob0JHM3dhdFkxbHVmT25jWnd3MDJoMHJUSFdPM2FHdVJROFpzbEZSN1J0TEw5RnBpMjMyMDhoRzJiRUNGZWMxNnZQNHZmMEdrZEkxbGhvM2FaOEhMUGNzT2hrclVuSE9VOGUyeEhHdFRVS2pHYUtQRHJRMUdZMXlSQnNPVUdreUdzbnpCY2hkQnpMS0w5ajh3bzJiakVaNW9oMFhDTTJzMjR6d01PV1ZXQTdRNk9KSmVnUzRtT0V1OEN4SjdoaXl5ZGpTYU9sNzB6dFVxQnArZWk4TzBBaHJ0K3QxaEQ5dml0TjVLTGNjaFBSbG81UytuRmkvOXBvRWtFWE8rY0JMNXlRbXREanBpc2trVU5vZUVHanRUWkxOQnlmenJoVStJN3NuV1cvZlJuelJWckRXb281WmtVVFFRTWh1QVlSUmlEb21MODZLZE5TMUJGREdWdzRIYWFTRGNQb0ZFRVloNmhqRFRTZWpRU2hBMkgxdnkxRWIvUjRIdy9ZVkl5ckpMUWVOZmtRSGFvVFJhRVJJTWFJcTBVczNCaHU0aitibE5OZXYxSis0NXJNZkFnZ2pjZ2pGK0tXMmd5Z2ppNTgxZWtwZjhkU0tBTUtXTjEzdmdrMmpHTCtRWWxhRkdjNk5vSUVTUUNWSlFnd09VUWwrSWFXd2ZRM2Ewb0R3YmdHVWswblJ0R21VNUJmUzRRZGNseUp4OG9Bd0VVQXI1TDBZK1ljZjl3WCtsV1cxR0RQRkxvU0JjTHNBUWlwb09vNkhUbHJMMXhoYnhQU1FJTjBPcHp2a1Z3Q2hVYkY5VUdQWmg2VzZnN3NiT1JQSkNjUFNpZ0JpaGx0YTVYc05ubk5qUER4VHd4VDkrVHNjVHdJZE9TbDdrWW81UHFJNXZtbnZpNHpsWlNvUGgvR3RFYjQrdW1sNFZuc3N4VCtNY3Q0WGJkVXJBaE1XSmgyVXZweTBIQkVyMENlMmRLKy9BUmJTUnNMRVlMZ2dGVlNjRnMvTXFyaE9jUEFCTFJuVWQ4N0pHblZOcjZ4WkZFU2RlWHlzU2p2dHZDTUl4R1plbVFkdjdKNnJSanZydXN6TERPeGFoajk4SXhydWNEUmlrdE1DbFVmOEgwRUxaSTV5WDJNeU9pQ2szUzNHYnJXR3o5dG4xUUVsN2JYbVoxY2pPcUFNendRemZRMEt1blZBQlg1SkpYRmtkS0lES3ZPUGJYNTJkWUxGbERRZjRsemlGOHBlYzBpUFlrSVJVbEZNQVRXSDNaL1Zadi9WOVF0bDFBN1gzNjRHZ3YxS0NsTnJ1TjhEZm51Z2pXbDVFanE5bU5YWjY2UURZWU5LbkxyMTQ4L1BqK3ZtR2VzMCsraGdhekEwM1BJUEIrYzRMa1hsMUZzQUFBQUFTVVZPUks1Q1lJST0iCn0K"/>
    </extobj>
    <extobj name="334E55B0-647D-440b-865C-3EC943EB4CBC-7">
      <extobjdata type="334E55B0-647D-440b-865C-3EC943EB4CBC" data="ewoJIkltZ1NldHRpbmdKc29uIiA6ICJ7XCJkcGlcIjpcIjYwMFwiLFwiZm9ybWF0XCI6XCJQTkdcIixcInRyYW5zcGFyZW50XCI6dHJ1ZSxcImF1dG9cIjpmYWxzZX0iLAoJIkxhdGV4IiA6ICJKQ1FLWEcxaGRHaGpZV3g3VEgxZmUxeHRZWFJvY20xN1RVTk9SWDE5Q2owS1hHeGhiV0prWVY5N1hHMWhkR2h5Ylh0RFJFMUVmWDBLWEcxaGRHaGpZV3g3VEgxZmUxeHRZWFJvY20xN1EwUk5SSDE5Q2lzS1hHWnlZV043TVgxN1MzMEtYSE4xYlY5N2FUMHhmVjU3UzMwS1hHRnNjR2hoWDJrS1hHMWhkR2hqWVd4N1RIMWZlMXh0WVhSb2NtMTdTRkJGVFgxOVhuc29hU2w5Q2x4c1lXSmxiSHRsY1RwdFkyNWxYMjlpYW1WamRHbDJaWDBLSkNRPSIsCgkiTGF0ZXhJbWdCYXNlNjQiIDogImlWQk9SdzBLR2dvQUFBQU5TVWhFVWdBQUJpb0FBQUR6QkFNQUFBRHFhVlBNQUFBQU1GQk1WRVgvLy84QUFBQUFBQUFBQUFBQUFBQUFBQUFBQUFBQUFBQUFBQUFBQUFBQUFBQUFBQUFBQUFBQUFBQUFBQUFBQUFBdjNhQjdBQUFBRDNSU1RsTUFNbmE3M2UrclJGUWl6UkJtaVpsSTNKTmtBQUFBQ1hCSVdYTUFBQTdFQUFBT3hBR1ZLdzRiQUFBZ0FFbEVRVlI0QWUxOURYQmwxMTNmbGZaRDBqNnRWcEM0VG9BZ3BTRXdwVU9senRnSk5GT2VJTHRwdllaNUMvRUNkdHBjTmRSbHlEQ1JJRFhCMDZSU0pxR1RsR0RKWU5jWXcwaVRHTnB1VXA3eTRRN0x6dkJrUFAyZ2hieWxnZWFqSlUvVFRzZ2tEV2l4VjNZc096NzluZTl6Nzd2bnZIdjE3bnVTM3Z1ZkdlbWRlKzcvZno1KzUvek81Ly9lRzBYa0NJRnVFRmpidTNqbHl1TVg0cGRrSkNmWjVmTlh6cisxbXhoSmx4QTQ3Z2pNTWVrVUt4cmlTbDBjOTdKUi9nbUJBeUp3OWRzWjIzdjFZMXA3aGJIOXoyM3BLL29sQklZVGdUSEd2bTVMM21EUFROc3I4aEVDdzRuQUtHTTNiTW5yKzBRS2l3YjVoaFdCRTR6Tm03SS94TGFObnp5RXdOQWljSTZ4V1YzNFNmWUc3YVZmUW1DSUVaaGhiRmtWdjFKOWNZaUJvS0lUQWdZQjdNMXEvMzM3NjlwTHY0VEFNQ05RWmZ1cStGUHMrakFEUVdVbkJBd0NqSDFEK2lkcVAyQUN5VU1JRERNQ0k0dzlKOHZmZkhhWWNhQ3lFd0lXQVhOYzhjbTlWUnRLUGtKZ21CSEFjY1VtTC85WVRKdXl3OXdPcU93dUFxZVlYR1B2UHUyR2twOFFHR1lFMUhIRnk4Mmh4VENEUVdVbkJBUUM4cmdDcTR0cEFvUVFJQVFrQXVLNG9sSlZxd3RDaFJBZ0JLSW81c2NWdjhqTS9peGhRZ2dNUFFJVG5BNVQ3THZ3c05IUVkwRUFFQUlTZ1VrOFhURlN1eVBDRkVyYkNCSTBoTUNRSTNBYUM0bzVQS2VOcmFqTklZZUNpazhJS0FSd1hQSDJQWXdTT014VGhoOEVEU0V3N0Foc1lKM05EN1ZoRGtVTGkyRnZERlIraFVDVE1mbWtFUzBzcUUwUUFncUJKYmEzTHJ5MHNLQTJRUWdvQk1SeEJmZGoyZTI4QUlmd0lRU0dGd0Z4WENHS0Q5L040Y1dCU2s0SVdBUndYUEdDdWxwaWJOWGVJQjhoTUxRSVlONjBvQXFQM1NqdEhWbzRxT0NFQUJEQWNjV09Bb0lXRnRRaUNBR0JBQWFJVlFVRkxTeW9UUkFDQWdFY1YyeHBLSFl0UTNRUS9SSUN4eHlCa2N2eTVLRklNWmFjamFjR0xTeUtRRWV5eHdLQkZUTVp5cC9kbU5rdnVFenBZKzc4NmlSSkNCeHRCSDcvQUJNZ3JDWHMwVjJGVGl5T2RnMVQ3Z29qOEluNEFLekE0OXI2dUFJSjF0VHJQZ3FuVFFxRXdGRkVZT0lwQnJkYUxHdVZCK2NZZS9xVmFybGRlUlZpZVBiK1lsR1FOQ0Z3UkJFWS82dmJPQ2VLc3VLTVZOSVA0VlhsNVY4ZjBVSlN0Z2lCUWdoZ21jejJQbDh2eWdyeEZlRXI1eS92VFl2VTZudDNYY1FuaHU4c2xEUUpFd0pIRklHcHV5NStiVG9xeklvaldocktGaUZRSGdMRWl2S3dwSmdHQlFGaXhhRFVKSldqUEFTSUZlVmhTVEVOQ2dMRWlrR3BTU3BIZVFnUUs4ckRrbUlhRkFTSUZZTlNrMVNPOGhBZ1ZwU0hKY1UwS0FnUUt3YWxKcWtjNVNGQXJDZ1BTNHBwVUJBZ1ZneEtUVkk1eWtPQVdGRWVsaFRUb0NCQXJCaVVtcVJ5bEljQXNhSThMQ21tUVVHQVdERW9OVW5sS0E4QllrVjVXRkpNZzRJQXNXSlFhcExLVVI0Q3g0OFY1djFzNVlGQU1SRUNDUVNPSFN2R2ZpeVIveWc2YzBjcWdDNEpnUzRST0hhc2FONmRLdkVZZmR3NGhRaGRkb3ZBY1dQRmxQcjBtRlB1bGFlZEMvSVNBdDBqY054WXNaUWVLcUpvakYzdkhnZUtnUkN3Q0J3elZrd3grY0lkVVlCdmVVYXV2SnZ5ZTY2MlVPUWpCTHBDNEppeFlzNGhBRjUzdXlqS1BrVXJpNjdhQUNtbkVUaGVyQmhuODdZQWVNMmJ1cXJScXdzdExPVHJIb0hPckppSTVVc3pDL3gzWmpuZDU5Q040WWs5T1djU1lTY1kyNVkzWitnN3JpNUs1TzhXZ2M2c0dDdEFCeVc2MkcydWZQcEx6Z1FLcTJ6OUZZMHBOdXZUb0hCQ29EZ0NuVmt4WHB3VnpudjhpK2Nvb0RHZS9GN3JyNjByMlFwN1BxQkZ0d2lCZ2doMFpzVkljVmIwNmdEaGxPK3JBcTFuQ2hhYnhBbUJBQUtkV1JHMUpDMFdQYkZVcmo3NkMzL3dSZlhXZnltNjV4SHROcmpwV3o4MDNBM2JibE1oL2FGSElBY3IxQmNyM0NsOUJteVZWM3dtbHB6QS85VU1nUktDYXI1QjZMVGVqU29oRVlxQ0VNakJpb3BxN1hvVzd3V3Q4a0JOOFdMVEs5UE5qWEhtVzdDTTBjS2lHMkJKTjRWQURsWkVhN0t0TDZSVU15NHIzeUZGZTNOK2NNWS9Jc1I2T3lvalV4UkVDQlJFSUE4citGZVI0SEkxdkZmRlhQVFpncm5JSjk3UTV4UHQ0cnU5V3NxMEowVWhnNDlBSGxid3o2Unl0NW9IanRHWWl6cUhiWG1VOHNuTU1lOGtibzJNUHZKaFNGSjVFTWpGaWczZTBGbk91ZnRaTG5vOVQ5cEZaZXJ1RnRRN0wzL1kwVyt3SGVlS3ZJUkFWd2prWXNVa2IraU03ZWRMQ1IrMlo1ZnlpUmFUY3Vkd24yUlhtUE1RM3BuZXBGZ3NmeVE5S0Fqa1lrVzBKRmlSZHdTNGo3R3Y5d0NmTVdZM1ppdTF4YWp1c0hUS3V6M1ZnNHhRbElPT1FENVduSlNzZUM0ZkdwVjYzbUVsWDN4S2FwVFo5RTk4STRwMm5ZV09lNjlRcENSTUNMUWprSThWeXVyRHRWaHRqOHFHbkdhOU9Hcys0U3hzbWd0UlZIWEdybkVHbXBBakJNcEJJQjhyb2prNVdNem5UTFNsbmdmS0taNVA3Q1M3WVFScjYxRVVPeXZzaVI1dEJwc0V5VE5NQ0lBVjJ6bktpMmNadUxNVCs3RE82VjVNODg5Wmk5bEpXQVBpVVR3bjV6MlpzNFVMU1hjSEZvRWF5L1ZzZ3JiNm1NNEpSTFVIRTVxR1pjVkpyT2F4QTR3QlF6dEd4M2dhQ3ZydEdnRU1BRHQ1SWxuaFF3VmpiOGtqQzVtVFBXaWtNMnhUcDk2NEZFV25tR3MrenBpK1I3K0VRSmNJdkF3dC9jV3RISkdJczduOHBod1Q3dXdtUi9SNVJHYXNHZFJEczFHMGt0aitqWHR6bko0blh5UXpRQWhVL3Z5dmZ2SjJNUURjZk4wNy9uSzdVOG13QU9HdW81eUtwN1hRS2NMQzkxZVNTL2dsWi9FZHdTZ2xEN2NMcGpueW1ndDdQMVZRNS9ERVIrSjd2bng0cWJlbC9NMjN4VCsyM0JaNjFBTXFzcG1yLy9PZHNyc2hCWi92SktmdW55ckhiTmFGZGkzQkNtUi8wY2xMM1Yxa09PSGRlSDgrNW1YdWlFdzNTWlNwTzRHT3F3Zkx1WU5sY2V4ZWpwMDd4ejFZUFAzV3FyREw1NjlJOS9pRnVHUGRxOGUzWFZPa1VJNUh5ekNiVFVLYkhDdGdoZUwyUkQwWUs5N1A2L1U0MVd5bHhkaEhRNVhTdjN2ajJNWGhybU96NmwrV2VwUFNyaXpuVHM3WTM1VlRMaUNXZ25ZbGdmR1o1SzVUWFBwcSsxZGxlWE9hQ2dlSzBiOWJXUHc1VmpEOVM3Y3RwWW1xQXE4WGxqOXRxUjFtZ0xMNjZGODUwOUE2cTIzZ3NKR2NMWlRPaWxGTkNydnpkWmpvNTBzNzdwRzFjcjdVcmRTY0J1OW9rTlJtckhRZlRzMkVXeTg5WmsrRWFXZ2JpZmJaY3V3L0VFRnk1UERFV0NBWXRsd2YrNmIzeEx6RU53cW9IYklvSURzS3VmMDl0di9rclg4bVdzc2hBOUw3NUp1aW1JbW0yY3RFMjZCMXpyYVJicHlZVDBVczc0SW5aNVp2RVdicjRrVU9lVGNZY3NiY1M3RUc5dGw3R1grK3VFZWtMVTZkdDVlKzlhSDVzbGErRkd6K3VPdlROa2M3dEs0ZEZGNGN5QzFtMzY5Qkw5c09DdEV2Y2dSakZOaGE2dktRSSsxUVJVZGd6cklpamRKTzhkYXlmS1R4S2lGejJ1cWpQd1Z0aC9hRWExeDFXa3ladUpHZ2NPNnpGeVVVRlM5d2tHTVBIeCtQRVN2NDIwKzN5aWgvTjNGZ3QzS0I2NHRuMWZyVFdMckpicmU2TThBY0xxL1ZSMWZKWlVCN2xqbG5JQTArd3hreDA2YkpjdHN1V3BlY056VlFYaWZWcm9yVUQrVTRuMWxiVDdPeW91Wk40a0JzdXFkSjVZeDg4aXM1QlE4aXByWmwrbkkwa3dGdFlqeFk0NDMxdEpsRWwvd3Mzc082Y2ZHTnR4c0h3ZXFRZEZxcW56Nms1SG15ZUllOU1xMnVBYnhEekloTmVxYW5UVmFzbjNTRHNZbjJ3SmNGYmNWOWhxTEZIOVRtUm9MU25TejN1ZTJhWHJ6ejVmYWlUdVFZL003b1FlN3c4b3FPWkVHbWp1WlN4bGx1OTBWWk0zT0s3dU5xaitFSnRCRzRQa3dwTXFGMTMvRXh4L2ZDcXRzNmorZnlXZjVxOFE2L09BMVR4ekpneGMydER0Skg2VFp3NjlOdWlMZlVMWFB1Q1ZiYzZSWHI1NDFtRHl5NGJmNzVZZzZ1cDh5VHFiV3lvSjF6VnBMOFNHL1U3cmVzbExyWnNXRzZPK3lqN05qeUgzMGZKcms5YlFHZEVjQ3hsbTRmTVYvN0hRWFhXMWJnQlFMQ0xmYTZxTm5RYnJCdGsvQUpUSmwyYlU5VTdyc0QwY21wbE02eDd6TkpIZ2NQUDJwZFB0U01ZblRWcXozMnpQcWhac1VrM21OV2lGTXRXMnlUYk5tZWJHamQ5OHhXYXZ2VmZUdTNpY3ZzbGJEL3BUdmNzNzlVZHRGNkhCOEl2ZFBqSk1MUnI5bVhnWDNPMWs5WXA5ZDNlOHlLZmxsOVpFTTc2UjVZak43KzVsV0Q1a2pTL01PRUg4eUR5WG5lQjlRUGxrQVB0WnFIdldkVzY4dHVUREVFZTh5S0NLQnp0MUFzVjRXbFBkREd2c1k2bFRUL0tKeGVVbUdOdWZSTDNqdnFWdzJ6VVhBNE9lVVBIQnlWSWNJZzBHdFdLS3VQTXVjckp1L1c0NE4yVHEvanJLajBOVXFkVE5jUGV4YVNMbDZCYTd5TTVWQjNRekgzN1hIaktBQ0dGdTAxS3dxOW5seG5xdkN2RDFydmQvSG03RzVVNGNUYUZQaE8yM1JiNkRFSjhIVW8vY3IrU2w4MjdndVdwdWVzbUVHVGdldXQxY2VLQjlyVU4xUXRObkdaUnlnWUQvVmkyNlp3Ykh5b25PMUR6T3lTWFd3ZllpNVNTZmVjRmNycW84eStPVlVFWEhxaHJlcE52NlRPMlZMM1hScUhmeEtXTEY2aEsyQTNYMGloVkdGdSszUzkxQmpMaUt6bnJJaXFLRGZjZ1lwZStjNExlMi82N3gzTDZZZTJrZjJtMnczZmVxTmpVbGtDYzU2UktrdjI2SVd0SE9wV0FlODBqOTdzcy9lc1VGWWZCekd2SHE4eWRvR3huKzdVbFB6UVRtWWJKVlhMbkVEeHBkT2xUbGs4dXZkeEd1L2JxZXREcHJHcGZRUm5uNzFuaGJMNnlPNjBnN2lQeCt4SDE2TlBkSjczQnFCdFpVMmh6dklIa0Vwei9Fem1RQ05oYVRub0tpSjh4TERVa2JOWVpqYU81T3l6OTZ6UUg2V2ZMd1lYTEl5cjdDZTR6cTkzM0RvTVFIczZhM3hlS2JWejVHOUpQSHFUZ054bzg0OHFyT2VXTGx1d2RTUm5uMzFnaGJMNktOd1NtK3laTFY0SmVLUnZSMVRHbVVYeDAvNHZCRzMxN2piNWtYSzc5c0JJMVpiMFVReUlEM09vTzVxenp6NndRbHQ5Rk94UDBRVXZ5a2EweHI0dVBET2I4cnJ0ZndqYTAzdHRIZUZNdWNkR0c0ZDhEbWJnK1BpN2ZPNStJNVBoUVo5eUtTTzRMMEc4YlN6MkphVkNpZlNCRlFVK1N1OW1mZGRNbk5BWmkwR2pkZDI5Yi8xaGFPZlNnOFZJUEd0MVMvRE5IYkxOaEM2Q2Zrd2VEYTNOaFVxOGNZaVRHTDVQc3FvTGNIUisrOEVLck9lNEsyWllnS094VFFVVG9KdmwzdHF5Q2tqOWhLRWRUNmQ3NWgrazlMdTh4RWoxd2tHam1Qak8yK0kzZmsxdy9qK0ovd2VOQ0hwcVcwT0NuZm8vSDRnWG5VN2I0RmxtdmdKSlIwZzdaQVgxS3o5NTRlYjNpNTM1eWQ0ZUE2ZnkyQTlXYUt1UDdWVGF3Y3VXWFFOaUxMZ0UyUkhmRmw0SGFLK2wwcW1rcnJ1ODVDUFZRbnNjVGQ0dTkyWVROK1FIb0c3WXNHK1B1UlI3WnBsL2lXazZpcVRBdkJJNHUzZlh4U3ZuTDNOV2YxVzk0TmY4L0k2TnhQanVGWkZsL2J1SkJMd09uVW9hMlhTK2xEV2JpUHJtYi84dEc1VjRMUWY3VVJ2QWZWVWhCNDlYemNodmhEYkFScjRrSW1LdmgvZ0czMHRma3RmaS84VzNyWnRZcEEycUYyeXZtbzBnNWVzTEsxQjI3cDVQcFIyNlJNZG45MVJqc2JBNDI5YWpxUWcyUXRDR0VpbmxIaCtwcnJmSEpGaVJHa1RXT0FyT3l3N3dNWkQ5ejczeXdRZGlQRzF6MHJKQ2w1TnZic0Z4VmxTRnovbVhic2Z0R2NnZHdvZnlKR3ZhOHVVMmIwai80SmFPWExJaTJkMXp5eW80aUhqVnREci9mS0wzQWRtUkttUC80YjJQdnVKTC9FR3VXcG9WcVBPL2JhSUpnNzBrOHFQL09XcEdQKzNwQ3lzVWRrVzJ4VGZjSldCVkRQR243RUhndDhqZEtWV1lFTFRwOHBaL3pmdjNaS01TYVZTdXZnbzNraHR2djRXWEhqejVtR2xTZUYyemJGL2o5UmV4ZnoyTjdiWnJELzRpdEZaVkxoLzhidFQ5ZHoyR3ExZDg2RThSL2pNZjRPNlAvbWNOZmlWU3dzOHVZbHQwNDJuUFYzVDFFVFN0cno5MjdkcTFqNzhiUGJndDFyVUhXMUNmZGRYUDNNWFlENzFTak5CZU5TMWY5Yjg5YTZLcTIvMi9adHZ5SlVhVlIzOGVpWDBRdWJoMjY2ZGpKOWt3MkY0MW5ZdTIzNzZ3UWc5OU8yM0pld1BxN3RsZFN3enhLNWUwTkNZdGk5cVAzd0MwamxTdnZPZFFVZGx4N3o2ZW5KcU1mS1BtdnRnQmZhcHVYYVBzeS9yTWcrOWoyMEYxemhoc3dhckY5Q29UTFR1OXpFNjZRT2dVaTkzeEs0cTgrVnBVc2FKcC9vQk5ZR3EvbHR6RG1nR0J3WERwVUp4RjVVMnF5VUFVOW9hNm5mNVpzNjErN3FVVkRWemRMRS9IbHRoTmt3dytwaDRFMjZ1V1RsVmU5NGNWaGEwK01JRnk1Z2h6b2hGVVozVVJNT2JQYXo5K0E5QTZVcjN5em5pL1dESDNNZHZ0ODlTbm5xKzVVNnFXODVqeUxTaURyT0l6ejdndnVYUStGMWgzM24wNVVjc2FuZzVXd3QzOVJuSVRMVHRmbUEwdDZnUmU3cFpyZEwrcGRzN1Y3ZDJIbkJXMFYwMEk4eE5FdHlaMUF2akY5QkVUSitsR1lyTk50bVJZRVkzVTNIVERZSHZWZEJMSjMvNndncGNlTHIvVkJ4YlF1aDlGZnRGdExHTTV1cVd6amtuTHR2WmpGWTZZUGRCYW9kNzVXb21zdXVrME41TVphOHpYbko0UjdjWG1tcGRoV3VpZWVSRVJYdGZSVE5uWGRkWGREd0U5NFFLZ2hRLzBPOFh1Qkp3MkdiNFl5TW9YZ25kTUFydk9hbUJ5LzV5ckhsV2VRZVVaU2ErYWtPQXJwMWtqbS9Bc3VaSE9PS3pRcXk3ME1nNVFVUmpzSmVaUk0ybFdiblVPZTNiM25JdDNyUnNoNWVIVGd4d3VyZFoyamQ2ZXU4MjJHNTZBcGp1TmlGWjQzelJseXpYbWxGSDBLajVvUGJHWEdsdzNOWmFPdHJtNTYweUdvbWh1MldYRnJsdnR2SWlhRlpoMG1CWFVXYnV0bkdERnVDVk9PdFdDMTd0c25TK1B0NHlhSjErSjVvMzJPS3NWSnZkeDVUU2MwZWU4ckhEVmhEcWZMc3BpNjlqMEwwVG50VjlzT2l0N1RyZDU0dzB5dHVzTWcrMVZNMm1vNlF3eTFPWnNJa3E2TEZiSUxVZGIyeVl6SGs4dHNkdTV3c2VHamVldDdLODV0UkQ1b2JVS3ZmTnhLL1pMMmRFM056Y1M5RDJQTGVvYldoUmJWd3ZhajE4MHVtbHhlZWJGU213SFZSOHJvbmpSVWU3Q084WHJCRVdZMVhINDhwVmdCZHFqSWU3a1BwWjVPMW9kMzRoZThMTENWUk1LamNSRTJjYUJIc1N1b25qd2tsNVhKSm8zcUxPc2xZSmdROS8ycVh5TU1XcGFuWGRMUHVjTXBGSzhMRmFncHJtVGxoc21KMTRQUHdPNGJ1L084RnBiMnJFQkNWL0RDMjFDckVjWHZLUGR5WTY3dVluT3dONGFlOXBseFVxeWFnQ1FaZ1dmTUc0cU5TOHJXbHJDeG44ZzN5NmZpaTNaQkhucmNKdU15VmVTRmFlWU1hU1ozSStxbHV6NGdQT3NueFdPbXNndFN1cTBWcWNBV0ZjYTJ2SGdKekpaRWNYc2JxMFVCRHZKQ2xkTnEwZW5ZMVJrdG1zNzlTMkxGWXFLaXlZVFlROC9BNUNOUk1qTmdDTWo3aWlkMFBaQ201RHExUVZhUzZJWk9lazBOMEdaYlJOdzRnV1hGVFc3YkJRU0xjc0s5R1Y2RTkvTGlwVWJKdDV1UEZPaVZhNDQ4MVZmdnBLc3dGNzd2RW9YckZoakw5cE1WTGY4ckhEVWhBTG9tR2o4SmhaRXNXZ3U0REd2bDA5MCtqaTlNLzE0RU93VUt4dzFOeEhyNzg5cVcwNytuVTBVbTRGTUgwQnh0cUFpem9vVHVxRzBLWGloYlpQc1JjQ3BaRmJkSkpxYjZKVVdUTWpHanNNS3RJOFh6QjN1YVZoV1FFejNDVjVXTkpMYWlhZ0tYT3lLeG8weWFIUzkrVXF5QWxuVUQyNkJGYWVjNmM3RVN6aVF0Q09rVjAxa012Yk5QcHZ1U2dlaUZaMWNraFZJU1hlZUliRDVhT2lPU1k1YU5sYjlZa1ZVUjU5NlozWWUya01iaVYyUmFBT3NhQzYwaThrUUw3UStoVkxEWjN5VGdBamJJcGdlNjhZVFJhMXBoeFZZM09uT1ZtYm5oTU1LbFBjdE1qU0xGWi9oRGFHY3o1TlB5ZWFNclNCOUZ1TE5WNnA1dDB3WEIxWmdhTmVOTXpyNzF5RldXRFZlUHI3enRzTTlhWWQ1bXhrRTVMMXExbXFiYjk5dUt0MFEyR2xXT0dycGxPVjEzMWlCbWpaVDBleXNPS0ZvYXU3Q0g3cWY5MDFUL05BNjhmWFFPK2ZNUGxMSm9LSWF6anpwSHRndG1BazRPc1BWaFBpb3d3cDAyS3BSWkxHaXVnekZFM21YYUlsRTBoZTdjbDV1OTRXNVJkRnFRa3JuSzhVSzFCRFBCaHhZZ1IySFJlSEh2MU9iSVZaWU5TN1BKOHJyM0pOMkFDQlZ2cmxNVmlEamVnWVdBanZOQ2tjdG5iSzg3aHNyc1BEVUJjak9pUnU2bGhRR0s3NWd0eWhkUWZoOTBKNWdsODlmZ1hHZDZKTnJsMkZvOS9pRm1NZXloTHBRYnUrTm45V3hUUm5ETyszWjRiZlFTa0RuV2U0MURrV0J1eUd2NjA2TE1CTFNnNHBDVzlwU29aT29aOHVLcXIwaDc0ODRyT0JabkJYQldhd1Fwc05qZjZLaWRYNUczRTMyaFA5K1I4cnhZZ0V6TFM1cnBzLzI1aXZGQ2t5NmRtUk1ZQVh5YXlaMHpkVVFLNndhVjhidVlYYTFBbUVUb1V4bEpwTVZtS0hxbVZFSTdEUXJIRFVaZS9wLzMxalJjaGVlNlZ5a3IrZE1veE4zR296RkMya1pmZTJEVnJaZEptY3FxSGJoVXF4QTJMT3lYVVJHWEVtcUdXOVRYQ2FyYUUyRVNWWTQzYXpPa1BsRlJlSDJkWFY5NXBMREN0ZCtROTFYdmVZWnZuREZ4RmUyZ2l4V3hNc21oWVFIMHc2dm0wMUk2b3RkM1NNRGIrUU96cCt2RkNzQWw5VGdZd1VXZm5wZEV2Mld5TDFPZ1hjTE8rWkNHQVVyTlI0NG80dnBTQWh2Z3puck1SRnk3bmtwazF3Z1JGV3ovZ3lBRFUydm1vdzEvYjlmck1CdWpBRXVuWWYyNjkwa0tnREpUbHlqZDE3K3NLdmhnN1p5OVpFcUd2MTdIOXVDOUxVSDM0YzRmdXBSN3JmR1lsZHZmUW9TUEF4ejNBLzhjUTBYLzVYYjMzM29qLzhwcEcvdzRMRGRtVGhmUmF2SWRxZ29MS2N1cVpzejF4MVdZSXFRN2lVZmtIS0NGU0NUbk9obnNHSkVUMTNTaVdJMzArdm0wOEw4R2tNRjhzUmRRNC9OL255bG1qZW01cXFkY2xhY01ZMXpCTFVNVHN0bzhkK3J4aVZRelp2OHQ4MDEyd2JnOFIwcGxHcmVMVE1GQzRBTlRhOWFXOUlpb0Yrc21Ha3JaM1orWkNnS3UrbmNSNlZaU24yU1hXRjNPRGU5MEdLT2F6bzB5THZtUlhYVEpqSC9Nak5ZSkxPZ0kvNU5VK3RodXpQb3FMRmRhNEpncjFrWEY3eWlySTNRMHBiRENqUklkK0ZrZFNQQkNqNXhXK1NCR2F6NGxJOFYwYjNNNTdLZnI5ZzFLSmp4MXArdlZQTUdmZmlnQnNkWmdhdFZjUkdkeHJBYVlJVlZnemcvQUoyV2F2Yi9OMzhmL0tqVFdSdmsrbExOR3podHk5c0JzQ0hnVlhQanR2NCtzV0lpTm5zV05tMi9ieTdKb1hOT2M2M1VGcU02S2tJN1A3UmkzcnFwNVRDWHRMM3prdlUvYkhEbDAxd3IvcEJaQmdYdHpsSTU1YWxOVk5WYWdsZlVLVjN1Q2svZHJDdlF4bFNqNGhxdWs2ekFCRVhjYjJQRjFaK0x2YXh3bzhuaEJ3TTJsUmdhcSt6ZS9mbEtzY0tPL1p3VkFGZEYxVmdNc3NLcVFRazlrcTBTWEhQM3EySkJzV1FyUlFhYi82bm12V2FHdXdEWVVQYXFtWWdUbmo2eDRsTm1yekdSdXUraW1aeU5ubk11K2JuRnJ1NlpvTytIVnJCaTNpVGhIazg1SU9FWVhROFdZSVVWcjhTNjJRYnR6dUwwcXBrYks2Z05KRjVSbUdtc2l5eU04cjBHd3dva3BWTTFHWlFleVlvSzR1VjZDVmFnNlFxM25GSTU0T1d1TlN6aFhjc3FqOGFmcnhRck1GMVRMVnF3b3FYblUzUElYR0Nzc0dwSURFTTVScGFFUTIzT0k2QnV4cDdFWFZ3NE5jZHZyWmp1TXdCMlNJMUgwdTc2eEFvVWsxZHlYcmZoMEFBNllNVjFyY3JQTGFyMk1nQnRQbGFBWXRxVU44R0thRTFQMmtKMlorajcwak1oZFBOcVRzVXJ5dGdJblVLK0xTdlFJRHc3Y3BJVmZDSEtGWHJJQ2d3VmR1NjNwRG9FZjc1U3JNREtSM0Zmc01JWWZOMkZUQWRZWWRVZ3Q5WStUNnJLT1ZWczluMGhsbkFwVmdBbXppSzRBTmk0NjFVVHVtMy8rc01LUU9wcEJHMFpFZ0dvSEZWWWNlbXlvZ1oyeGM2K2hoL2FuS3dBc0RzeUYwbFduTktqZThqdURBM2dwYmQvNUIxUGJza1krUDg1RXgrdktERDRCZytOMXJieHo0d1YvdGFuV0lGT2srODVKbGl4ajJmUUh2bTB0OEZBdklqYmRmdGpvQ2k2YlgrKzJsbkJaMDV3Z2hYb0NzVEZPQjlndzZ4UWFwQ3JNZllYVjE3M3RXOFZtdUtmS2pVcTJEZE5iRy9lbTFJOUFEWUV2R3BTT2YyL1A2eEFTOWxPcHh5NlJqKzJZTzlYNnFhaFJaUG9vZEQvYnB1N2ZtaHpzdUtjMlFWT3N1S3NycjZRM1JrS0p0ek56eHBleEdic0VSVzFvaFlRVlo1and3ci9URVd4QW16aWM1b0VLMlRuL0xDdndSaEljbmtBc1RQS2dRMWl3dWpQVjRvVm1BcTVZd1V1dDNteUozZ1hFR0NGVlpNSFRRSzhILzRYWEpVN1pPTXQvQmNWdnNwLzIxMnFlYStZN2pNQU5tTHhxcldud0VQNndvckVHaXM3SDhsUXRIdlp3NHJnVzREZG9oSTRpZW00bWFzakRMMkxkTzNRNW1TRjdSNlRyQmpUMjRzQnV6UGtVN3Q5ZFI2SXN0NnQ4aW9xNnFUY1k0VjVFSnhoQmRwWWNGM0JyVVQ1VkQyREZlUGxzR0xYOWpUSUdEZ2lPZ0YvdmxLc1FESFYrWmtZSzFDeUJWN0FqUjM4QzdEQ3FrRldRNGVYRml4elpUNm5rdllQUzNsWnNXWktFUUFiRWFkWVlkVkVzbTMvK3NLS0djUG90dlE5QVZWbnhqWEsvbHp1bHZ3TWhCdVhlSStpdWlsY0I2RE55UXB3UWEycms2eW82Rk5wNEIwN1F4Y3EzalJ1YUZpMy8ycGVtSlBXc0VWVUZHakxxM3dLVGR4aFJiS241cmUwMDJNRmVsVzAwd3hXUktXd1F0TkFKWXY1dmxqNCtmT1ZZZ1YycmRSUUkxa3hKeXRzZHgwUkJsaGgxY1NBWU1INzhEVFBTVTMxS0tEc0xMOXVkNm5tM1RTQ0FiQVJpMWV0UFFVZTBnOVdGTnlXNWRsNndqYjhrZnFQWTR0a0FSTll6b1dIWnFOb3hlbG42eFpZeHBMUUhwd1ZaLzh1VW9waVVWRmlIZWN6OGtQdHVXNy9hei83WU5VKzZTOHFDbm1mUjJUbk5ubVVoazVvSFhyWndzTWRwMWtSdGZnV1F4WXI1TXZpUnIvaUtCWDNJdmFFclNad3ZJNVkvUGxLc1FKa1Y0T2RaRVZEVnBnWWNBS3NzR3A4ZUVxNDMva3ZyM3laZmo4Qkd2dGlkcGxTelh2T0RDb0JzQkdUVnkwN2xYNndvdUMyTE04b1J0cFZtZUdKSlRTZktwOU5uTkp6amlVN3ZRcEJtNU1WcUVPMUUyREdpaE1pb0tweUFMd2JUaHUreHpadTVQTGYvY0ZuNGtUbE9wS2lvckRIOVFKS0F2TWdPTU1LY0VWYnFmSnc3bDRqZnd3cmtKdm5NbGxSWCthU3AzaXNCM1lZaVpLYmdtdnl3Tk9mcnhRckFMektnR1FGcnJkQUtsRkZBVlpZTmN5VzlqLzBQYmNuc2ROY2FDVFdsYnlVbzd4cmdVczE3MTJ6TVI0QU82UW1JbTM3MXc5V1ZET09NTnN5a2dwWVUwMTFyTHFQUnJEQkp6bExDaGpVM0tLV0RrR2JreFZZVjZqNk5hdzRLVmp4bm1tWkN2QkdrOWhTU2JwR2ZpdGlNbDc1VjdGYnQ2czZiMkt6a09mOUd3aTVJRUlOSzhEelpLc0VZOWFGaUdFRjFpeDdXMWxqUlhXWkMyNWNFdUlIL0llbG1lb0tWQVJBZ1dmVG42OFVLOUR5NTZXcVpBVnlleDF6SjVHcEFDdXNHbmk1aVFoKzkxNFhPOTN2bmJDV0JUS1I2S1NZZ2JheG9tYm1GSklWMldBSDFGVDBxWjgrc0FMOVE3SUdVbG5JdkJ5TDJUL0JidE5UakpNQ0Evdk5yVi9YeHdvWTVYa1lkMEZvYzdKaXd5ellEQ3VjOTdFaEVlQ05hVGZxWERqSHlBK2hPeUpzNGovSHBtNy9ueFRqLzJWRkNSdWhNZEhrN0ZqQlRUcG1yU1QzcWNXOVlRWGZ6cC9QWW9WVVc1dFBxaGU3QW9iYkNRMDllSGp6bFdKRncwUWdXU0VOdmxZRVNnRldXTFVadlZyL0RjdUxsN1pVbnBBOVo0T01CNTY3SVc4bHh3cDBrT2d1aFF1Qm5XYUZvNmEwVXo5OVlNV2NBVENWZHZBU3Zkbk5DNHk5ZFZwSU5kbE45bEVsYjAzUm9pQzBPVm5STXIyMlljVk1nc1VjNzB3anYxUHMzK29pVER3Vk0rNzJQcTlEOENzclNrd0d1WGtRbkIwcnNNVzBLWUwwdjRrMlZxQTNlZHJQaXQwZHJYbWczei83UnltMXYzSGJSUTYxTjE4cFZvQ3lxZ2tyVmthQ2ZpTUFBQTlHU1VSQlZLenhkUWEzOVFxdXRxMWFMTG83a1luZlVQT29mN3d1THZHdjBtWWd0SEZEM2t1eUF0anFpV1FJN0RRckhEV2RZdkkzSnlzcU5UeXRjUEVLSGxHNHJEbU9UZEc5dTg0akpOM3BKUlBnU3dTMWg1ZTYwZUZ5N0tzMSs2TGZ5aGN1ZjB6THkxRlNYQVdoemNjS0RQMTYzTmFzcU5UYVdKRnA1SGZmNjNXVzhEdnk2ZHZpbTNxSFVZYkxpb3BpdFAvR29naXlyRUJ2cU9ZRVVsYnVKY0J2eHdwd2lMM0tyc25yWnJJZ05PcmJTckhjSDIrK1VxeW9tODVjc1lJYmZBbGJyeUFyak5yWW01ZWRqSC9iLzczQUxuN1dDV2lhcmtvRk51ZWxKOGtLMU5pc0Z0Z1Vua3l3MDZ4dzFKUjI2aWNuSy9nQXE1M2VGa1hjMHUyazRreGV6cGdaYURMOHdGY3QwNTQ2UU11dGVoU1lTTXhqQjRXdGdHMlZGU2xlZWVTMXlSa2ZiOXdlSXorbDZQbFJyT0FiV0sxcElXTlprY2dPdjhjUFlyaHpXTEdCb2RMSGlrcTd0YW5VNy9hL0N4T1BTK2NyeVFwTUhpK3BsQlFyc0xzMGphZFRoWXJYa3R4UlU5cWVIMHpDRmhPM2FxdnlNc21LR1dQQnJnWm04VWh3TzlpcFJicWpsa2pFWE9Sa1JmUTlmL0gzQkFYMlgvZVhmNmlVeCtTRThPYmJ0a3hzR1I0TWh1bmRsZ3lwSWtHeDA5VERlb2Eza3IyMmhWbHNKMk16VkhBU0tkYzJWcGlEdzZTUlh6aDV4WW9HeGtwdUhnVG5zR0xGcm83RXJaa2I0c2RsQmZwdFowY3JPVlpNNmdtTTFDcnZ2eTlmU1ZZQXFsV1ZwbUlGNXVvN3d0WXJORlk0YXVFY294ZE8xTUdJUGxLMU5jY2pxTnZLQzRLZFlvV2pscDJOdkt5QU5qWUcyTk1KQnV3aTVIc1RJZTJKZ1BWdmFRL3RJZ1NBclViUis5ZHpSR0diT1RMcXRqQ043Y2NmaVBWVFI0ak9paWRxaE9PTmVkYU9TREJwNUNlQ3ZQOVVSYUU5L2E1YUV6cXNRTis2NEdyV1orV1ZNMWFnTHIyc09PTytBOFdOcDF1L0wxOUpWc3pKSFN1ZW1HSUZNdnVDc1BVS3NjSlI2NURQMUZ2U3p1akZ0NjQ1b1k2OFh0ZnhCTUZPc3NKVjArckozMmIramh5NHBJWTF6UDUrT2hsZCsxWDFBTnV5N2JFNElhZkZxS24yTVozd0RDK2ErVWY1YTkyRmM2Y0dhRzdhMlNVZVp3WEVyNzdiZVRFZWoxVGduVzNrbDVHbUU2UXFDdE9HNzc0aGd4MVc0QnhEVDBYNXZWRmRENmIrRVlnZXhZNXZ5YkdpNlNyTHlFdjY3OGxYZ2hWWUt5N3E1RFFyWnRqVGRSbm0zWU55MWJTNjV4ZGJEZlBPcmJrRmRaRmd4Wm9EVHhoc3I1cVRodU5kMlhjdXdsNFUxbXlKU3NtcWZXMjBUeFdsMDR0Wm4wakJjRDRoaVVaMEl3b3FvNWxiYUZPc09NL2R4ZTkvMG9sQWkwL0ViV05GdEtLMkFLdGMzbTNjam43YXE2dXl4dUlkZWM5VlJET3ptWXZXdEZYM1NkMHJRZ044OHJCaUlqN1FEa1k2aDFuWG5ud2xXREhuTUZyekdhWXVLazllVnJocVdVbTdZVXRPRXRpeG1WYjMzT2FOUHQ4aUdBYmJxK1ltYWYxbmZzTDZPL2dhWUVWQ1pGUzFsRVJnNm1MTzdoS2s3aHowY28wL0ZuQmFUVW5Da2VobUxxU1NyTWhpbFJGZmEyZEZ0cEZmT1BtcTJqWEVrTG91SlZOdjZ0OVh3ZnhBWmxuRjFYQzdxYmtFSzV3N3QrU0FQcHc1LzkwV3k4b1hXTEdvZGY2Tk0zUEJ4SHBMaE52ZEs3QkNCaUhjcTZiajh2MWlKZmZ2emIybXFaQWxpOGpFa3AzRzRmZ3hDTFpYelNSeFVNK2FNUjVXTWJRU1h4ektqQmFMZ0xJN3RSYmYvV2pncjdNenpaeUxGbURGT1ZNSlhGR016ZWlYbHVGUEdmbngyMTQzcml2UVdqTW10bU14bjlEY3JpeVpBWFdKcjVxME82R2pRSUM3aGYvNzdoTkRXcmlzMyt4OEFjdEZsUUtlYVRmWjVYYXVLanpXUGZjNTB3dUl0VnEybW9yTC80UG10cTN1L2tlTFNkMGdNdEd5SzM1dUlxUkcxV3l3ZldyKzVQUGUyVTBkT0o0MnVmYkhNT01PY242eEluZm1zUDBmVmJmenFCeVVGZExpSS9vNzZ5SVJ3UXBzc2N6ajZ0d21EM0luUXZ3NnkwMThXeFVmK0xwL0MvZk95a1owN2VvN2NUTDV3Y2Q0a0hEbVMxc1RMZlhWbnNvajM0R3U1MG1aTG1RcXNhcnJDdGRsZnlnV1NGZGY4UVg0VmRlb29pcjFwejFmMGJWSFVQdmlDMkJYZitGUFlSeGl5dkRnVXlpVCtFaFoxQkp0dDNLTnYxcmxIejU2aldmSnE1WWp2eE5WL1FXdzM5UUdsNVdyL3hJbEYxOEFlK1NYYTR6OUx4MU5HR3l2bWxidjVoZlpjUHZRaWRvZEhXUGoyN0lHd0k3UytRUm0wRHhIbmNsRVFPdWdyRGdqeXhuTHJNdDFYS2FSWHlEdEp1b1BiaE1pRTNKdnZ5NURyR2xqOURMRzlqLzdyVmZmVTlmMXk3ZjU0UFFRQXZOZ3hZcXFDSGYvWFFxazNlMnR0bnhoSHVTNnQ2N3JGUGptTVp5b2pnMnhMUWJNcFlPSVYwMnJCMzlIcW5qdzRtZXZQZklGUThJbEhiZjQzZnVLVVErRDdWVXorZ2Yzb0xkMEtoUWpwMTBJZWlQRkRQTnU3ODNramNyL1NGNTdyMDZnamUzZTZiM3QzamdvSzZUTjdJVGEvSlNzOE5tZHVlbTUvaVkrQzR5WEZXN3lzTmN1OC85MSthSGcrQWEva0U1OXdYZFBHMCtka0VxV0ZhTnE3WTBHa25Mek9vNWUvS2J6NVRidm03OHRuaU9SeVU3eUZ6U2V2eXhZTWZyalBPd01EK0VtRVBCNzFhUnlwLy82eThKdjNWS1Nidk8rK0xacHF4OEcyNnRtSXppd0Q5Tk4wZk9wQ003bW1EOUYxZnpic283RlR6aUxsZHArZFYvakZCWTlLQ3Rrck9OcTgxT3lJdHZJTDV4KzU3djhhKy8zL0gybmZqdXI5RVhpaU9RTFg2SGYrOGlmOUtYRUIwd0VlNnoyekNTcTFIK2tjenhGdG1VYjd1d3NHUFhvN1c5ZURRcVltOTJ4UW45eVRMSUNuY0txZUFjWVlzK3pyakNaSU04Z0k0RFprTmsraktMN091OC9ZZmVtd0xac2E2Rjg4THBqaFQ1bGxxeklOdklyUDg4VTQ3RkNvQUZXbUF5UE9zT0dDVXg3c0MyYlkrMGh0U2JZYkZxOSsrdnVXTkZRQjJ1S0ZkbEdmdDFua21JNHpnaXNxSzBHVVlZbHNiTHFVSnlOeEVJa0xIelNIdnlFQll2YzdZNFZ6UmRrV29vVjJVWitSYkpEc29PSFFBdmIxTHBVRDkxYzExNy9iNkZ0MmQxZTJQVjB4NHI2SlZrMnhRcHNxR1FZK2ZtTFQzZUdBWUc2UGE0WTE4ZVp3WEtqVGViZGxzVVRUTTVwYVREV0lqZTdZc1drUHFwVnJQQVkrUlhKRDhrT0dnTHVjY1d1M1ZBUEZCUGJ4TG0zSEp1Sm81QkFwSVZ1ZGNXS2g5bU9UQ3hzZDFZb1F5UThZQWhnNmF5UEszNXZMMDlyaDNsWDd2NGZWa1k3UGNBTHJOZzAwY2JPMG44cDgwbW9oUGhJckE5a3FucDlZY3g3RWtaK0pnSHlEQjhDYU9ScTMya3Nma09lNG1OYjlub2VPUzVUWkZqSkd5ZmtUdG5uS05OZmRiSGJhVFkraUcvcXE4cXVIdWs2MkoxcEJmb2RSZ1RRa2FyamlqbXo2QTdoVUdSYjl1V3dNQXZGZGJCN3drenQyZnV2Y2UxclY5K0gvSDlaV09aSlk3SFhQeVp1MktpRitJdVBDUU84QjMrNUR2RXQzQXpiblZsdDhnMGxBdWZRVEVUQlB5bHQzVHFCc09GMHZCMWsrVERrUEd2VFFUcnZiV1ZwSjIxZGEwaUNPMzUrc2lTOUtTSWFjWFVYYjdIaEtUWGw1U2E4WGlNL0xrZHVLQkZZVWNjVkk3V0U1YXdQQzd3cUo2KzE3RGh2c21ydTdvdnVBT0g4eThJWEg5ZGZGdVl2NlRtdnZpeXMvTW5ocVowVllxODRiSGQyZ0d5UnlpQWgwRkxIRmVnODh4d3RZTUtWYzF0V2tFTHZnZzRTWWxTV3dVZWdMbzhydUkyZ2Z0NHlWT2dsdlFvSkNmRjduNGg1akd5MWt4emRKd1NPSGdKb3VUY3d0NjZESFRsMlViRlV5SFdtVVhtS1UwTE40WTllb1NsSGhFQUlBWFZjY2Q5TGZMQUFQVG80ekxOeWJNdE9QRkFUbkNqLzRlNE8yYVBiaEVBWkNNampDanhxaFBlRmRkNHd5ck10Ky9HZis2cWlCSDZVZVdvWk9hVTRDSUYrSVNDT0t5cFZQR3BVelhHNDhEQmpQL0pOUHZldUQvelIzL3ppMjJOTENmZ1crbFVPU29jUUtBK0JjMmk2MFMzOFVhTVYrSmJERVdOYnRxQ2JEVWRJZHdtQm80Z0F1TEEvS2RZSy9KbTgrWEFXK2NCU3pJRnQ1QWlCNDRaQUN5dGkrU292L3JLVDU4UFpYeXBHaVFLUDdJWFRwYnVFUUY4UnFLT2hxMGVONEF1L0Q1Q3Z6SXU1M0c4eTZHdVpLVEZDSUl3QWIrV0xVbVFYM3VDTVo2MFlKU0I5S1p3NDNTVUVqaUlDL0xoQ0cvQnR3RDhieUNSL1BxbWd1eDZJam00UkFrY1VBWGxjSVRQSDdlaENuZnRFWEpBVHVVeElqaWd3bEswaFJrQWNWNmp5ODNFajkxTjJRNHdaRlgzUUVUZ0hKcGd5MXZLWnpScDU4aEFDQTRuQWl2c3lxQ1lvc2o2UXhhUkNFUUlGRUdnNUw0T0srTUN4VTBDWlJBbUJnVVNnYmw4R2hRLytnQlhsUHpzM2tMaFJvUVlaQWZEZ2hpbGZMck5aSTAwZVFtQXdFY0I3OCt4TFlZVFpiSzgrOXp5WStGR3BCaEVCdk1YTWZZcG9CWmVyZzFoT0toTWhrQjhCZm5DM2JNVzUyZXltdlNRZklUQ01DUEJkSjZmYzNHeVducDV6QUNIdk1DSXc0eDVYQUFDd0ltdzJPNHdnVVptSERJRTU5N2dDWmQ4RkxiYUdEQU1xTGlHUVJLRHFIbGZnMWdaWU1ac1VvU3RDWU1nUUFBa1N4M2JjV1BEU2tHRkF4U1VFRWdod0s5a0ZONFR2MU9aNkM1cXJSSDVDWUpBUXdDZmg5SU40c2xqOGNZczlXbGdNVWgxVFdRb2lVTUZpT3psV3JDR0EzVkV3R2hJbkJBWUZnVi81NGorcmN3NncxNzNqZjZzeWZmcGVFY0RlOUg4R3BaQlVEa0tnRUFLU0VwSUcwMEtUbitFcHQxd29LaEltQkFZRWdWMTJHUjlFdWNJL2o3SXZpelRPOXZDOWxDdm5MOGQ1djlzeUlGQlFNUWdCUW9BUUlBUUlBVUtBRU9nNUFpUDFOK1JJbzFLbnhVa09tRWhrUUJEWWNENzc3aS9TUHlmVEVUODRkR2ZnRU5qTjgxbko5NUZCMWNCVlBCVW9nRUMxbzFISTFYZC9DVnU4czRFNDZCWWhNRmdJckhSNlBRNDNKSGtUc1dLd2FwMUtFMFpnNG9QaCs5SHB5Mjk2TmQ2VE1OdEJqRzRUQWtPR0FMRml5Q3FjaXBzREFXSkZEcEJJWk1nUUlGWU1XWVZUY1hNZ1FLeklBUktKREJrQ3hJb2hxM0FxYmc0RWlCVTVRQ0tSSVVPQVdERmtGVDdVeFIyNy9aN1pQQUFRSy9LZ1JESURnVUNsdWw5WG4rY09sNGRZRWNhSDdnNFFBcDk2TmpxVDZ3WE54SW9CcW5VcVNoaUI2blY4RVNuUGgxYUpGV0VnNmU3Z0lEQjVNNHBPc0crSUFyMVd2L3JBK2QxYjFXVWxWbWdrNkhmUUVUajVmQlNkWWkrSll0WWNOaGp2dkVhQVdLR1JvTjlCUjZDSlZyK2hIcS80YitmYjNSdk5VNm5FaWtGdkMxUStqVUJ0TllwYURBTkdSMGVzNkFnUkNRd0dBaFgrTGNtWW1XbFNvRlRFaWdBNGRHdVFFSmo0d1NqQ2U4eFhjNVNKV0pFREpCSVpGQVR3K0dtZW9oQXI4cUJFTWdPQ1FDUFhlMjhpWXNXQTFEY1ZJdzhDVGZaY0hqRmlSUjZVU0daQUVLam4rMFFZc1dKQTZwdUtrUU9CQ2NhdTV4Q2pHVlFla0VobVFCREFOOExXOHhTRnhvbzhLSkhNWUNCd3lyeE84MzN0Ujl2bjZXeDdNR3FaU2xFTWdSVnVNVHZPUDUxSGRsREZrQ1Bwd1VWZ2lTKzJ1WkZnbEdrenU2MUxUak1valFUOURqd0NGY1pmTWp1ejBMR2d4SXFPRUpIQW9DQXd6dGgwRkMxdGR5d1BzYUlqUkNRd0tBaWNaVEFRRkVhQ0hVb0VjNm5aRGlKMG14QVlEQVJHK1FkWFQ3ell1VENqakMxMmxpSUpRbUFBRUJqaEc3TnpteDFLY3UzcXJTM0dubjN2WTljNkNOSnRRbUFRRUtqdVJWT2RQc2VOMlpOMnM0TlFaaW9ESVJCRzRGUHNJK3lqWVJFOGdzRS9aNC92MjhlMHR1Z0FGZDBlREFSZWMvbDdCNk1nM2xMOGZ4ZmN2VE15SndkSkFBQUFBRWxGVGtTdVFtQ0MiCn0K"/>
    </extobj>
  </extobjs>
</s:customData>
</file>

<file path=customXml/itemProps1.xml><?xml version="1.0" encoding="utf-8"?>
<ds:datastoreItem xmlns:ds="http://schemas.openxmlformats.org/officeDocument/2006/customXml" ds:itemID="s:customData">
  <ds:schemaRefs>
    <ds:schemaRef ds:uri="http://www.wps.cn/officeDocument/2013/wpsCustomDat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1110</Words>
  <Application>WPS 表格</Application>
  <PresentationFormat>On-screen Show (16:9)</PresentationFormat>
  <Paragraphs>180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30" baseType="lpstr">
      <vt:lpstr>Arial</vt:lpstr>
      <vt:lpstr>宋体</vt:lpstr>
      <vt:lpstr>Wingdings</vt:lpstr>
      <vt:lpstr>Chalkboard SE Regular</vt:lpstr>
      <vt:lpstr>Arial</vt:lpstr>
      <vt:lpstr>Chalkboard</vt:lpstr>
      <vt:lpstr>Arial</vt:lpstr>
      <vt:lpstr>Chalkboard Regular</vt:lpstr>
      <vt:lpstr>Aptos</vt:lpstr>
      <vt:lpstr>Helvetica Neue</vt:lpstr>
      <vt:lpstr>Aptos</vt:lpstr>
      <vt:lpstr>Aptos</vt:lpstr>
      <vt:lpstr>汉仪书宋二KW</vt:lpstr>
      <vt:lpstr>Geneva</vt:lpstr>
      <vt:lpstr>宋体-简</vt:lpstr>
      <vt:lpstr>儷宋 Pro</vt:lpstr>
      <vt:lpstr>BatangChe</vt:lpstr>
      <vt:lpstr>Apple SD Gothic Neo</vt:lpstr>
      <vt:lpstr>DejaVu Math TeX Gyre</vt:lpstr>
      <vt:lpstr>MS PGothic</vt:lpstr>
      <vt:lpstr>苹方-简</vt:lpstr>
      <vt:lpstr>Arial Unicode MS</vt:lpstr>
      <vt:lpstr>微软雅黑</vt:lpstr>
      <vt:lpstr>汉仪旗黑</vt:lpstr>
      <vt:lpstr>Calibri</vt:lpstr>
      <vt:lpstr>等线</vt:lpstr>
      <vt:lpstr>汉仪中等线KW</vt:lpstr>
      <vt:lpstr>宋体</vt:lpstr>
      <vt:lpstr>Office Theme</vt:lpstr>
      <vt:lpstr>PowerPoint 演示文稿</vt:lpstr>
    </vt:vector>
  </TitlesOfParts>
  <Company>OpenAI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CSNE Method Figure</dc:title>
  <dc:creator>OpenAI</dc:creator>
  <dc:subject>CSNE method infographic</dc:subject>
  <cp:lastModifiedBy>善良的我</cp:lastModifiedBy>
  <cp:revision>7</cp:revision>
  <dcterms:created xsi:type="dcterms:W3CDTF">2026-07-12T05:57:14Z</dcterms:created>
  <dcterms:modified xsi:type="dcterms:W3CDTF">2026-07-12T05:57:14Z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2052-12.1.26016.26016</vt:lpwstr>
  </property>
  <property fmtid="{D5CDD505-2E9C-101B-9397-08002B2CF9AE}" pid="3" name="ICV">
    <vt:lpwstr>B1B8D5D926ABE667BA2C536A18CC98A9_43</vt:lpwstr>
  </property>
</Properties>
</file>